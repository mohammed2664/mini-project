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8"/>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IBM Plex Sans" charset="1" panose="020B0503050203000203"/>
      <p:regular r:id="rId21"/>
    </p:embeddedFont>
    <p:embeddedFont>
      <p:font typeface="Inter Bold" charset="1" panose="02000503000000020004"/>
      <p:regular r:id="rId22"/>
    </p:embeddedFont>
    <p:embeddedFont>
      <p:font typeface="Inter" charset="1" panose="02000503000000020004"/>
      <p:regular r:id="rId23"/>
    </p:embeddedFont>
    <p:embeddedFont>
      <p:font typeface="Inter Italics" charset="1" panose="02000503000000020004"/>
      <p:regular r:id="rId29"/>
    </p:embeddedFont>
    <p:embeddedFont>
      <p:font typeface="Canva Sans Bold" charset="1" panose="020B0803030501040103"/>
      <p:regular r:id="rId3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notesMasters/notesMaster1.xml" Type="http://schemas.openxmlformats.org/officeDocument/2006/relationships/notesMaster"/><Relationship Id="rId19" Target="theme/theme2.xml" Type="http://schemas.openxmlformats.org/officeDocument/2006/relationships/theme"/><Relationship Id="rId2" Target="presProps.xml" Type="http://schemas.openxmlformats.org/officeDocument/2006/relationships/presProps"/><Relationship Id="rId20" Target="notesSlides/notesSlide1.xml" Type="http://schemas.openxmlformats.org/officeDocument/2006/relationships/notesSlide"/><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notesSlides/notesSlide2.xml" Type="http://schemas.openxmlformats.org/officeDocument/2006/relationships/notesSlide"/><Relationship Id="rId25" Target="notesSlides/notesSlide3.xml" Type="http://schemas.openxmlformats.org/officeDocument/2006/relationships/notesSlide"/><Relationship Id="rId26" Target="notesSlides/notesSlide4.xml" Type="http://schemas.openxmlformats.org/officeDocument/2006/relationships/notesSlide"/><Relationship Id="rId27" Target="notesSlides/notesSlide5.xml" Type="http://schemas.openxmlformats.org/officeDocument/2006/relationships/notesSlide"/><Relationship Id="rId28" Target="notesSlides/notesSlide6.xml" Type="http://schemas.openxmlformats.org/officeDocument/2006/relationships/notesSlide"/><Relationship Id="rId29" Target="fonts/font29.fntdata" Type="http://schemas.openxmlformats.org/officeDocument/2006/relationships/font"/><Relationship Id="rId3" Target="viewProps.xml" Type="http://schemas.openxmlformats.org/officeDocument/2006/relationships/viewProps"/><Relationship Id="rId30" Target="notesSlides/notesSlide7.xml" Type="http://schemas.openxmlformats.org/officeDocument/2006/relationships/notesSlide"/><Relationship Id="rId31" Target="notesSlides/notesSlide8.xml" Type="http://schemas.openxmlformats.org/officeDocument/2006/relationships/notesSlide"/><Relationship Id="rId32" Target="notesSlides/notesSlide9.xml" Type="http://schemas.openxmlformats.org/officeDocument/2006/relationships/notesSlide"/><Relationship Id="rId33" Target="notesSlides/notesSlide10.xml" Type="http://schemas.openxmlformats.org/officeDocument/2006/relationships/notesSlide"/><Relationship Id="rId34" Target="notesSlides/notesSlide11.xml" Type="http://schemas.openxmlformats.org/officeDocument/2006/relationships/notesSlide"/><Relationship Id="rId35" Target="fonts/font35.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Introduce the lab project: RentSphere, a peer-to-peer asset rental and micro-storage management system developed for Object-Oriented Technology. State team details and acknowledge faculty guidance.</a:t>
            </a:r>
          </a:p>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Explain the core premise: owners have idle assets or spare storage space, while borrowers need short-term access. RentSphere serves as the reliable coordination engine for both asset leasing and space allocation.</a:t>
            </a:r>
          </a:p>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Contrast existing peer-to-peer rental pain points on the left with our five technical objectives on the right. Highlight that manual tracking leads to double-booking and disputes, which our state machine directly solves.</a:t>
            </a:r>
          </a:p>
          <a:p>
            <a:r>
              <a:rPr lang="en-US"/>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Present the five main functional modules of RentSphere. Note that all five modules currently carry the "Proposed" status tag, ready to be marked "Implemented" as lab development proceeds.</a:t>
            </a:r>
          </a:p>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Compare only the capabilities supported by the cited sources; all other competitor cells are marked Not verified. Present RentSphere’s lifecycle and micro-storage design as proposed.</a:t>
            </a:r>
          </a:p>
          <a:p>
            <a:r>
              <a:rPr lang="en-US"/>
              <a:t>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Walk through potential revenue channels: transaction commission, storage allocation fees, sponsored item listings, and verification protection. Clarify that the ₹1,000 example is strictly an illustrative simulation of platform mechanics.</a:t>
            </a:r>
          </a:p>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Describe the four architectural layers from top to bottom. Emphasize that the business logic layer houses the OOP domain entities independently of the web framework, and call attention to the stack checklist tagged for lab verification.</a:t>
            </a:r>
          </a:p>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Conclude with the demo plan. Highlight the four demonstration steps: browsing, reserving, updating state to active lease, and finally showing the terminal exception when attempting an illegal concurrent reservation.</a:t>
            </a:r>
          </a:p>
          <a:p>
            <a:r>
              <a:rPr lang="en-US"/>
              <a:t>10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Conclude with the demo plan. Highlight the four demonstration steps: browsing, reserving, updating state to active lease, and finally showing the terminal exception when attempting an illegal concurrent reservation.</a:t>
            </a:r>
          </a:p>
          <a:p>
            <a:r>
              <a:rPr lang="en-US"/>
              <a:t>10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Conclude with the demo plan. Highlight the four demonstration steps: browsing, reserving, updating state to active lease, and finally showing the terminal exception when attempting an illegal concurrent reservation.</a:t>
            </a:r>
          </a:p>
          <a:p>
            <a:r>
              <a:rPr lang="en-US"/>
              <a:t>10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https://gamma.app/?utm_source=made-with-gamma" TargetMode="External" Type="http://schemas.openxmlformats.org/officeDocument/2006/relationships/hyperlink"/><Relationship Id="rId4" Target="../media/image1.png" Type="http://schemas.openxmlformats.org/officeDocument/2006/relationships/image"/><Relationship Id="rId5" Target="../media/image2.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3.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4.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5.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6.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2F4ED"/>
        </a:solidFill>
      </p:bgPr>
    </p:bg>
    <p:spTree>
      <p:nvGrpSpPr>
        <p:cNvPr id="1" name=""/>
        <p:cNvGrpSpPr/>
        <p:nvPr/>
      </p:nvGrpSpPr>
      <p:grpSpPr>
        <a:xfrm>
          <a:off x="0" y="0"/>
          <a:ext cx="0" cy="0"/>
          <a:chOff x="0" y="0"/>
          <a:chExt cx="0" cy="0"/>
        </a:xfrm>
      </p:grpSpPr>
      <p:grpSp>
        <p:nvGrpSpPr>
          <p:cNvPr name="Group 2" id="2"/>
          <p:cNvGrpSpPr/>
          <p:nvPr/>
        </p:nvGrpSpPr>
        <p:grpSpPr>
          <a:xfrm rot="0">
            <a:off x="16628307" y="9846183"/>
            <a:ext cx="1609020" cy="384353"/>
            <a:chOff x="0" y="0"/>
            <a:chExt cx="2145360" cy="512470"/>
          </a:xfrm>
        </p:grpSpPr>
        <p:sp>
          <p:nvSpPr>
            <p:cNvPr name="Freeform 3" id="3" descr="preencoded.png">
              <a:hlinkClick r:id="rId3" tooltip="https://gamma.app/?utm_source=made-with-gamma"/>
            </p:cNvPr>
            <p:cNvSpPr/>
            <p:nvPr/>
          </p:nvSpPr>
          <p:spPr>
            <a:xfrm flipH="false" flipV="false" rot="0">
              <a:off x="0" y="0"/>
              <a:ext cx="2145411" cy="512445"/>
            </a:xfrm>
            <a:custGeom>
              <a:avLst/>
              <a:gdLst/>
              <a:ahLst/>
              <a:cxnLst/>
              <a:rect r="r" b="b" t="t" l="l"/>
              <a:pathLst>
                <a:path h="512445" w="2145411">
                  <a:moveTo>
                    <a:pt x="0" y="0"/>
                  </a:moveTo>
                  <a:lnTo>
                    <a:pt x="2145411" y="0"/>
                  </a:lnTo>
                  <a:lnTo>
                    <a:pt x="2145411" y="512445"/>
                  </a:lnTo>
                  <a:lnTo>
                    <a:pt x="0" y="512445"/>
                  </a:lnTo>
                  <a:lnTo>
                    <a:pt x="0" y="0"/>
                  </a:lnTo>
                  <a:close/>
                </a:path>
              </a:pathLst>
            </a:custGeom>
            <a:blipFill>
              <a:blip r:embed="rId4"/>
              <a:stretch>
                <a:fillRect l="0" t="0" r="2" b="-4"/>
              </a:stretch>
            </a:blipFill>
          </p:spPr>
        </p:sp>
      </p:grpSp>
      <p:grpSp>
        <p:nvGrpSpPr>
          <p:cNvPr name="Group 4" id="4"/>
          <p:cNvGrpSpPr/>
          <p:nvPr/>
        </p:nvGrpSpPr>
        <p:grpSpPr>
          <a:xfrm rot="0">
            <a:off x="0" y="0"/>
            <a:ext cx="10371039" cy="10295039"/>
            <a:chOff x="0" y="0"/>
            <a:chExt cx="13828052" cy="13726719"/>
          </a:xfrm>
        </p:grpSpPr>
        <p:sp>
          <p:nvSpPr>
            <p:cNvPr name="Freeform 5" id="5"/>
            <p:cNvSpPr/>
            <p:nvPr/>
          </p:nvSpPr>
          <p:spPr>
            <a:xfrm flipH="false" flipV="false" rot="0">
              <a:off x="0" y="0"/>
              <a:ext cx="13828013" cy="13726668"/>
            </a:xfrm>
            <a:custGeom>
              <a:avLst/>
              <a:gdLst/>
              <a:ahLst/>
              <a:cxnLst/>
              <a:rect r="r" b="b" t="t" l="l"/>
              <a:pathLst>
                <a:path h="13726668" w="13828013">
                  <a:moveTo>
                    <a:pt x="0" y="0"/>
                  </a:moveTo>
                  <a:lnTo>
                    <a:pt x="13828013" y="0"/>
                  </a:lnTo>
                  <a:lnTo>
                    <a:pt x="13828013" y="13726668"/>
                  </a:lnTo>
                  <a:lnTo>
                    <a:pt x="0" y="13726668"/>
                  </a:lnTo>
                  <a:close/>
                </a:path>
              </a:pathLst>
            </a:custGeom>
            <a:solidFill>
              <a:srgbClr val="083C35"/>
            </a:solidFill>
          </p:spPr>
        </p:sp>
      </p:grpSp>
      <p:grpSp>
        <p:nvGrpSpPr>
          <p:cNvPr name="Group 6" id="6"/>
          <p:cNvGrpSpPr/>
          <p:nvPr/>
        </p:nvGrpSpPr>
        <p:grpSpPr>
          <a:xfrm rot="0">
            <a:off x="915095" y="915114"/>
            <a:ext cx="3960781" cy="515645"/>
            <a:chOff x="0" y="0"/>
            <a:chExt cx="5281041" cy="687527"/>
          </a:xfrm>
        </p:grpSpPr>
        <p:sp>
          <p:nvSpPr>
            <p:cNvPr name="Freeform 7" id="7"/>
            <p:cNvSpPr/>
            <p:nvPr/>
          </p:nvSpPr>
          <p:spPr>
            <a:xfrm flipH="false" flipV="false" rot="0">
              <a:off x="0" y="0"/>
              <a:ext cx="5281041" cy="687451"/>
            </a:xfrm>
            <a:custGeom>
              <a:avLst/>
              <a:gdLst/>
              <a:ahLst/>
              <a:cxnLst/>
              <a:rect r="r" b="b" t="t" l="l"/>
              <a:pathLst>
                <a:path h="687451" w="5281041">
                  <a:moveTo>
                    <a:pt x="0" y="145161"/>
                  </a:moveTo>
                  <a:cubicBezTo>
                    <a:pt x="0" y="65024"/>
                    <a:pt x="65024" y="0"/>
                    <a:pt x="145161" y="0"/>
                  </a:cubicBezTo>
                  <a:lnTo>
                    <a:pt x="5135880" y="0"/>
                  </a:lnTo>
                  <a:cubicBezTo>
                    <a:pt x="5216017" y="0"/>
                    <a:pt x="5281041" y="65024"/>
                    <a:pt x="5281041" y="145161"/>
                  </a:cubicBezTo>
                  <a:lnTo>
                    <a:pt x="5281041" y="542290"/>
                  </a:lnTo>
                  <a:cubicBezTo>
                    <a:pt x="5281041" y="622427"/>
                    <a:pt x="5216017" y="687451"/>
                    <a:pt x="5135880" y="687451"/>
                  </a:cubicBezTo>
                  <a:lnTo>
                    <a:pt x="145161" y="687451"/>
                  </a:lnTo>
                  <a:cubicBezTo>
                    <a:pt x="65024" y="687578"/>
                    <a:pt x="0" y="622554"/>
                    <a:pt x="0" y="542290"/>
                  </a:cubicBezTo>
                  <a:close/>
                </a:path>
              </a:pathLst>
            </a:custGeom>
            <a:solidFill>
              <a:srgbClr val="D2F9F4"/>
            </a:solidFill>
          </p:spPr>
        </p:sp>
      </p:grpSp>
      <p:sp>
        <p:nvSpPr>
          <p:cNvPr name="TextBox 8" id="8"/>
          <p:cNvSpPr txBox="true"/>
          <p:nvPr/>
        </p:nvSpPr>
        <p:spPr>
          <a:xfrm rot="0">
            <a:off x="1109462" y="1012888"/>
            <a:ext cx="4487142" cy="340471"/>
          </a:xfrm>
          <a:prstGeom prst="rect">
            <a:avLst/>
          </a:prstGeom>
        </p:spPr>
        <p:txBody>
          <a:bodyPr anchor="t" rtlCol="false" tIns="0" lIns="0" bIns="0" rIns="0">
            <a:spAutoFit/>
          </a:bodyPr>
          <a:lstStyle/>
          <a:p>
            <a:pPr algn="l">
              <a:lnSpc>
                <a:spcPts val="2504"/>
              </a:lnSpc>
            </a:pPr>
            <a:r>
              <a:rPr lang="en-US" sz="2026" spc="21">
                <a:solidFill>
                  <a:srgbClr val="10201D"/>
                </a:solidFill>
                <a:latin typeface="IBM Plex Sans"/>
                <a:ea typeface="IBM Plex Sans"/>
                <a:cs typeface="IBM Plex Sans"/>
                <a:sym typeface="IBM Plex Sans"/>
              </a:rPr>
              <a:t>ACADEMIC YEAR 2026–2027</a:t>
            </a:r>
          </a:p>
        </p:txBody>
      </p:sp>
      <p:sp>
        <p:nvSpPr>
          <p:cNvPr name="TextBox 9" id="9"/>
          <p:cNvSpPr txBox="true"/>
          <p:nvPr/>
        </p:nvSpPr>
        <p:spPr>
          <a:xfrm rot="0">
            <a:off x="915095" y="1896942"/>
            <a:ext cx="8769629" cy="803329"/>
          </a:xfrm>
          <a:prstGeom prst="rect">
            <a:avLst/>
          </a:prstGeom>
        </p:spPr>
        <p:txBody>
          <a:bodyPr anchor="t" rtlCol="false" tIns="0" lIns="0" bIns="0" rIns="0">
            <a:spAutoFit/>
          </a:bodyPr>
          <a:lstStyle/>
          <a:p>
            <a:pPr algn="l">
              <a:lnSpc>
                <a:spcPts val="6975"/>
              </a:lnSpc>
            </a:pPr>
            <a:r>
              <a:rPr lang="en-US" b="true" sz="6605" spc="-132">
                <a:solidFill>
                  <a:srgbClr val="FFFFFF"/>
                </a:solidFill>
                <a:latin typeface="Inter Bold"/>
                <a:ea typeface="Inter Bold"/>
                <a:cs typeface="Inter Bold"/>
                <a:sym typeface="Inter Bold"/>
              </a:rPr>
              <a:t>RentSphere</a:t>
            </a:r>
          </a:p>
        </p:txBody>
      </p:sp>
      <p:sp>
        <p:nvSpPr>
          <p:cNvPr name="TextBox 10" id="10"/>
          <p:cNvSpPr txBox="true"/>
          <p:nvPr/>
        </p:nvSpPr>
        <p:spPr>
          <a:xfrm rot="0">
            <a:off x="915095" y="2947740"/>
            <a:ext cx="8769629" cy="934450"/>
          </a:xfrm>
          <a:prstGeom prst="rect">
            <a:avLst/>
          </a:prstGeom>
        </p:spPr>
        <p:txBody>
          <a:bodyPr anchor="t" rtlCol="false" tIns="0" lIns="0" bIns="0" rIns="0">
            <a:spAutoFit/>
          </a:bodyPr>
          <a:lstStyle/>
          <a:p>
            <a:pPr algn="l">
              <a:lnSpc>
                <a:spcPts val="3566"/>
              </a:lnSpc>
            </a:pPr>
            <a:r>
              <a:rPr lang="en-US" sz="2702">
                <a:solidFill>
                  <a:srgbClr val="FFFFFF"/>
                </a:solidFill>
                <a:latin typeface="Inter"/>
                <a:ea typeface="Inter"/>
                <a:cs typeface="Inter"/>
                <a:sym typeface="Inter"/>
              </a:rPr>
              <a:t>Peer-to-Peer Asset Rental &amp; Micro-Storage Management System</a:t>
            </a:r>
          </a:p>
        </p:txBody>
      </p:sp>
      <p:sp>
        <p:nvSpPr>
          <p:cNvPr name="TextBox 11" id="11"/>
          <p:cNvSpPr txBox="true"/>
          <p:nvPr/>
        </p:nvSpPr>
        <p:spPr>
          <a:xfrm rot="0">
            <a:off x="915095" y="4140727"/>
            <a:ext cx="9455953" cy="295789"/>
          </a:xfrm>
          <a:prstGeom prst="rect">
            <a:avLst/>
          </a:prstGeom>
        </p:spPr>
        <p:txBody>
          <a:bodyPr anchor="t" rtlCol="false" tIns="0" lIns="0" bIns="0" rIns="0">
            <a:spAutoFit/>
          </a:bodyPr>
          <a:lstStyle/>
          <a:p>
            <a:pPr algn="l">
              <a:lnSpc>
                <a:spcPts val="2179"/>
              </a:lnSpc>
            </a:pPr>
            <a:r>
              <a:rPr lang="en-US" sz="1651">
                <a:solidFill>
                  <a:srgbClr val="FFFFFF"/>
                </a:solidFill>
                <a:latin typeface="IBM Plex Sans"/>
                <a:ea typeface="IBM Plex Sans"/>
                <a:cs typeface="IBM Plex Sans"/>
                <a:sym typeface="IBM Plex Sans"/>
              </a:rPr>
              <a:t>Object-Oriented Technology Lab Project</a:t>
            </a:r>
          </a:p>
        </p:txBody>
      </p:sp>
      <p:grpSp>
        <p:nvGrpSpPr>
          <p:cNvPr name="Group 12" id="12"/>
          <p:cNvGrpSpPr/>
          <p:nvPr/>
        </p:nvGrpSpPr>
        <p:grpSpPr>
          <a:xfrm rot="0">
            <a:off x="910323" y="8090668"/>
            <a:ext cx="8779164" cy="1864295"/>
            <a:chOff x="0" y="0"/>
            <a:chExt cx="11705552" cy="2485727"/>
          </a:xfrm>
        </p:grpSpPr>
        <p:sp>
          <p:nvSpPr>
            <p:cNvPr name="Freeform 13" id="13"/>
            <p:cNvSpPr/>
            <p:nvPr/>
          </p:nvSpPr>
          <p:spPr>
            <a:xfrm flipH="false" flipV="false" rot="0">
              <a:off x="0" y="0"/>
              <a:ext cx="11705590" cy="2485739"/>
            </a:xfrm>
            <a:custGeom>
              <a:avLst/>
              <a:gdLst/>
              <a:ahLst/>
              <a:cxnLst/>
              <a:rect r="r" b="b" t="t" l="l"/>
              <a:pathLst>
                <a:path h="2485739" w="11705590">
                  <a:moveTo>
                    <a:pt x="0" y="554042"/>
                  </a:moveTo>
                  <a:cubicBezTo>
                    <a:pt x="0" y="247969"/>
                    <a:pt x="192405" y="0"/>
                    <a:pt x="429895" y="0"/>
                  </a:cubicBezTo>
                  <a:lnTo>
                    <a:pt x="11275695" y="0"/>
                  </a:lnTo>
                  <a:cubicBezTo>
                    <a:pt x="11513058" y="0"/>
                    <a:pt x="11705590" y="247969"/>
                    <a:pt x="11705590" y="554042"/>
                  </a:cubicBezTo>
                  <a:lnTo>
                    <a:pt x="11705590" y="1931701"/>
                  </a:lnTo>
                  <a:cubicBezTo>
                    <a:pt x="11705590" y="2237611"/>
                    <a:pt x="11513185" y="2485739"/>
                    <a:pt x="11275695" y="2485739"/>
                  </a:cubicBezTo>
                  <a:lnTo>
                    <a:pt x="429895" y="2485739"/>
                  </a:lnTo>
                  <a:cubicBezTo>
                    <a:pt x="192405" y="2485739"/>
                    <a:pt x="0" y="2237611"/>
                    <a:pt x="0" y="1931701"/>
                  </a:cubicBezTo>
                  <a:close/>
                </a:path>
              </a:pathLst>
            </a:custGeom>
            <a:solidFill>
              <a:srgbClr val="FFFFFF"/>
            </a:solidFill>
            <a:ln w="9532" cap="sq">
              <a:solidFill>
                <a:srgbClr val="CBD4CE"/>
              </a:solidFill>
              <a:prstDash val="solid"/>
              <a:miter/>
            </a:ln>
          </p:spPr>
        </p:sp>
      </p:grpSp>
      <p:sp>
        <p:nvSpPr>
          <p:cNvPr name="TextBox 14" id="14"/>
          <p:cNvSpPr txBox="true"/>
          <p:nvPr/>
        </p:nvSpPr>
        <p:spPr>
          <a:xfrm rot="0">
            <a:off x="1229658" y="8295646"/>
            <a:ext cx="8140503" cy="1437856"/>
          </a:xfrm>
          <a:prstGeom prst="rect">
            <a:avLst/>
          </a:prstGeom>
        </p:spPr>
        <p:txBody>
          <a:bodyPr anchor="t" rtlCol="false" tIns="0" lIns="0" bIns="0" rIns="0">
            <a:spAutoFit/>
          </a:bodyPr>
          <a:lstStyle/>
          <a:p>
            <a:pPr algn="l">
              <a:lnSpc>
                <a:spcPts val="2900"/>
              </a:lnSpc>
            </a:pPr>
            <a:r>
              <a:rPr lang="en-US" sz="2101" b="true">
                <a:solidFill>
                  <a:srgbClr val="10201D"/>
                </a:solidFill>
                <a:latin typeface="Inter Bold"/>
                <a:ea typeface="Inter Bold"/>
                <a:cs typeface="Inter Bold"/>
                <a:sym typeface="Inter Bold"/>
              </a:rPr>
              <a:t>Team Members:</a:t>
            </a:r>
            <a:r>
              <a:rPr lang="en-US" sz="2101">
                <a:solidFill>
                  <a:srgbClr val="10201D"/>
                </a:solidFill>
                <a:latin typeface="Inter"/>
                <a:ea typeface="Inter"/>
                <a:cs typeface="Inter"/>
                <a:sym typeface="Inter"/>
              </a:rPr>
              <a:t>Mohammed Faaris Khan 2664 </a:t>
            </a:r>
          </a:p>
          <a:p>
            <a:pPr algn="l">
              <a:lnSpc>
                <a:spcPts val="2900"/>
              </a:lnSpc>
            </a:pPr>
            <a:r>
              <a:rPr lang="en-US" sz="2101">
                <a:solidFill>
                  <a:srgbClr val="10201D"/>
                </a:solidFill>
                <a:latin typeface="Inter"/>
                <a:ea typeface="Inter"/>
                <a:cs typeface="Inter"/>
                <a:sym typeface="Inter"/>
              </a:rPr>
              <a:t>Ketan Naik 2623</a:t>
            </a:r>
          </a:p>
          <a:p>
            <a:pPr algn="l">
              <a:lnSpc>
                <a:spcPts val="2900"/>
              </a:lnSpc>
            </a:pPr>
            <a:r>
              <a:rPr lang="en-US" sz="2101">
                <a:solidFill>
                  <a:srgbClr val="10201D"/>
                </a:solidFill>
                <a:latin typeface="Inter"/>
                <a:ea typeface="Inter"/>
                <a:cs typeface="Inter"/>
                <a:sym typeface="Inter"/>
              </a:rPr>
              <a:t> Nikhil baiju 2665 </a:t>
            </a:r>
          </a:p>
          <a:p>
            <a:pPr algn="l">
              <a:lnSpc>
                <a:spcPts val="2900"/>
              </a:lnSpc>
            </a:pPr>
            <a:r>
              <a:rPr lang="en-US" sz="2101">
                <a:solidFill>
                  <a:srgbClr val="10201D"/>
                </a:solidFill>
                <a:latin typeface="Inter"/>
                <a:ea typeface="Inter"/>
                <a:cs typeface="Inter"/>
                <a:sym typeface="Inter"/>
              </a:rPr>
              <a:t>Deepak Devan 2616</a:t>
            </a:r>
          </a:p>
        </p:txBody>
      </p:sp>
      <p:grpSp>
        <p:nvGrpSpPr>
          <p:cNvPr name="Group 15" id="15"/>
          <p:cNvGrpSpPr/>
          <p:nvPr/>
        </p:nvGrpSpPr>
        <p:grpSpPr>
          <a:xfrm rot="0">
            <a:off x="10371039" y="0"/>
            <a:ext cx="7930801" cy="10295039"/>
            <a:chOff x="0" y="0"/>
            <a:chExt cx="10574401" cy="13726719"/>
          </a:xfrm>
        </p:grpSpPr>
        <p:sp>
          <p:nvSpPr>
            <p:cNvPr name="Freeform 16" id="16" descr="preencoded.png"/>
            <p:cNvSpPr/>
            <p:nvPr/>
          </p:nvSpPr>
          <p:spPr>
            <a:xfrm flipH="false" flipV="false" rot="0">
              <a:off x="0" y="0"/>
              <a:ext cx="10574401" cy="13726668"/>
            </a:xfrm>
            <a:custGeom>
              <a:avLst/>
              <a:gdLst/>
              <a:ahLst/>
              <a:cxnLst/>
              <a:rect r="r" b="b" t="t" l="l"/>
              <a:pathLst>
                <a:path h="13726668" w="10574401">
                  <a:moveTo>
                    <a:pt x="0" y="0"/>
                  </a:moveTo>
                  <a:lnTo>
                    <a:pt x="10574401" y="0"/>
                  </a:lnTo>
                  <a:lnTo>
                    <a:pt x="10574401" y="13726668"/>
                  </a:lnTo>
                  <a:lnTo>
                    <a:pt x="0" y="13726668"/>
                  </a:lnTo>
                  <a:lnTo>
                    <a:pt x="0" y="0"/>
                  </a:lnTo>
                  <a:close/>
                </a:path>
              </a:pathLst>
            </a:custGeom>
            <a:blipFill>
              <a:blip r:embed="rId5"/>
              <a:stretch>
                <a:fillRect l="-31" t="0" r="-31" b="0"/>
              </a:stretch>
            </a:blipFill>
          </p:spPr>
        </p:sp>
      </p:grpSp>
    </p:spTree>
  </p:cSld>
  <p:clrMapOvr>
    <a:masterClrMapping/>
  </p:clrMapOvr>
</p:sld>
</file>

<file path=ppt/slides/slide2.xml><?xml version="1.0" encoding="utf-8"?>
<p:sld xmlns:p="http://schemas.openxmlformats.org/presentationml/2006/main" xmlns:a="http://schemas.openxmlformats.org/drawingml/2006/main">
  <p:cSld>
    <p:bg>
      <p:bgPr>
        <a:solidFill>
          <a:srgbClr val="F2F4ED"/>
        </a:solidFill>
      </p:bgPr>
    </p:bg>
    <p:spTree>
      <p:nvGrpSpPr>
        <p:cNvPr id="1" name=""/>
        <p:cNvGrpSpPr/>
        <p:nvPr/>
      </p:nvGrpSpPr>
      <p:grpSpPr>
        <a:xfrm>
          <a:off x="0" y="0"/>
          <a:ext cx="0" cy="0"/>
          <a:chOff x="0" y="0"/>
          <a:chExt cx="0" cy="0"/>
        </a:xfrm>
      </p:grpSpPr>
      <p:grpSp>
        <p:nvGrpSpPr>
          <p:cNvPr name="Group 2" id="2"/>
          <p:cNvGrpSpPr/>
          <p:nvPr/>
        </p:nvGrpSpPr>
        <p:grpSpPr>
          <a:xfrm rot="0">
            <a:off x="753046" y="7790240"/>
            <a:ext cx="8178632" cy="1980514"/>
            <a:chOff x="0" y="0"/>
            <a:chExt cx="10904842" cy="2640686"/>
          </a:xfrm>
        </p:grpSpPr>
        <p:sp>
          <p:nvSpPr>
            <p:cNvPr name="Freeform 3" id="3"/>
            <p:cNvSpPr/>
            <p:nvPr/>
          </p:nvSpPr>
          <p:spPr>
            <a:xfrm flipH="false" flipV="false" rot="0">
              <a:off x="0" y="0"/>
              <a:ext cx="10904855" cy="2640711"/>
            </a:xfrm>
            <a:custGeom>
              <a:avLst/>
              <a:gdLst/>
              <a:ahLst/>
              <a:cxnLst/>
              <a:rect r="r" b="b" t="t" l="l"/>
              <a:pathLst>
                <a:path h="2640711" w="10904855">
                  <a:moveTo>
                    <a:pt x="0" y="431165"/>
                  </a:moveTo>
                  <a:cubicBezTo>
                    <a:pt x="0" y="193040"/>
                    <a:pt x="193040" y="0"/>
                    <a:pt x="431165" y="0"/>
                  </a:cubicBezTo>
                  <a:lnTo>
                    <a:pt x="10473690" y="0"/>
                  </a:lnTo>
                  <a:cubicBezTo>
                    <a:pt x="10711815" y="0"/>
                    <a:pt x="10904855" y="193040"/>
                    <a:pt x="10904855" y="431165"/>
                  </a:cubicBezTo>
                  <a:lnTo>
                    <a:pt x="10904855" y="2209546"/>
                  </a:lnTo>
                  <a:cubicBezTo>
                    <a:pt x="10904855" y="2447671"/>
                    <a:pt x="10711815" y="2640711"/>
                    <a:pt x="10473690" y="2640711"/>
                  </a:cubicBezTo>
                  <a:lnTo>
                    <a:pt x="431165" y="2640711"/>
                  </a:lnTo>
                  <a:cubicBezTo>
                    <a:pt x="193040" y="2640711"/>
                    <a:pt x="0" y="2447671"/>
                    <a:pt x="0" y="2209546"/>
                  </a:cubicBezTo>
                  <a:close/>
                </a:path>
              </a:pathLst>
            </a:custGeom>
            <a:solidFill>
              <a:srgbClr val="FFFFFF"/>
            </a:solidFill>
            <a:ln w="19065" cap="sq">
              <a:solidFill>
                <a:srgbClr val="CBD4CE"/>
              </a:solidFill>
              <a:prstDash val="solid"/>
              <a:miter/>
            </a:ln>
          </p:spPr>
        </p:sp>
      </p:grpSp>
      <p:grpSp>
        <p:nvGrpSpPr>
          <p:cNvPr name="Group 4" id="4"/>
          <p:cNvGrpSpPr/>
          <p:nvPr/>
        </p:nvGrpSpPr>
        <p:grpSpPr>
          <a:xfrm rot="0">
            <a:off x="9370162" y="7790240"/>
            <a:ext cx="8178632" cy="1980514"/>
            <a:chOff x="0" y="0"/>
            <a:chExt cx="10904842" cy="2640686"/>
          </a:xfrm>
        </p:grpSpPr>
        <p:sp>
          <p:nvSpPr>
            <p:cNvPr name="Freeform 5" id="5"/>
            <p:cNvSpPr/>
            <p:nvPr/>
          </p:nvSpPr>
          <p:spPr>
            <a:xfrm flipH="false" flipV="false" rot="0">
              <a:off x="0" y="0"/>
              <a:ext cx="10904855" cy="2640711"/>
            </a:xfrm>
            <a:custGeom>
              <a:avLst/>
              <a:gdLst/>
              <a:ahLst/>
              <a:cxnLst/>
              <a:rect r="r" b="b" t="t" l="l"/>
              <a:pathLst>
                <a:path h="2640711" w="10904855">
                  <a:moveTo>
                    <a:pt x="0" y="431165"/>
                  </a:moveTo>
                  <a:cubicBezTo>
                    <a:pt x="0" y="193040"/>
                    <a:pt x="193040" y="0"/>
                    <a:pt x="431165" y="0"/>
                  </a:cubicBezTo>
                  <a:lnTo>
                    <a:pt x="10473690" y="0"/>
                  </a:lnTo>
                  <a:cubicBezTo>
                    <a:pt x="10711815" y="0"/>
                    <a:pt x="10904855" y="193040"/>
                    <a:pt x="10904855" y="431165"/>
                  </a:cubicBezTo>
                  <a:lnTo>
                    <a:pt x="10904855" y="2209546"/>
                  </a:lnTo>
                  <a:cubicBezTo>
                    <a:pt x="10904855" y="2447671"/>
                    <a:pt x="10711815" y="2640711"/>
                    <a:pt x="10473690" y="2640711"/>
                  </a:cubicBezTo>
                  <a:lnTo>
                    <a:pt x="431165" y="2640711"/>
                  </a:lnTo>
                  <a:cubicBezTo>
                    <a:pt x="193040" y="2640711"/>
                    <a:pt x="0" y="2447671"/>
                    <a:pt x="0" y="2209546"/>
                  </a:cubicBezTo>
                  <a:close/>
                </a:path>
              </a:pathLst>
            </a:custGeom>
            <a:solidFill>
              <a:srgbClr val="FFFFFF"/>
            </a:solidFill>
            <a:ln w="19065" cap="sq">
              <a:solidFill>
                <a:srgbClr val="CBD4CE"/>
              </a:solidFill>
              <a:prstDash val="solid"/>
              <a:miter/>
            </a:ln>
          </p:spPr>
        </p:sp>
      </p:grpSp>
      <p:grpSp>
        <p:nvGrpSpPr>
          <p:cNvPr name="Group 6" id="6"/>
          <p:cNvGrpSpPr/>
          <p:nvPr/>
        </p:nvGrpSpPr>
        <p:grpSpPr>
          <a:xfrm rot="0">
            <a:off x="2769175" y="3490912"/>
            <a:ext cx="3086100" cy="3086100"/>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127941" y="0"/>
                  </a:moveTo>
                  <a:lnTo>
                    <a:pt x="684859" y="0"/>
                  </a:lnTo>
                  <a:cubicBezTo>
                    <a:pt x="718791" y="0"/>
                    <a:pt x="751333" y="13479"/>
                    <a:pt x="775327" y="37473"/>
                  </a:cubicBezTo>
                  <a:cubicBezTo>
                    <a:pt x="799321" y="61467"/>
                    <a:pt x="812800" y="94009"/>
                    <a:pt x="812800" y="127941"/>
                  </a:cubicBezTo>
                  <a:lnTo>
                    <a:pt x="812800" y="684859"/>
                  </a:lnTo>
                  <a:cubicBezTo>
                    <a:pt x="812800" y="718791"/>
                    <a:pt x="799321" y="751333"/>
                    <a:pt x="775327" y="775327"/>
                  </a:cubicBezTo>
                  <a:cubicBezTo>
                    <a:pt x="751333" y="799321"/>
                    <a:pt x="718791" y="812800"/>
                    <a:pt x="684859" y="812800"/>
                  </a:cubicBezTo>
                  <a:lnTo>
                    <a:pt x="127941" y="812800"/>
                  </a:lnTo>
                  <a:cubicBezTo>
                    <a:pt x="94009" y="812800"/>
                    <a:pt x="61467" y="799321"/>
                    <a:pt x="37473" y="775327"/>
                  </a:cubicBezTo>
                  <a:cubicBezTo>
                    <a:pt x="13479" y="751333"/>
                    <a:pt x="0" y="718791"/>
                    <a:pt x="0" y="684859"/>
                  </a:cubicBezTo>
                  <a:lnTo>
                    <a:pt x="0" y="127941"/>
                  </a:lnTo>
                  <a:cubicBezTo>
                    <a:pt x="0" y="94009"/>
                    <a:pt x="13479" y="61467"/>
                    <a:pt x="37473" y="37473"/>
                  </a:cubicBezTo>
                  <a:cubicBezTo>
                    <a:pt x="61467" y="13479"/>
                    <a:pt x="94009" y="0"/>
                    <a:pt x="127941" y="0"/>
                  </a:cubicBezTo>
                  <a:close/>
                </a:path>
              </a:pathLst>
            </a:custGeom>
            <a:solidFill>
              <a:srgbClr val="0A7C78"/>
            </a:solidFill>
          </p:spPr>
        </p:sp>
        <p:sp>
          <p:nvSpPr>
            <p:cNvPr name="TextBox 8" id="8"/>
            <p:cNvSpPr txBox="true"/>
            <p:nvPr/>
          </p:nvSpPr>
          <p:spPr>
            <a:xfrm>
              <a:off x="0" y="-38100"/>
              <a:ext cx="812800" cy="850900"/>
            </a:xfrm>
            <a:prstGeom prst="rect">
              <a:avLst/>
            </a:prstGeom>
          </p:spPr>
          <p:txBody>
            <a:bodyPr anchor="ctr" rtlCol="false" tIns="50800" lIns="50800" bIns="50800" rIns="50800"/>
            <a:lstStyle/>
            <a:p>
              <a:pPr algn="ctr">
                <a:lnSpc>
                  <a:spcPts val="2900"/>
                </a:lnSpc>
              </a:pPr>
            </a:p>
          </p:txBody>
        </p:sp>
      </p:grpSp>
      <p:sp>
        <p:nvSpPr>
          <p:cNvPr name="TextBox 9" id="9"/>
          <p:cNvSpPr txBox="true"/>
          <p:nvPr/>
        </p:nvSpPr>
        <p:spPr>
          <a:xfrm rot="0">
            <a:off x="762581" y="537924"/>
            <a:ext cx="1533471" cy="259150"/>
          </a:xfrm>
          <a:prstGeom prst="rect">
            <a:avLst/>
          </a:prstGeom>
        </p:spPr>
        <p:txBody>
          <a:bodyPr anchor="t" rtlCol="false" tIns="0" lIns="0" bIns="0" rIns="0">
            <a:spAutoFit/>
          </a:bodyPr>
          <a:lstStyle/>
          <a:p>
            <a:pPr algn="l">
              <a:lnSpc>
                <a:spcPts val="2040"/>
              </a:lnSpc>
            </a:pPr>
            <a:r>
              <a:rPr lang="en-US" sz="1651" spc="90">
                <a:solidFill>
                  <a:srgbClr val="0A7C78"/>
                </a:solidFill>
                <a:latin typeface="IBM Plex Sans"/>
                <a:ea typeface="IBM Plex Sans"/>
                <a:cs typeface="IBM Plex Sans"/>
                <a:sym typeface="IBM Plex Sans"/>
              </a:rPr>
              <a:t>The beginning </a:t>
            </a:r>
          </a:p>
        </p:txBody>
      </p:sp>
      <p:sp>
        <p:nvSpPr>
          <p:cNvPr name="TextBox 10" id="10"/>
          <p:cNvSpPr txBox="true"/>
          <p:nvPr/>
        </p:nvSpPr>
        <p:spPr>
          <a:xfrm rot="0">
            <a:off x="762581" y="1976723"/>
            <a:ext cx="17539268" cy="494757"/>
          </a:xfrm>
          <a:prstGeom prst="rect">
            <a:avLst/>
          </a:prstGeom>
        </p:spPr>
        <p:txBody>
          <a:bodyPr anchor="t" rtlCol="false" tIns="0" lIns="0" bIns="0" rIns="0">
            <a:spAutoFit/>
          </a:bodyPr>
          <a:lstStyle/>
          <a:p>
            <a:pPr algn="l">
              <a:lnSpc>
                <a:spcPts val="3521"/>
              </a:lnSpc>
            </a:pPr>
            <a:r>
              <a:rPr lang="en-US" sz="2551">
                <a:solidFill>
                  <a:srgbClr val="10201D"/>
                </a:solidFill>
                <a:latin typeface="Inter"/>
                <a:ea typeface="Inter"/>
                <a:cs typeface="Inter"/>
                <a:sym typeface="Inter"/>
              </a:rPr>
              <a:t>Bridging idle capital and temporary utility through a single verified platform.</a:t>
            </a:r>
          </a:p>
        </p:txBody>
      </p:sp>
      <p:sp>
        <p:nvSpPr>
          <p:cNvPr name="TextBox 11" id="11"/>
          <p:cNvSpPr txBox="true"/>
          <p:nvPr/>
        </p:nvSpPr>
        <p:spPr>
          <a:xfrm rot="0">
            <a:off x="3418761" y="3662105"/>
            <a:ext cx="1779289" cy="792099"/>
          </a:xfrm>
          <a:prstGeom prst="rect">
            <a:avLst/>
          </a:prstGeom>
        </p:spPr>
        <p:txBody>
          <a:bodyPr anchor="t" rtlCol="false" tIns="0" lIns="0" bIns="0" rIns="0">
            <a:spAutoFit/>
          </a:bodyPr>
          <a:lstStyle/>
          <a:p>
            <a:pPr algn="ctr">
              <a:lnSpc>
                <a:spcPts val="3168"/>
              </a:lnSpc>
            </a:pPr>
            <a:r>
              <a:rPr lang="en-US" b="true" sz="2400" spc="-48">
                <a:solidFill>
                  <a:srgbClr val="FFFFFF"/>
                </a:solidFill>
                <a:latin typeface="Inter Bold"/>
                <a:ea typeface="Inter Bold"/>
                <a:cs typeface="Inter Bold"/>
                <a:sym typeface="Inter Bold"/>
              </a:rPr>
              <a:t>Idle Assets &amp; Storage</a:t>
            </a:r>
          </a:p>
        </p:txBody>
      </p:sp>
      <p:sp>
        <p:nvSpPr>
          <p:cNvPr name="TextBox 12" id="12"/>
          <p:cNvSpPr txBox="true"/>
          <p:nvPr/>
        </p:nvSpPr>
        <p:spPr>
          <a:xfrm rot="0">
            <a:off x="3422580" y="4686224"/>
            <a:ext cx="1779289" cy="1559052"/>
          </a:xfrm>
          <a:prstGeom prst="rect">
            <a:avLst/>
          </a:prstGeom>
        </p:spPr>
        <p:txBody>
          <a:bodyPr anchor="t" rtlCol="false" tIns="0" lIns="0" bIns="0" rIns="0">
            <a:spAutoFit/>
          </a:bodyPr>
          <a:lstStyle/>
          <a:p>
            <a:pPr algn="ctr">
              <a:lnSpc>
                <a:spcPts val="2483"/>
              </a:lnSpc>
            </a:pPr>
            <a:r>
              <a:rPr lang="en-US" sz="1800">
                <a:solidFill>
                  <a:srgbClr val="FFFFFF"/>
                </a:solidFill>
                <a:latin typeface="Inter"/>
                <a:ea typeface="Inter"/>
                <a:cs typeface="Inter"/>
                <a:sym typeface="Inter"/>
              </a:rPr>
              <a:t>Underutilized personal goods and empty storage slots sit unused.</a:t>
            </a:r>
          </a:p>
        </p:txBody>
      </p:sp>
      <p:sp>
        <p:nvSpPr>
          <p:cNvPr name="TextBox 13" id="13"/>
          <p:cNvSpPr txBox="true"/>
          <p:nvPr/>
        </p:nvSpPr>
        <p:spPr>
          <a:xfrm rot="0">
            <a:off x="1086669" y="8027337"/>
            <a:ext cx="7511377" cy="481517"/>
          </a:xfrm>
          <a:prstGeom prst="rect">
            <a:avLst/>
          </a:prstGeom>
        </p:spPr>
        <p:txBody>
          <a:bodyPr anchor="t" rtlCol="false" tIns="0" lIns="0" bIns="0" rIns="0">
            <a:spAutoFit/>
          </a:bodyPr>
          <a:lstStyle/>
          <a:p>
            <a:pPr algn="l">
              <a:lnSpc>
                <a:spcPts val="3566"/>
              </a:lnSpc>
            </a:pPr>
            <a:r>
              <a:rPr lang="en-US" sz="2702">
                <a:solidFill>
                  <a:srgbClr val="10201D"/>
                </a:solidFill>
                <a:latin typeface="Inter"/>
                <a:ea typeface="Inter"/>
                <a:cs typeface="Inter"/>
                <a:sym typeface="Inter"/>
              </a:rPr>
              <a:t>Asset Rental Flow</a:t>
            </a:r>
          </a:p>
        </p:txBody>
      </p:sp>
      <p:sp>
        <p:nvSpPr>
          <p:cNvPr name="TextBox 14" id="14"/>
          <p:cNvSpPr txBox="true"/>
          <p:nvPr/>
        </p:nvSpPr>
        <p:spPr>
          <a:xfrm rot="0">
            <a:off x="1086669" y="8739759"/>
            <a:ext cx="7511377" cy="774478"/>
          </a:xfrm>
          <a:prstGeom prst="rect">
            <a:avLst/>
          </a:prstGeom>
        </p:spPr>
        <p:txBody>
          <a:bodyPr anchor="t" rtlCol="false" tIns="0" lIns="0" bIns="0" rIns="0">
            <a:spAutoFit/>
          </a:bodyPr>
          <a:lstStyle/>
          <a:p>
            <a:pPr algn="l">
              <a:lnSpc>
                <a:spcPts val="2900"/>
              </a:lnSpc>
            </a:pPr>
            <a:r>
              <a:rPr lang="en-US" sz="2101">
                <a:solidFill>
                  <a:srgbClr val="10201D"/>
                </a:solidFill>
                <a:latin typeface="Inter"/>
                <a:ea typeface="Inter"/>
                <a:cs typeface="Inter"/>
                <a:sym typeface="Inter"/>
              </a:rPr>
              <a:t>Asset Owner → RentSphere Engine → Verified Renter with explicit lease tracking.</a:t>
            </a:r>
          </a:p>
        </p:txBody>
      </p:sp>
      <p:sp>
        <p:nvSpPr>
          <p:cNvPr name="TextBox 15" id="15"/>
          <p:cNvSpPr txBox="true"/>
          <p:nvPr/>
        </p:nvSpPr>
        <p:spPr>
          <a:xfrm rot="0">
            <a:off x="9703784" y="8027337"/>
            <a:ext cx="7511377" cy="481517"/>
          </a:xfrm>
          <a:prstGeom prst="rect">
            <a:avLst/>
          </a:prstGeom>
        </p:spPr>
        <p:txBody>
          <a:bodyPr anchor="t" rtlCol="false" tIns="0" lIns="0" bIns="0" rIns="0">
            <a:spAutoFit/>
          </a:bodyPr>
          <a:lstStyle/>
          <a:p>
            <a:pPr algn="l">
              <a:lnSpc>
                <a:spcPts val="3566"/>
              </a:lnSpc>
            </a:pPr>
            <a:r>
              <a:rPr lang="en-US" sz="2702">
                <a:solidFill>
                  <a:srgbClr val="10201D"/>
                </a:solidFill>
                <a:latin typeface="Inter"/>
                <a:ea typeface="Inter"/>
                <a:cs typeface="Inter"/>
                <a:sym typeface="Inter"/>
              </a:rPr>
              <a:t>Micro-Storage Flow</a:t>
            </a:r>
          </a:p>
        </p:txBody>
      </p:sp>
      <p:sp>
        <p:nvSpPr>
          <p:cNvPr name="TextBox 16" id="16"/>
          <p:cNvSpPr txBox="true"/>
          <p:nvPr/>
        </p:nvSpPr>
        <p:spPr>
          <a:xfrm rot="0">
            <a:off x="9703784" y="8739759"/>
            <a:ext cx="7511377" cy="774478"/>
          </a:xfrm>
          <a:prstGeom prst="rect">
            <a:avLst/>
          </a:prstGeom>
        </p:spPr>
        <p:txBody>
          <a:bodyPr anchor="t" rtlCol="false" tIns="0" lIns="0" bIns="0" rIns="0">
            <a:spAutoFit/>
          </a:bodyPr>
          <a:lstStyle/>
          <a:p>
            <a:pPr algn="l">
              <a:lnSpc>
                <a:spcPts val="2900"/>
              </a:lnSpc>
            </a:pPr>
            <a:r>
              <a:rPr lang="en-US" sz="2101">
                <a:solidFill>
                  <a:srgbClr val="10201D"/>
                </a:solidFill>
                <a:latin typeface="Inter"/>
                <a:ea typeface="Inter"/>
                <a:cs typeface="Inter"/>
                <a:sym typeface="Inter"/>
              </a:rPr>
              <a:t>Space Owner → RentSphere Slot Allocator → Temporary Storage User.</a:t>
            </a:r>
          </a:p>
        </p:txBody>
      </p:sp>
      <p:grpSp>
        <p:nvGrpSpPr>
          <p:cNvPr name="Group 17" id="17"/>
          <p:cNvGrpSpPr/>
          <p:nvPr/>
        </p:nvGrpSpPr>
        <p:grpSpPr>
          <a:xfrm rot="0">
            <a:off x="7607875" y="3490912"/>
            <a:ext cx="3086100" cy="3086100"/>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127941" y="0"/>
                  </a:moveTo>
                  <a:lnTo>
                    <a:pt x="684859" y="0"/>
                  </a:lnTo>
                  <a:cubicBezTo>
                    <a:pt x="718791" y="0"/>
                    <a:pt x="751333" y="13479"/>
                    <a:pt x="775327" y="37473"/>
                  </a:cubicBezTo>
                  <a:cubicBezTo>
                    <a:pt x="799321" y="61467"/>
                    <a:pt x="812800" y="94009"/>
                    <a:pt x="812800" y="127941"/>
                  </a:cubicBezTo>
                  <a:lnTo>
                    <a:pt x="812800" y="684859"/>
                  </a:lnTo>
                  <a:cubicBezTo>
                    <a:pt x="812800" y="718791"/>
                    <a:pt x="799321" y="751333"/>
                    <a:pt x="775327" y="775327"/>
                  </a:cubicBezTo>
                  <a:cubicBezTo>
                    <a:pt x="751333" y="799321"/>
                    <a:pt x="718791" y="812800"/>
                    <a:pt x="684859" y="812800"/>
                  </a:cubicBezTo>
                  <a:lnTo>
                    <a:pt x="127941" y="812800"/>
                  </a:lnTo>
                  <a:cubicBezTo>
                    <a:pt x="94009" y="812800"/>
                    <a:pt x="61467" y="799321"/>
                    <a:pt x="37473" y="775327"/>
                  </a:cubicBezTo>
                  <a:cubicBezTo>
                    <a:pt x="13479" y="751333"/>
                    <a:pt x="0" y="718791"/>
                    <a:pt x="0" y="684859"/>
                  </a:cubicBezTo>
                  <a:lnTo>
                    <a:pt x="0" y="127941"/>
                  </a:lnTo>
                  <a:cubicBezTo>
                    <a:pt x="0" y="94009"/>
                    <a:pt x="13479" y="61467"/>
                    <a:pt x="37473" y="37473"/>
                  </a:cubicBezTo>
                  <a:cubicBezTo>
                    <a:pt x="61467" y="13479"/>
                    <a:pt x="94009" y="0"/>
                    <a:pt x="127941" y="0"/>
                  </a:cubicBezTo>
                  <a:close/>
                </a:path>
              </a:pathLst>
            </a:custGeom>
            <a:solidFill>
              <a:srgbClr val="0A7C78"/>
            </a:solidFill>
          </p:spPr>
        </p:sp>
        <p:sp>
          <p:nvSpPr>
            <p:cNvPr name="TextBox 19" id="19"/>
            <p:cNvSpPr txBox="true"/>
            <p:nvPr/>
          </p:nvSpPr>
          <p:spPr>
            <a:xfrm>
              <a:off x="0" y="-38100"/>
              <a:ext cx="812800" cy="850900"/>
            </a:xfrm>
            <a:prstGeom prst="rect">
              <a:avLst/>
            </a:prstGeom>
          </p:spPr>
          <p:txBody>
            <a:bodyPr anchor="ctr" rtlCol="false" tIns="50800" lIns="50800" bIns="50800" rIns="50800"/>
            <a:lstStyle/>
            <a:p>
              <a:pPr algn="ctr">
                <a:lnSpc>
                  <a:spcPts val="2900"/>
                </a:lnSpc>
              </a:pPr>
            </a:p>
          </p:txBody>
        </p:sp>
      </p:grpSp>
      <p:sp>
        <p:nvSpPr>
          <p:cNvPr name="TextBox 20" id="20"/>
          <p:cNvSpPr txBox="true"/>
          <p:nvPr/>
        </p:nvSpPr>
        <p:spPr>
          <a:xfrm rot="0">
            <a:off x="8256394" y="3722675"/>
            <a:ext cx="1789062" cy="792099"/>
          </a:xfrm>
          <a:prstGeom prst="rect">
            <a:avLst/>
          </a:prstGeom>
        </p:spPr>
        <p:txBody>
          <a:bodyPr anchor="t" rtlCol="false" tIns="0" lIns="0" bIns="0" rIns="0">
            <a:spAutoFit/>
          </a:bodyPr>
          <a:lstStyle/>
          <a:p>
            <a:pPr algn="ctr">
              <a:lnSpc>
                <a:spcPts val="3168"/>
              </a:lnSpc>
            </a:pPr>
            <a:r>
              <a:rPr lang="en-US" b="true" sz="2400" spc="-48">
                <a:solidFill>
                  <a:srgbClr val="FFFFFF"/>
                </a:solidFill>
                <a:latin typeface="Inter Bold"/>
                <a:ea typeface="Inter Bold"/>
                <a:cs typeface="Inter Bold"/>
                <a:sym typeface="Inter Bold"/>
              </a:rPr>
              <a:t>RentSphere Core</a:t>
            </a:r>
          </a:p>
        </p:txBody>
      </p:sp>
      <p:sp>
        <p:nvSpPr>
          <p:cNvPr name="TextBox 21" id="21"/>
          <p:cNvSpPr txBox="true"/>
          <p:nvPr/>
        </p:nvSpPr>
        <p:spPr>
          <a:xfrm rot="0">
            <a:off x="8256394" y="4555588"/>
            <a:ext cx="1789062" cy="1873377"/>
          </a:xfrm>
          <a:prstGeom prst="rect">
            <a:avLst/>
          </a:prstGeom>
        </p:spPr>
        <p:txBody>
          <a:bodyPr anchor="t" rtlCol="false" tIns="0" lIns="0" bIns="0" rIns="0">
            <a:spAutoFit/>
          </a:bodyPr>
          <a:lstStyle/>
          <a:p>
            <a:pPr algn="ctr">
              <a:lnSpc>
                <a:spcPts val="2483"/>
              </a:lnSpc>
            </a:pPr>
            <a:r>
              <a:rPr lang="en-US" sz="1800">
                <a:solidFill>
                  <a:srgbClr val="FFFFFF"/>
                </a:solidFill>
                <a:latin typeface="Inter"/>
                <a:ea typeface="Inter"/>
                <a:cs typeface="Inter"/>
                <a:sym typeface="Inter"/>
              </a:rPr>
              <a:t>Central platform coordinates listings, reservations, and state control.</a:t>
            </a:r>
          </a:p>
        </p:txBody>
      </p:sp>
      <p:grpSp>
        <p:nvGrpSpPr>
          <p:cNvPr name="Group 22" id="22"/>
          <p:cNvGrpSpPr/>
          <p:nvPr/>
        </p:nvGrpSpPr>
        <p:grpSpPr>
          <a:xfrm rot="0">
            <a:off x="11929848" y="3490912"/>
            <a:ext cx="3086100" cy="3086100"/>
            <a:chOff x="0" y="0"/>
            <a:chExt cx="812800" cy="812800"/>
          </a:xfrm>
        </p:grpSpPr>
        <p:sp>
          <p:nvSpPr>
            <p:cNvPr name="Freeform 23" id="23"/>
            <p:cNvSpPr/>
            <p:nvPr/>
          </p:nvSpPr>
          <p:spPr>
            <a:xfrm flipH="false" flipV="false" rot="0">
              <a:off x="0" y="0"/>
              <a:ext cx="812800" cy="812800"/>
            </a:xfrm>
            <a:custGeom>
              <a:avLst/>
              <a:gdLst/>
              <a:ahLst/>
              <a:cxnLst/>
              <a:rect r="r" b="b" t="t" l="l"/>
              <a:pathLst>
                <a:path h="812800" w="812800">
                  <a:moveTo>
                    <a:pt x="127941" y="0"/>
                  </a:moveTo>
                  <a:lnTo>
                    <a:pt x="684859" y="0"/>
                  </a:lnTo>
                  <a:cubicBezTo>
                    <a:pt x="718791" y="0"/>
                    <a:pt x="751333" y="13479"/>
                    <a:pt x="775327" y="37473"/>
                  </a:cubicBezTo>
                  <a:cubicBezTo>
                    <a:pt x="799321" y="61467"/>
                    <a:pt x="812800" y="94009"/>
                    <a:pt x="812800" y="127941"/>
                  </a:cubicBezTo>
                  <a:lnTo>
                    <a:pt x="812800" y="684859"/>
                  </a:lnTo>
                  <a:cubicBezTo>
                    <a:pt x="812800" y="718791"/>
                    <a:pt x="799321" y="751333"/>
                    <a:pt x="775327" y="775327"/>
                  </a:cubicBezTo>
                  <a:cubicBezTo>
                    <a:pt x="751333" y="799321"/>
                    <a:pt x="718791" y="812800"/>
                    <a:pt x="684859" y="812800"/>
                  </a:cubicBezTo>
                  <a:lnTo>
                    <a:pt x="127941" y="812800"/>
                  </a:lnTo>
                  <a:cubicBezTo>
                    <a:pt x="94009" y="812800"/>
                    <a:pt x="61467" y="799321"/>
                    <a:pt x="37473" y="775327"/>
                  </a:cubicBezTo>
                  <a:cubicBezTo>
                    <a:pt x="13479" y="751333"/>
                    <a:pt x="0" y="718791"/>
                    <a:pt x="0" y="684859"/>
                  </a:cubicBezTo>
                  <a:lnTo>
                    <a:pt x="0" y="127941"/>
                  </a:lnTo>
                  <a:cubicBezTo>
                    <a:pt x="0" y="94009"/>
                    <a:pt x="13479" y="61467"/>
                    <a:pt x="37473" y="37473"/>
                  </a:cubicBezTo>
                  <a:cubicBezTo>
                    <a:pt x="61467" y="13479"/>
                    <a:pt x="94009" y="0"/>
                    <a:pt x="127941" y="0"/>
                  </a:cubicBezTo>
                  <a:close/>
                </a:path>
              </a:pathLst>
            </a:custGeom>
            <a:solidFill>
              <a:srgbClr val="0A7C78"/>
            </a:solidFill>
          </p:spPr>
        </p:sp>
        <p:sp>
          <p:nvSpPr>
            <p:cNvPr name="TextBox 24" id="24"/>
            <p:cNvSpPr txBox="true"/>
            <p:nvPr/>
          </p:nvSpPr>
          <p:spPr>
            <a:xfrm>
              <a:off x="0" y="-38100"/>
              <a:ext cx="812800" cy="850900"/>
            </a:xfrm>
            <a:prstGeom prst="rect">
              <a:avLst/>
            </a:prstGeom>
          </p:spPr>
          <p:txBody>
            <a:bodyPr anchor="ctr" rtlCol="false" tIns="50800" lIns="50800" bIns="50800" rIns="50800"/>
            <a:lstStyle/>
            <a:p>
              <a:pPr algn="ctr">
                <a:lnSpc>
                  <a:spcPts val="2900"/>
                </a:lnSpc>
              </a:pPr>
            </a:p>
          </p:txBody>
        </p:sp>
      </p:grpSp>
      <p:sp>
        <p:nvSpPr>
          <p:cNvPr name="TextBox 25" id="25"/>
          <p:cNvSpPr txBox="true"/>
          <p:nvPr/>
        </p:nvSpPr>
        <p:spPr>
          <a:xfrm rot="0">
            <a:off x="12450802" y="3922700"/>
            <a:ext cx="2017352" cy="392049"/>
          </a:xfrm>
          <a:prstGeom prst="rect">
            <a:avLst/>
          </a:prstGeom>
        </p:spPr>
        <p:txBody>
          <a:bodyPr anchor="t" rtlCol="false" tIns="0" lIns="0" bIns="0" rIns="0">
            <a:spAutoFit/>
          </a:bodyPr>
          <a:lstStyle/>
          <a:p>
            <a:pPr algn="ctr">
              <a:lnSpc>
                <a:spcPts val="3168"/>
              </a:lnSpc>
            </a:pPr>
            <a:r>
              <a:rPr lang="en-US" b="true" sz="2400" spc="-48">
                <a:solidFill>
                  <a:srgbClr val="FFFFFF"/>
                </a:solidFill>
                <a:latin typeface="Inter Bold"/>
                <a:ea typeface="Inter Bold"/>
                <a:cs typeface="Inter Bold"/>
                <a:sym typeface="Inter Bold"/>
              </a:rPr>
              <a:t>Verified Utility</a:t>
            </a:r>
          </a:p>
        </p:txBody>
      </p:sp>
      <p:sp>
        <p:nvSpPr>
          <p:cNvPr name="TextBox 26" id="26"/>
          <p:cNvSpPr txBox="true"/>
          <p:nvPr/>
        </p:nvSpPr>
        <p:spPr>
          <a:xfrm rot="0">
            <a:off x="12569828" y="4830856"/>
            <a:ext cx="1779289" cy="1559052"/>
          </a:xfrm>
          <a:prstGeom prst="rect">
            <a:avLst/>
          </a:prstGeom>
        </p:spPr>
        <p:txBody>
          <a:bodyPr anchor="t" rtlCol="false" tIns="0" lIns="0" bIns="0" rIns="0">
            <a:spAutoFit/>
          </a:bodyPr>
          <a:lstStyle/>
          <a:p>
            <a:pPr algn="ctr">
              <a:lnSpc>
                <a:spcPts val="2483"/>
              </a:lnSpc>
            </a:pPr>
            <a:r>
              <a:rPr lang="en-US" sz="1800">
                <a:solidFill>
                  <a:srgbClr val="FFFFFF"/>
                </a:solidFill>
                <a:latin typeface="Inter"/>
                <a:ea typeface="Inter"/>
                <a:cs typeface="Inter"/>
                <a:sym typeface="Inter"/>
              </a:rPr>
              <a:t>Renters gain affordable short-term access without full ownership.</a:t>
            </a:r>
          </a:p>
        </p:txBody>
      </p:sp>
      <p:sp>
        <p:nvSpPr>
          <p:cNvPr name="TextBox 27" id="27"/>
          <p:cNvSpPr txBox="true"/>
          <p:nvPr/>
        </p:nvSpPr>
        <p:spPr>
          <a:xfrm rot="0">
            <a:off x="543335" y="1070572"/>
            <a:ext cx="16776687" cy="610876"/>
          </a:xfrm>
          <a:prstGeom prst="rect">
            <a:avLst/>
          </a:prstGeom>
        </p:spPr>
        <p:txBody>
          <a:bodyPr anchor="t" rtlCol="false" tIns="0" lIns="0" bIns="0" rIns="0">
            <a:spAutoFit/>
          </a:bodyPr>
          <a:lstStyle/>
          <a:p>
            <a:pPr algn="l">
              <a:lnSpc>
                <a:spcPts val="5389"/>
              </a:lnSpc>
            </a:pPr>
            <a:r>
              <a:rPr lang="en-US" b="true" sz="5103" spc="-102">
                <a:solidFill>
                  <a:srgbClr val="0D9488"/>
                </a:solidFill>
                <a:latin typeface="Inter Bold"/>
                <a:ea typeface="Inter Bold"/>
                <a:cs typeface="Inter Bold"/>
                <a:sym typeface="Inter Bold"/>
              </a:rPr>
              <a:t>Introducing RentSphere</a:t>
            </a: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F2F4ED"/>
        </a:solidFill>
      </p:bgPr>
    </p:bg>
    <p:spTree>
      <p:nvGrpSpPr>
        <p:cNvPr id="1" name=""/>
        <p:cNvGrpSpPr/>
        <p:nvPr/>
      </p:nvGrpSpPr>
      <p:grpSpPr>
        <a:xfrm>
          <a:off x="0" y="0"/>
          <a:ext cx="0" cy="0"/>
          <a:chOff x="0" y="0"/>
          <a:chExt cx="0" cy="0"/>
        </a:xfrm>
      </p:grpSpPr>
      <p:sp>
        <p:nvSpPr>
          <p:cNvPr name="TextBox 2" id="2"/>
          <p:cNvSpPr txBox="true"/>
          <p:nvPr/>
        </p:nvSpPr>
        <p:spPr>
          <a:xfrm rot="0">
            <a:off x="686324" y="537924"/>
            <a:ext cx="17615525" cy="269434"/>
          </a:xfrm>
          <a:prstGeom prst="rect">
            <a:avLst/>
          </a:prstGeom>
        </p:spPr>
        <p:txBody>
          <a:bodyPr anchor="t" rtlCol="false" tIns="0" lIns="0" bIns="0" rIns="0">
            <a:spAutoFit/>
          </a:bodyPr>
          <a:lstStyle/>
          <a:p>
            <a:pPr algn="l">
              <a:lnSpc>
                <a:spcPts val="2040"/>
              </a:lnSpc>
            </a:pPr>
            <a:r>
              <a:rPr lang="en-US" sz="1651" spc="90">
                <a:solidFill>
                  <a:srgbClr val="0A7C78"/>
                </a:solidFill>
                <a:latin typeface="IBM Plex Sans"/>
                <a:ea typeface="IBM Plex Sans"/>
                <a:cs typeface="IBM Plex Sans"/>
                <a:sym typeface="IBM Plex Sans"/>
              </a:rPr>
              <a:t>CHALLENGES &amp; OBJECTIVES</a:t>
            </a:r>
          </a:p>
        </p:txBody>
      </p:sp>
      <p:sp>
        <p:nvSpPr>
          <p:cNvPr name="TextBox 3" id="3"/>
          <p:cNvSpPr txBox="true"/>
          <p:nvPr/>
        </p:nvSpPr>
        <p:spPr>
          <a:xfrm rot="0">
            <a:off x="686324" y="1079887"/>
            <a:ext cx="16929202" cy="610876"/>
          </a:xfrm>
          <a:prstGeom prst="rect">
            <a:avLst/>
          </a:prstGeom>
        </p:spPr>
        <p:txBody>
          <a:bodyPr anchor="t" rtlCol="false" tIns="0" lIns="0" bIns="0" rIns="0">
            <a:spAutoFit/>
          </a:bodyPr>
          <a:lstStyle/>
          <a:p>
            <a:pPr algn="l">
              <a:lnSpc>
                <a:spcPts val="5389"/>
              </a:lnSpc>
            </a:pPr>
            <a:r>
              <a:rPr lang="en-US" b="true" sz="5103" spc="-102">
                <a:solidFill>
                  <a:srgbClr val="0D9488"/>
                </a:solidFill>
                <a:latin typeface="Inter Bold"/>
                <a:ea typeface="Inter Bold"/>
                <a:cs typeface="Inter Bold"/>
                <a:sym typeface="Inter Bold"/>
              </a:rPr>
              <a:t>The Problem We Want to Solve</a:t>
            </a:r>
          </a:p>
        </p:txBody>
      </p:sp>
      <p:grpSp>
        <p:nvGrpSpPr>
          <p:cNvPr name="Group 4" id="4"/>
          <p:cNvGrpSpPr/>
          <p:nvPr/>
        </p:nvGrpSpPr>
        <p:grpSpPr>
          <a:xfrm rot="0">
            <a:off x="667255" y="1843040"/>
            <a:ext cx="8273958" cy="7937249"/>
            <a:chOff x="0" y="0"/>
            <a:chExt cx="11031944" cy="10582999"/>
          </a:xfrm>
        </p:grpSpPr>
        <p:sp>
          <p:nvSpPr>
            <p:cNvPr name="Freeform 5" id="5"/>
            <p:cNvSpPr/>
            <p:nvPr/>
          </p:nvSpPr>
          <p:spPr>
            <a:xfrm flipH="false" flipV="false" rot="0">
              <a:off x="0" y="0"/>
              <a:ext cx="11031982" cy="10583037"/>
            </a:xfrm>
            <a:custGeom>
              <a:avLst/>
              <a:gdLst/>
              <a:ahLst/>
              <a:cxnLst/>
              <a:rect r="r" b="b" t="t" l="l"/>
              <a:pathLst>
                <a:path h="10583037" w="11031982">
                  <a:moveTo>
                    <a:pt x="0" y="182372"/>
                  </a:moveTo>
                  <a:cubicBezTo>
                    <a:pt x="0" y="81661"/>
                    <a:pt x="81661" y="0"/>
                    <a:pt x="182372" y="0"/>
                  </a:cubicBezTo>
                  <a:lnTo>
                    <a:pt x="10849610" y="0"/>
                  </a:lnTo>
                  <a:cubicBezTo>
                    <a:pt x="10950321" y="0"/>
                    <a:pt x="11031982" y="81661"/>
                    <a:pt x="11031982" y="182372"/>
                  </a:cubicBezTo>
                  <a:lnTo>
                    <a:pt x="11031982" y="10400665"/>
                  </a:lnTo>
                  <a:cubicBezTo>
                    <a:pt x="11031982" y="10501376"/>
                    <a:pt x="10950321" y="10583037"/>
                    <a:pt x="10849610" y="10583037"/>
                  </a:cubicBezTo>
                  <a:lnTo>
                    <a:pt x="182372" y="10583037"/>
                  </a:lnTo>
                  <a:cubicBezTo>
                    <a:pt x="81661" y="10583037"/>
                    <a:pt x="0" y="10501376"/>
                    <a:pt x="0" y="10400665"/>
                  </a:cubicBezTo>
                  <a:close/>
                </a:path>
              </a:pathLst>
            </a:custGeom>
            <a:solidFill>
              <a:srgbClr val="FFFFFF"/>
            </a:solidFill>
            <a:ln w="38128" cap="sq">
              <a:solidFill>
                <a:srgbClr val="CBCFC0"/>
              </a:solidFill>
              <a:prstDash val="solid"/>
              <a:miter/>
            </a:ln>
          </p:spPr>
        </p:sp>
      </p:grpSp>
      <p:grpSp>
        <p:nvGrpSpPr>
          <p:cNvPr name="Group 6" id="6"/>
          <p:cNvGrpSpPr/>
          <p:nvPr/>
        </p:nvGrpSpPr>
        <p:grpSpPr>
          <a:xfrm rot="0">
            <a:off x="1105738" y="4150042"/>
            <a:ext cx="4243768" cy="515645"/>
            <a:chOff x="0" y="0"/>
            <a:chExt cx="5658358" cy="687527"/>
          </a:xfrm>
        </p:grpSpPr>
        <p:sp>
          <p:nvSpPr>
            <p:cNvPr name="Freeform 7" id="7"/>
            <p:cNvSpPr/>
            <p:nvPr/>
          </p:nvSpPr>
          <p:spPr>
            <a:xfrm flipH="false" flipV="false" rot="0">
              <a:off x="0" y="0"/>
              <a:ext cx="5658358" cy="687451"/>
            </a:xfrm>
            <a:custGeom>
              <a:avLst/>
              <a:gdLst/>
              <a:ahLst/>
              <a:cxnLst/>
              <a:rect r="r" b="b" t="t" l="l"/>
              <a:pathLst>
                <a:path h="687451" w="5658358">
                  <a:moveTo>
                    <a:pt x="0" y="145161"/>
                  </a:moveTo>
                  <a:cubicBezTo>
                    <a:pt x="0" y="65024"/>
                    <a:pt x="65024" y="0"/>
                    <a:pt x="145161" y="0"/>
                  </a:cubicBezTo>
                  <a:lnTo>
                    <a:pt x="5513197" y="0"/>
                  </a:lnTo>
                  <a:cubicBezTo>
                    <a:pt x="5593334" y="0"/>
                    <a:pt x="5658358" y="65024"/>
                    <a:pt x="5658358" y="145161"/>
                  </a:cubicBezTo>
                  <a:lnTo>
                    <a:pt x="5658358" y="542290"/>
                  </a:lnTo>
                  <a:cubicBezTo>
                    <a:pt x="5658358" y="622427"/>
                    <a:pt x="5593334" y="687451"/>
                    <a:pt x="5513197" y="687451"/>
                  </a:cubicBezTo>
                  <a:lnTo>
                    <a:pt x="145161" y="687451"/>
                  </a:lnTo>
                  <a:cubicBezTo>
                    <a:pt x="65024" y="687578"/>
                    <a:pt x="0" y="622554"/>
                    <a:pt x="0" y="542290"/>
                  </a:cubicBezTo>
                  <a:close/>
                </a:path>
              </a:pathLst>
            </a:custGeom>
            <a:solidFill>
              <a:srgbClr val="D2F9F4"/>
            </a:solidFill>
          </p:spPr>
        </p:sp>
      </p:grpSp>
      <p:sp>
        <p:nvSpPr>
          <p:cNvPr name="TextBox 8" id="8"/>
          <p:cNvSpPr txBox="true"/>
          <p:nvPr/>
        </p:nvSpPr>
        <p:spPr>
          <a:xfrm rot="0">
            <a:off x="1300105" y="4247817"/>
            <a:ext cx="4770130" cy="340471"/>
          </a:xfrm>
          <a:prstGeom prst="rect">
            <a:avLst/>
          </a:prstGeom>
        </p:spPr>
        <p:txBody>
          <a:bodyPr anchor="t" rtlCol="false" tIns="0" lIns="0" bIns="0" rIns="0">
            <a:spAutoFit/>
          </a:bodyPr>
          <a:lstStyle/>
          <a:p>
            <a:pPr algn="l">
              <a:lnSpc>
                <a:spcPts val="2504"/>
              </a:lnSpc>
            </a:pPr>
            <a:r>
              <a:rPr lang="en-US" sz="2026" spc="21">
                <a:solidFill>
                  <a:srgbClr val="10201D"/>
                </a:solidFill>
                <a:latin typeface="IBM Plex Sans"/>
                <a:ea typeface="IBM Plex Sans"/>
                <a:cs typeface="IBM Plex Sans"/>
                <a:sym typeface="IBM Plex Sans"/>
              </a:rPr>
              <a:t>Current Operational Challenges</a:t>
            </a:r>
          </a:p>
        </p:txBody>
      </p:sp>
      <p:sp>
        <p:nvSpPr>
          <p:cNvPr name="TextBox 9" id="9"/>
          <p:cNvSpPr txBox="true"/>
          <p:nvPr/>
        </p:nvSpPr>
        <p:spPr>
          <a:xfrm rot="0">
            <a:off x="1105738" y="4808706"/>
            <a:ext cx="7396991" cy="2664581"/>
          </a:xfrm>
          <a:prstGeom prst="rect">
            <a:avLst/>
          </a:prstGeom>
        </p:spPr>
        <p:txBody>
          <a:bodyPr anchor="t" rtlCol="false" tIns="0" lIns="0" bIns="0" rIns="0">
            <a:spAutoFit/>
          </a:bodyPr>
          <a:lstStyle/>
          <a:p>
            <a:pPr algn="l" marL="462207" indent="-231104" lvl="1">
              <a:lnSpc>
                <a:spcPts val="3521"/>
              </a:lnSpc>
              <a:buFont typeface="Arial"/>
              <a:buChar char="•"/>
            </a:pPr>
            <a:r>
              <a:rPr lang="en-US" sz="2551">
                <a:solidFill>
                  <a:srgbClr val="10201D"/>
                </a:solidFill>
                <a:latin typeface="Inter"/>
                <a:ea typeface="Inter"/>
                <a:cs typeface="Inter"/>
                <a:sym typeface="Inter"/>
              </a:rPr>
              <a:t>Hard to discover suitable assets or storage.</a:t>
            </a:r>
          </a:p>
          <a:p>
            <a:pPr algn="l" marL="462207" indent="-231104" lvl="1">
              <a:lnSpc>
                <a:spcPts val="3521"/>
              </a:lnSpc>
              <a:buFont typeface="Arial"/>
              <a:buChar char="•"/>
            </a:pPr>
            <a:r>
              <a:rPr lang="en-US" sz="2551">
                <a:solidFill>
                  <a:srgbClr val="10201D"/>
                </a:solidFill>
                <a:latin typeface="Inter"/>
                <a:ea typeface="Inter"/>
                <a:cs typeface="Inter"/>
                <a:sym typeface="Inter"/>
              </a:rPr>
              <a:t>Unclear availability and rental status.</a:t>
            </a:r>
          </a:p>
          <a:p>
            <a:pPr algn="l" marL="462207" indent="-231104" lvl="1">
              <a:lnSpc>
                <a:spcPts val="3521"/>
              </a:lnSpc>
              <a:buFont typeface="Arial"/>
              <a:buChar char="•"/>
            </a:pPr>
            <a:r>
              <a:rPr lang="en-US" sz="2551">
                <a:solidFill>
                  <a:srgbClr val="10201D"/>
                </a:solidFill>
                <a:latin typeface="Inter"/>
                <a:ea typeface="Inter"/>
                <a:cs typeface="Inter"/>
                <a:sym typeface="Inter"/>
              </a:rPr>
              <a:t>Manual booking and contract tracking.</a:t>
            </a:r>
          </a:p>
          <a:p>
            <a:pPr algn="l" marL="462207" indent="-231104" lvl="1">
              <a:lnSpc>
                <a:spcPts val="3521"/>
              </a:lnSpc>
              <a:buFont typeface="Arial"/>
              <a:buChar char="•"/>
            </a:pPr>
            <a:r>
              <a:rPr lang="en-US" sz="2551">
                <a:solidFill>
                  <a:srgbClr val="10201D"/>
                </a:solidFill>
                <a:latin typeface="Inter"/>
                <a:ea typeface="Inter"/>
                <a:cs typeface="Inter"/>
                <a:sym typeface="Inter"/>
              </a:rPr>
              <a:t>Risk of inconsistent rental operations.</a:t>
            </a:r>
          </a:p>
          <a:p>
            <a:pPr algn="l" marL="462207" indent="-231104" lvl="1">
              <a:lnSpc>
                <a:spcPts val="3521"/>
              </a:lnSpc>
              <a:buFont typeface="Arial"/>
              <a:buChar char="•"/>
            </a:pPr>
            <a:r>
              <a:rPr lang="en-US" sz="2551">
                <a:solidFill>
                  <a:srgbClr val="10201D"/>
                </a:solidFill>
                <a:latin typeface="Inter"/>
                <a:ea typeface="Inter"/>
                <a:cs typeface="Inter"/>
                <a:sym typeface="Inter"/>
              </a:rPr>
              <a:t>Returns and inspections must be managed.</a:t>
            </a:r>
          </a:p>
        </p:txBody>
      </p:sp>
      <p:grpSp>
        <p:nvGrpSpPr>
          <p:cNvPr name="Group 10" id="10"/>
          <p:cNvGrpSpPr/>
          <p:nvPr/>
        </p:nvGrpSpPr>
        <p:grpSpPr>
          <a:xfrm rot="0">
            <a:off x="9360627" y="1843040"/>
            <a:ext cx="8273958" cy="7937249"/>
            <a:chOff x="0" y="0"/>
            <a:chExt cx="11031944" cy="10582999"/>
          </a:xfrm>
        </p:grpSpPr>
        <p:sp>
          <p:nvSpPr>
            <p:cNvPr name="Freeform 11" id="11"/>
            <p:cNvSpPr/>
            <p:nvPr/>
          </p:nvSpPr>
          <p:spPr>
            <a:xfrm flipH="false" flipV="false" rot="0">
              <a:off x="0" y="0"/>
              <a:ext cx="11031982" cy="10583037"/>
            </a:xfrm>
            <a:custGeom>
              <a:avLst/>
              <a:gdLst/>
              <a:ahLst/>
              <a:cxnLst/>
              <a:rect r="r" b="b" t="t" l="l"/>
              <a:pathLst>
                <a:path h="10583037" w="11031982">
                  <a:moveTo>
                    <a:pt x="0" y="182372"/>
                  </a:moveTo>
                  <a:cubicBezTo>
                    <a:pt x="0" y="81661"/>
                    <a:pt x="81661" y="0"/>
                    <a:pt x="182372" y="0"/>
                  </a:cubicBezTo>
                  <a:lnTo>
                    <a:pt x="10849610" y="0"/>
                  </a:lnTo>
                  <a:cubicBezTo>
                    <a:pt x="10950321" y="0"/>
                    <a:pt x="11031982" y="81661"/>
                    <a:pt x="11031982" y="182372"/>
                  </a:cubicBezTo>
                  <a:lnTo>
                    <a:pt x="11031982" y="10400665"/>
                  </a:lnTo>
                  <a:cubicBezTo>
                    <a:pt x="11031982" y="10501376"/>
                    <a:pt x="10950321" y="10583037"/>
                    <a:pt x="10849610" y="10583037"/>
                  </a:cubicBezTo>
                  <a:lnTo>
                    <a:pt x="182372" y="10583037"/>
                  </a:lnTo>
                  <a:cubicBezTo>
                    <a:pt x="81661" y="10583037"/>
                    <a:pt x="0" y="10501376"/>
                    <a:pt x="0" y="10400665"/>
                  </a:cubicBezTo>
                  <a:close/>
                </a:path>
              </a:pathLst>
            </a:custGeom>
            <a:solidFill>
              <a:srgbClr val="FFFFFF"/>
            </a:solidFill>
            <a:ln w="38128" cap="sq">
              <a:solidFill>
                <a:srgbClr val="CBCFC0"/>
              </a:solidFill>
              <a:prstDash val="solid"/>
              <a:miter/>
            </a:ln>
          </p:spPr>
        </p:sp>
      </p:grpSp>
      <p:grpSp>
        <p:nvGrpSpPr>
          <p:cNvPr name="Group 12" id="12"/>
          <p:cNvGrpSpPr/>
          <p:nvPr/>
        </p:nvGrpSpPr>
        <p:grpSpPr>
          <a:xfrm rot="0">
            <a:off x="9799110" y="3702910"/>
            <a:ext cx="3248692" cy="515645"/>
            <a:chOff x="0" y="0"/>
            <a:chExt cx="4331589" cy="687527"/>
          </a:xfrm>
        </p:grpSpPr>
        <p:sp>
          <p:nvSpPr>
            <p:cNvPr name="Freeform 13" id="13"/>
            <p:cNvSpPr/>
            <p:nvPr/>
          </p:nvSpPr>
          <p:spPr>
            <a:xfrm flipH="false" flipV="false" rot="0">
              <a:off x="0" y="0"/>
              <a:ext cx="4331589" cy="687451"/>
            </a:xfrm>
            <a:custGeom>
              <a:avLst/>
              <a:gdLst/>
              <a:ahLst/>
              <a:cxnLst/>
              <a:rect r="r" b="b" t="t" l="l"/>
              <a:pathLst>
                <a:path h="687451" w="4331589">
                  <a:moveTo>
                    <a:pt x="0" y="145161"/>
                  </a:moveTo>
                  <a:cubicBezTo>
                    <a:pt x="0" y="65024"/>
                    <a:pt x="65024" y="0"/>
                    <a:pt x="145161" y="0"/>
                  </a:cubicBezTo>
                  <a:lnTo>
                    <a:pt x="4186428" y="0"/>
                  </a:lnTo>
                  <a:cubicBezTo>
                    <a:pt x="4266565" y="0"/>
                    <a:pt x="4331589" y="65024"/>
                    <a:pt x="4331589" y="145161"/>
                  </a:cubicBezTo>
                  <a:lnTo>
                    <a:pt x="4331589" y="542290"/>
                  </a:lnTo>
                  <a:cubicBezTo>
                    <a:pt x="4331589" y="622427"/>
                    <a:pt x="4266565" y="687451"/>
                    <a:pt x="4186428" y="687451"/>
                  </a:cubicBezTo>
                  <a:lnTo>
                    <a:pt x="145161" y="687451"/>
                  </a:lnTo>
                  <a:cubicBezTo>
                    <a:pt x="65024" y="687578"/>
                    <a:pt x="0" y="622554"/>
                    <a:pt x="0" y="542290"/>
                  </a:cubicBezTo>
                  <a:close/>
                </a:path>
              </a:pathLst>
            </a:custGeom>
            <a:solidFill>
              <a:srgbClr val="D2F9F4"/>
            </a:solidFill>
          </p:spPr>
        </p:sp>
      </p:grpSp>
      <p:sp>
        <p:nvSpPr>
          <p:cNvPr name="TextBox 14" id="14"/>
          <p:cNvSpPr txBox="true"/>
          <p:nvPr/>
        </p:nvSpPr>
        <p:spPr>
          <a:xfrm rot="0">
            <a:off x="9993478" y="3800685"/>
            <a:ext cx="3775053" cy="340471"/>
          </a:xfrm>
          <a:prstGeom prst="rect">
            <a:avLst/>
          </a:prstGeom>
        </p:spPr>
        <p:txBody>
          <a:bodyPr anchor="t" rtlCol="false" tIns="0" lIns="0" bIns="0" rIns="0">
            <a:spAutoFit/>
          </a:bodyPr>
          <a:lstStyle/>
          <a:p>
            <a:pPr algn="l">
              <a:lnSpc>
                <a:spcPts val="2504"/>
              </a:lnSpc>
            </a:pPr>
            <a:r>
              <a:rPr lang="en-US" sz="2026" spc="21">
                <a:solidFill>
                  <a:srgbClr val="10201D"/>
                </a:solidFill>
                <a:latin typeface="IBM Plex Sans"/>
                <a:ea typeface="IBM Plex Sans"/>
                <a:cs typeface="IBM Plex Sans"/>
                <a:sym typeface="IBM Plex Sans"/>
              </a:rPr>
              <a:t>Core Project Objectives</a:t>
            </a:r>
          </a:p>
        </p:txBody>
      </p:sp>
      <p:sp>
        <p:nvSpPr>
          <p:cNvPr name="TextBox 15" id="15"/>
          <p:cNvSpPr txBox="true"/>
          <p:nvPr/>
        </p:nvSpPr>
        <p:spPr>
          <a:xfrm rot="0">
            <a:off x="9799110" y="4361583"/>
            <a:ext cx="7396991" cy="3558845"/>
          </a:xfrm>
          <a:prstGeom prst="rect">
            <a:avLst/>
          </a:prstGeom>
        </p:spPr>
        <p:txBody>
          <a:bodyPr anchor="t" rtlCol="false" tIns="0" lIns="0" bIns="0" rIns="0">
            <a:spAutoFit/>
          </a:bodyPr>
          <a:lstStyle/>
          <a:p>
            <a:pPr algn="l" marL="462207" indent="-231104" lvl="1">
              <a:lnSpc>
                <a:spcPts val="3521"/>
              </a:lnSpc>
              <a:buAutoNum type="arabicPeriod" startAt="1"/>
            </a:pPr>
            <a:r>
              <a:rPr lang="en-US" sz="2551">
                <a:solidFill>
                  <a:srgbClr val="10201D"/>
                </a:solidFill>
                <a:latin typeface="Inter"/>
                <a:ea typeface="Inter"/>
                <a:cs typeface="Inter"/>
                <a:sym typeface="Inter"/>
              </a:rPr>
              <a:t>Organize assets and storage spaces.</a:t>
            </a:r>
          </a:p>
          <a:p>
            <a:pPr algn="l" marL="462207" indent="-231104" lvl="1">
              <a:lnSpc>
                <a:spcPts val="3521"/>
              </a:lnSpc>
              <a:buAutoNum type="arabicPeriod" startAt="1"/>
            </a:pPr>
            <a:r>
              <a:rPr lang="en-US" sz="2551">
                <a:solidFill>
                  <a:srgbClr val="10201D"/>
                </a:solidFill>
                <a:latin typeface="Inter"/>
                <a:ea typeface="Inter"/>
                <a:cs typeface="Inter"/>
                <a:sym typeface="Inter"/>
              </a:rPr>
              <a:t>Track availability and reservations.</a:t>
            </a:r>
          </a:p>
          <a:p>
            <a:pPr algn="l" marL="462207" indent="-231104" lvl="1">
              <a:lnSpc>
                <a:spcPts val="3521"/>
              </a:lnSpc>
              <a:buAutoNum type="arabicPeriod" startAt="1"/>
            </a:pPr>
            <a:r>
              <a:rPr lang="en-US" sz="2551">
                <a:solidFill>
                  <a:srgbClr val="10201D"/>
                </a:solidFill>
                <a:latin typeface="Inter"/>
                <a:ea typeface="Inter"/>
                <a:cs typeface="Inter"/>
                <a:sym typeface="Inter"/>
              </a:rPr>
              <a:t>Model the rental lifecycle with clear state transitions.</a:t>
            </a:r>
          </a:p>
          <a:p>
            <a:pPr algn="l" marL="462207" indent="-231104" lvl="1">
              <a:lnSpc>
                <a:spcPts val="3521"/>
              </a:lnSpc>
              <a:buAutoNum type="arabicPeriod" startAt="1"/>
            </a:pPr>
            <a:r>
              <a:rPr lang="en-US" sz="2551">
                <a:solidFill>
                  <a:srgbClr val="10201D"/>
                </a:solidFill>
                <a:latin typeface="Inter"/>
                <a:ea typeface="Inter"/>
                <a:cs typeface="Inter"/>
                <a:sym typeface="Inter"/>
              </a:rPr>
              <a:t>Apply Java OOP for maintainable software.</a:t>
            </a:r>
          </a:p>
          <a:p>
            <a:pPr algn="l" marL="462207" indent="-231104" lvl="1">
              <a:lnSpc>
                <a:spcPts val="3521"/>
              </a:lnSpc>
              <a:buAutoNum type="arabicPeriod" startAt="1"/>
            </a:pPr>
            <a:r>
              <a:rPr lang="en-US" sz="2551">
                <a:solidFill>
                  <a:srgbClr val="10201D"/>
                </a:solidFill>
                <a:latin typeface="Inter"/>
                <a:ea typeface="Inter"/>
                <a:cs typeface="Inter"/>
                <a:sym typeface="Inter"/>
              </a:rPr>
              <a:t>Validate operations and handle invalid requests.</a:t>
            </a:r>
          </a:p>
        </p:txBody>
      </p:sp>
    </p:spTree>
  </p:cSld>
  <p:clrMapOvr>
    <a:masterClrMapping/>
  </p:clrMapOvr>
</p:sld>
</file>

<file path=ppt/slides/slide4.xml><?xml version="1.0" encoding="utf-8"?>
<p:sld xmlns:p="http://schemas.openxmlformats.org/presentationml/2006/main" xmlns:a="http://schemas.openxmlformats.org/drawingml/2006/main">
  <p:cSld>
    <p:bg>
      <p:bgPr>
        <a:solidFill>
          <a:srgbClr val="F2F4ED"/>
        </a:solidFill>
      </p:bgPr>
    </p:bg>
    <p:spTree>
      <p:nvGrpSpPr>
        <p:cNvPr id="1" name=""/>
        <p:cNvGrpSpPr/>
        <p:nvPr/>
      </p:nvGrpSpPr>
      <p:grpSpPr>
        <a:xfrm>
          <a:off x="0" y="0"/>
          <a:ext cx="0" cy="0"/>
          <a:chOff x="0" y="0"/>
          <a:chExt cx="0" cy="0"/>
        </a:xfrm>
      </p:grpSpPr>
      <p:sp>
        <p:nvSpPr>
          <p:cNvPr name="TextBox 2" id="2"/>
          <p:cNvSpPr txBox="true"/>
          <p:nvPr/>
        </p:nvSpPr>
        <p:spPr>
          <a:xfrm rot="0">
            <a:off x="762581" y="461667"/>
            <a:ext cx="17539268" cy="269434"/>
          </a:xfrm>
          <a:prstGeom prst="rect">
            <a:avLst/>
          </a:prstGeom>
        </p:spPr>
        <p:txBody>
          <a:bodyPr anchor="t" rtlCol="false" tIns="0" lIns="0" bIns="0" rIns="0">
            <a:spAutoFit/>
          </a:bodyPr>
          <a:lstStyle/>
          <a:p>
            <a:pPr algn="l">
              <a:lnSpc>
                <a:spcPts val="2040"/>
              </a:lnSpc>
            </a:pPr>
            <a:r>
              <a:rPr lang="en-US" sz="1651" spc="90">
                <a:solidFill>
                  <a:srgbClr val="0A7C78"/>
                </a:solidFill>
                <a:latin typeface="IBM Plex Sans"/>
                <a:ea typeface="IBM Plex Sans"/>
                <a:cs typeface="IBM Plex Sans"/>
                <a:sym typeface="IBM Plex Sans"/>
              </a:rPr>
              <a:t>FUNCTIONAL SCOPE</a:t>
            </a:r>
          </a:p>
        </p:txBody>
      </p:sp>
      <p:sp>
        <p:nvSpPr>
          <p:cNvPr name="TextBox 3" id="3"/>
          <p:cNvSpPr txBox="true"/>
          <p:nvPr/>
        </p:nvSpPr>
        <p:spPr>
          <a:xfrm rot="0">
            <a:off x="762581" y="1900466"/>
            <a:ext cx="17539268" cy="494757"/>
          </a:xfrm>
          <a:prstGeom prst="rect">
            <a:avLst/>
          </a:prstGeom>
        </p:spPr>
        <p:txBody>
          <a:bodyPr anchor="t" rtlCol="false" tIns="0" lIns="0" bIns="0" rIns="0">
            <a:spAutoFit/>
          </a:bodyPr>
          <a:lstStyle/>
          <a:p>
            <a:pPr algn="l">
              <a:lnSpc>
                <a:spcPts val="3521"/>
              </a:lnSpc>
            </a:pPr>
            <a:r>
              <a:rPr lang="en-US" sz="2551">
                <a:solidFill>
                  <a:srgbClr val="10201D"/>
                </a:solidFill>
                <a:latin typeface="Inter"/>
                <a:ea typeface="Inter"/>
                <a:cs typeface="Inter"/>
                <a:sym typeface="Inter"/>
              </a:rPr>
              <a:t>Core modular capabilities designed for deterministic rental operations.</a:t>
            </a:r>
          </a:p>
        </p:txBody>
      </p:sp>
      <p:grpSp>
        <p:nvGrpSpPr>
          <p:cNvPr name="Group 4" id="4"/>
          <p:cNvGrpSpPr/>
          <p:nvPr/>
        </p:nvGrpSpPr>
        <p:grpSpPr>
          <a:xfrm rot="0">
            <a:off x="762581" y="2614279"/>
            <a:ext cx="2806341" cy="4585554"/>
            <a:chOff x="0" y="0"/>
            <a:chExt cx="3741788" cy="6114072"/>
          </a:xfrm>
        </p:grpSpPr>
        <p:sp>
          <p:nvSpPr>
            <p:cNvPr name="Freeform 5" id="5"/>
            <p:cNvSpPr/>
            <p:nvPr/>
          </p:nvSpPr>
          <p:spPr>
            <a:xfrm flipH="false" flipV="false" rot="0">
              <a:off x="0" y="0"/>
              <a:ext cx="3741801" cy="6114034"/>
            </a:xfrm>
            <a:custGeom>
              <a:avLst/>
              <a:gdLst/>
              <a:ahLst/>
              <a:cxnLst/>
              <a:rect r="r" b="b" t="t" l="l"/>
              <a:pathLst>
                <a:path h="6114034" w="3741801">
                  <a:moveTo>
                    <a:pt x="0" y="181483"/>
                  </a:moveTo>
                  <a:cubicBezTo>
                    <a:pt x="0" y="81280"/>
                    <a:pt x="81280" y="0"/>
                    <a:pt x="181483" y="0"/>
                  </a:cubicBezTo>
                  <a:lnTo>
                    <a:pt x="3560318" y="0"/>
                  </a:lnTo>
                  <a:cubicBezTo>
                    <a:pt x="3660521" y="0"/>
                    <a:pt x="3741801" y="81280"/>
                    <a:pt x="3741801" y="181483"/>
                  </a:cubicBezTo>
                  <a:lnTo>
                    <a:pt x="3741801" y="5932551"/>
                  </a:lnTo>
                  <a:cubicBezTo>
                    <a:pt x="3741801" y="6032754"/>
                    <a:pt x="3660521" y="6114034"/>
                    <a:pt x="3560318" y="6114034"/>
                  </a:cubicBezTo>
                  <a:lnTo>
                    <a:pt x="181483" y="6114034"/>
                  </a:lnTo>
                  <a:cubicBezTo>
                    <a:pt x="81280" y="6114034"/>
                    <a:pt x="0" y="6032881"/>
                    <a:pt x="0" y="5932551"/>
                  </a:cubicBezTo>
                  <a:close/>
                </a:path>
              </a:pathLst>
            </a:custGeom>
            <a:solidFill>
              <a:srgbClr val="E5E9DA"/>
            </a:solidFill>
          </p:spPr>
        </p:sp>
      </p:grpSp>
      <p:sp>
        <p:nvSpPr>
          <p:cNvPr name="TextBox 6" id="6"/>
          <p:cNvSpPr txBox="true"/>
          <p:nvPr/>
        </p:nvSpPr>
        <p:spPr>
          <a:xfrm rot="0">
            <a:off x="1105738" y="3005071"/>
            <a:ext cx="1265996" cy="276482"/>
          </a:xfrm>
          <a:prstGeom prst="rect">
            <a:avLst/>
          </a:prstGeom>
        </p:spPr>
        <p:txBody>
          <a:bodyPr anchor="t" rtlCol="false" tIns="0" lIns="0" bIns="0" rIns="0">
            <a:spAutoFit/>
          </a:bodyPr>
          <a:lstStyle/>
          <a:p>
            <a:pPr algn="l">
              <a:lnSpc>
                <a:spcPts val="2541"/>
              </a:lnSpc>
            </a:pPr>
            <a:r>
              <a:rPr lang="en-US" sz="2551">
                <a:solidFill>
                  <a:srgbClr val="083C35"/>
                </a:solidFill>
                <a:latin typeface="Inter"/>
                <a:ea typeface="Inter"/>
                <a:cs typeface="Inter"/>
                <a:sym typeface="Inter"/>
              </a:rPr>
              <a:t>01</a:t>
            </a:r>
          </a:p>
        </p:txBody>
      </p:sp>
      <p:grpSp>
        <p:nvGrpSpPr>
          <p:cNvPr name="Group 7" id="7"/>
          <p:cNvGrpSpPr/>
          <p:nvPr/>
        </p:nvGrpSpPr>
        <p:grpSpPr>
          <a:xfrm rot="0">
            <a:off x="1105738" y="3411131"/>
            <a:ext cx="2120027" cy="28594"/>
            <a:chOff x="0" y="0"/>
            <a:chExt cx="2826702" cy="38125"/>
          </a:xfrm>
        </p:grpSpPr>
        <p:sp>
          <p:nvSpPr>
            <p:cNvPr name="Freeform 8" id="8"/>
            <p:cNvSpPr/>
            <p:nvPr/>
          </p:nvSpPr>
          <p:spPr>
            <a:xfrm flipH="false" flipV="false" rot="0">
              <a:off x="0" y="0"/>
              <a:ext cx="2826639" cy="38100"/>
            </a:xfrm>
            <a:custGeom>
              <a:avLst/>
              <a:gdLst/>
              <a:ahLst/>
              <a:cxnLst/>
              <a:rect r="r" b="b" t="t" l="l"/>
              <a:pathLst>
                <a:path h="38100" w="2826639">
                  <a:moveTo>
                    <a:pt x="0" y="0"/>
                  </a:moveTo>
                  <a:lnTo>
                    <a:pt x="2826639" y="0"/>
                  </a:lnTo>
                  <a:lnTo>
                    <a:pt x="2826639" y="38100"/>
                  </a:lnTo>
                  <a:lnTo>
                    <a:pt x="0" y="38100"/>
                  </a:lnTo>
                  <a:close/>
                </a:path>
              </a:pathLst>
            </a:custGeom>
            <a:solidFill>
              <a:srgbClr val="083C35"/>
            </a:solidFill>
          </p:spPr>
        </p:sp>
      </p:grpSp>
      <p:grpSp>
        <p:nvGrpSpPr>
          <p:cNvPr name="Group 9" id="9"/>
          <p:cNvGrpSpPr/>
          <p:nvPr/>
        </p:nvGrpSpPr>
        <p:grpSpPr>
          <a:xfrm rot="0">
            <a:off x="1105738" y="3634092"/>
            <a:ext cx="1550327" cy="515645"/>
            <a:chOff x="0" y="0"/>
            <a:chExt cx="2067103" cy="687527"/>
          </a:xfrm>
        </p:grpSpPr>
        <p:sp>
          <p:nvSpPr>
            <p:cNvPr name="Freeform 10" id="10"/>
            <p:cNvSpPr/>
            <p:nvPr/>
          </p:nvSpPr>
          <p:spPr>
            <a:xfrm flipH="false" flipV="false" rot="0">
              <a:off x="0" y="0"/>
              <a:ext cx="2067052" cy="687451"/>
            </a:xfrm>
            <a:custGeom>
              <a:avLst/>
              <a:gdLst/>
              <a:ahLst/>
              <a:cxnLst/>
              <a:rect r="r" b="b" t="t" l="l"/>
              <a:pathLst>
                <a:path h="687451" w="2067052">
                  <a:moveTo>
                    <a:pt x="0" y="145161"/>
                  </a:moveTo>
                  <a:cubicBezTo>
                    <a:pt x="0" y="65024"/>
                    <a:pt x="65024" y="0"/>
                    <a:pt x="145161" y="0"/>
                  </a:cubicBezTo>
                  <a:lnTo>
                    <a:pt x="1921891" y="0"/>
                  </a:lnTo>
                  <a:cubicBezTo>
                    <a:pt x="2002028" y="0"/>
                    <a:pt x="2067052" y="65024"/>
                    <a:pt x="2067052" y="145161"/>
                  </a:cubicBezTo>
                  <a:lnTo>
                    <a:pt x="2067052" y="542290"/>
                  </a:lnTo>
                  <a:cubicBezTo>
                    <a:pt x="2067052" y="622427"/>
                    <a:pt x="2002028" y="687451"/>
                    <a:pt x="1921891" y="687451"/>
                  </a:cubicBezTo>
                  <a:lnTo>
                    <a:pt x="145161" y="687451"/>
                  </a:lnTo>
                  <a:cubicBezTo>
                    <a:pt x="65024" y="687578"/>
                    <a:pt x="0" y="622554"/>
                    <a:pt x="0" y="542290"/>
                  </a:cubicBezTo>
                  <a:close/>
                </a:path>
              </a:pathLst>
            </a:custGeom>
            <a:solidFill>
              <a:srgbClr val="D2F9F4"/>
            </a:solidFill>
          </p:spPr>
        </p:sp>
      </p:grpSp>
      <p:sp>
        <p:nvSpPr>
          <p:cNvPr name="TextBox 11" id="11"/>
          <p:cNvSpPr txBox="true"/>
          <p:nvPr/>
        </p:nvSpPr>
        <p:spPr>
          <a:xfrm rot="0">
            <a:off x="1300105" y="3731876"/>
            <a:ext cx="2076679" cy="340471"/>
          </a:xfrm>
          <a:prstGeom prst="rect">
            <a:avLst/>
          </a:prstGeom>
        </p:spPr>
        <p:txBody>
          <a:bodyPr anchor="t" rtlCol="false" tIns="0" lIns="0" bIns="0" rIns="0">
            <a:spAutoFit/>
          </a:bodyPr>
          <a:lstStyle/>
          <a:p>
            <a:pPr algn="l">
              <a:lnSpc>
                <a:spcPts val="2504"/>
              </a:lnSpc>
            </a:pPr>
            <a:r>
              <a:rPr lang="en-US" sz="2026" spc="21">
                <a:solidFill>
                  <a:srgbClr val="10201D"/>
                </a:solidFill>
                <a:latin typeface="IBM Plex Sans"/>
                <a:ea typeface="IBM Plex Sans"/>
                <a:cs typeface="IBM Plex Sans"/>
                <a:sym typeface="IBM Plex Sans"/>
              </a:rPr>
              <a:t>Proposed</a:t>
            </a:r>
          </a:p>
        </p:txBody>
      </p:sp>
      <p:sp>
        <p:nvSpPr>
          <p:cNvPr name="TextBox 12" id="12"/>
          <p:cNvSpPr txBox="true"/>
          <p:nvPr/>
        </p:nvSpPr>
        <p:spPr>
          <a:xfrm rot="0">
            <a:off x="1105738" y="4287412"/>
            <a:ext cx="2120027" cy="431168"/>
          </a:xfrm>
          <a:prstGeom prst="rect">
            <a:avLst/>
          </a:prstGeom>
        </p:spPr>
        <p:txBody>
          <a:bodyPr anchor="t" rtlCol="false" tIns="0" lIns="0" bIns="0" rIns="0">
            <a:spAutoFit/>
          </a:bodyPr>
          <a:lstStyle/>
          <a:p>
            <a:pPr algn="l">
              <a:lnSpc>
                <a:spcPts val="3170"/>
              </a:lnSpc>
            </a:pPr>
            <a:r>
              <a:rPr lang="en-US" sz="2401">
                <a:solidFill>
                  <a:srgbClr val="0D9488"/>
                </a:solidFill>
                <a:latin typeface="Inter"/>
                <a:ea typeface="Inter"/>
                <a:cs typeface="Inter"/>
                <a:sym typeface="Inter"/>
              </a:rPr>
              <a:t>Asset Listing</a:t>
            </a:r>
          </a:p>
        </p:txBody>
      </p:sp>
      <p:sp>
        <p:nvSpPr>
          <p:cNvPr name="TextBox 13" id="13"/>
          <p:cNvSpPr txBox="true"/>
          <p:nvPr/>
        </p:nvSpPr>
        <p:spPr>
          <a:xfrm rot="0">
            <a:off x="1105738" y="4944056"/>
            <a:ext cx="2120027" cy="774478"/>
          </a:xfrm>
          <a:prstGeom prst="rect">
            <a:avLst/>
          </a:prstGeom>
        </p:spPr>
        <p:txBody>
          <a:bodyPr anchor="t" rtlCol="false" tIns="0" lIns="0" bIns="0" rIns="0">
            <a:spAutoFit/>
          </a:bodyPr>
          <a:lstStyle/>
          <a:p>
            <a:pPr algn="l">
              <a:lnSpc>
                <a:spcPts val="2900"/>
              </a:lnSpc>
            </a:pPr>
            <a:r>
              <a:rPr lang="en-US" sz="2101">
                <a:solidFill>
                  <a:srgbClr val="10201D"/>
                </a:solidFill>
                <a:latin typeface="Inter"/>
                <a:ea typeface="Inter"/>
                <a:cs typeface="Inter"/>
                <a:sym typeface="Inter"/>
              </a:rPr>
              <a:t>Display rentable items.</a:t>
            </a:r>
          </a:p>
        </p:txBody>
      </p:sp>
      <p:grpSp>
        <p:nvGrpSpPr>
          <p:cNvPr name="Group 14" id="14"/>
          <p:cNvGrpSpPr/>
          <p:nvPr/>
        </p:nvGrpSpPr>
        <p:grpSpPr>
          <a:xfrm rot="0">
            <a:off x="4255094" y="2614279"/>
            <a:ext cx="2806494" cy="4585554"/>
            <a:chOff x="0" y="0"/>
            <a:chExt cx="3741992" cy="6114072"/>
          </a:xfrm>
        </p:grpSpPr>
        <p:sp>
          <p:nvSpPr>
            <p:cNvPr name="Freeform 15" id="15"/>
            <p:cNvSpPr/>
            <p:nvPr/>
          </p:nvSpPr>
          <p:spPr>
            <a:xfrm flipH="false" flipV="false" rot="0">
              <a:off x="0" y="0"/>
              <a:ext cx="3741928" cy="6114034"/>
            </a:xfrm>
            <a:custGeom>
              <a:avLst/>
              <a:gdLst/>
              <a:ahLst/>
              <a:cxnLst/>
              <a:rect r="r" b="b" t="t" l="l"/>
              <a:pathLst>
                <a:path h="6114034" w="3741928">
                  <a:moveTo>
                    <a:pt x="0" y="181483"/>
                  </a:moveTo>
                  <a:cubicBezTo>
                    <a:pt x="0" y="81280"/>
                    <a:pt x="81280" y="0"/>
                    <a:pt x="181483" y="0"/>
                  </a:cubicBezTo>
                  <a:lnTo>
                    <a:pt x="3560445" y="0"/>
                  </a:lnTo>
                  <a:cubicBezTo>
                    <a:pt x="3660648" y="0"/>
                    <a:pt x="3741928" y="81280"/>
                    <a:pt x="3741928" y="181483"/>
                  </a:cubicBezTo>
                  <a:lnTo>
                    <a:pt x="3741928" y="5932551"/>
                  </a:lnTo>
                  <a:cubicBezTo>
                    <a:pt x="3741928" y="6032754"/>
                    <a:pt x="3660648" y="6114034"/>
                    <a:pt x="3560445" y="6114034"/>
                  </a:cubicBezTo>
                  <a:lnTo>
                    <a:pt x="181483" y="6114034"/>
                  </a:lnTo>
                  <a:cubicBezTo>
                    <a:pt x="81280" y="6114034"/>
                    <a:pt x="0" y="6032881"/>
                    <a:pt x="0" y="5932551"/>
                  </a:cubicBezTo>
                  <a:close/>
                </a:path>
              </a:pathLst>
            </a:custGeom>
            <a:solidFill>
              <a:srgbClr val="E5E9DA"/>
            </a:solidFill>
          </p:spPr>
        </p:sp>
      </p:grpSp>
      <p:sp>
        <p:nvSpPr>
          <p:cNvPr name="TextBox 16" id="16"/>
          <p:cNvSpPr txBox="true"/>
          <p:nvPr/>
        </p:nvSpPr>
        <p:spPr>
          <a:xfrm rot="0">
            <a:off x="4598251" y="3005071"/>
            <a:ext cx="1330938" cy="276482"/>
          </a:xfrm>
          <a:prstGeom prst="rect">
            <a:avLst/>
          </a:prstGeom>
        </p:spPr>
        <p:txBody>
          <a:bodyPr anchor="t" rtlCol="false" tIns="0" lIns="0" bIns="0" rIns="0">
            <a:spAutoFit/>
          </a:bodyPr>
          <a:lstStyle/>
          <a:p>
            <a:pPr algn="l">
              <a:lnSpc>
                <a:spcPts val="2541"/>
              </a:lnSpc>
            </a:pPr>
            <a:r>
              <a:rPr lang="en-US" sz="2551">
                <a:solidFill>
                  <a:srgbClr val="083C35"/>
                </a:solidFill>
                <a:latin typeface="Inter"/>
                <a:ea typeface="Inter"/>
                <a:cs typeface="Inter"/>
                <a:sym typeface="Inter"/>
              </a:rPr>
              <a:t>02</a:t>
            </a:r>
          </a:p>
        </p:txBody>
      </p:sp>
      <p:grpSp>
        <p:nvGrpSpPr>
          <p:cNvPr name="Group 17" id="17"/>
          <p:cNvGrpSpPr/>
          <p:nvPr/>
        </p:nvGrpSpPr>
        <p:grpSpPr>
          <a:xfrm rot="0">
            <a:off x="4598251" y="3411131"/>
            <a:ext cx="2120027" cy="28594"/>
            <a:chOff x="0" y="0"/>
            <a:chExt cx="2826702" cy="38125"/>
          </a:xfrm>
        </p:grpSpPr>
        <p:sp>
          <p:nvSpPr>
            <p:cNvPr name="Freeform 18" id="18"/>
            <p:cNvSpPr/>
            <p:nvPr/>
          </p:nvSpPr>
          <p:spPr>
            <a:xfrm flipH="false" flipV="false" rot="0">
              <a:off x="0" y="0"/>
              <a:ext cx="2826639" cy="38100"/>
            </a:xfrm>
            <a:custGeom>
              <a:avLst/>
              <a:gdLst/>
              <a:ahLst/>
              <a:cxnLst/>
              <a:rect r="r" b="b" t="t" l="l"/>
              <a:pathLst>
                <a:path h="38100" w="2826639">
                  <a:moveTo>
                    <a:pt x="0" y="0"/>
                  </a:moveTo>
                  <a:lnTo>
                    <a:pt x="2826639" y="0"/>
                  </a:lnTo>
                  <a:lnTo>
                    <a:pt x="2826639" y="38100"/>
                  </a:lnTo>
                  <a:lnTo>
                    <a:pt x="0" y="38100"/>
                  </a:lnTo>
                  <a:close/>
                </a:path>
              </a:pathLst>
            </a:custGeom>
            <a:solidFill>
              <a:srgbClr val="083C35"/>
            </a:solidFill>
          </p:spPr>
        </p:sp>
      </p:grpSp>
      <p:grpSp>
        <p:nvGrpSpPr>
          <p:cNvPr name="Group 19" id="19"/>
          <p:cNvGrpSpPr/>
          <p:nvPr/>
        </p:nvGrpSpPr>
        <p:grpSpPr>
          <a:xfrm rot="0">
            <a:off x="4598251" y="3634092"/>
            <a:ext cx="1550327" cy="515645"/>
            <a:chOff x="0" y="0"/>
            <a:chExt cx="2067103" cy="687527"/>
          </a:xfrm>
        </p:grpSpPr>
        <p:sp>
          <p:nvSpPr>
            <p:cNvPr name="Freeform 20" id="20"/>
            <p:cNvSpPr/>
            <p:nvPr/>
          </p:nvSpPr>
          <p:spPr>
            <a:xfrm flipH="false" flipV="false" rot="0">
              <a:off x="0" y="0"/>
              <a:ext cx="2067052" cy="687451"/>
            </a:xfrm>
            <a:custGeom>
              <a:avLst/>
              <a:gdLst/>
              <a:ahLst/>
              <a:cxnLst/>
              <a:rect r="r" b="b" t="t" l="l"/>
              <a:pathLst>
                <a:path h="687451" w="2067052">
                  <a:moveTo>
                    <a:pt x="0" y="145161"/>
                  </a:moveTo>
                  <a:cubicBezTo>
                    <a:pt x="0" y="65024"/>
                    <a:pt x="65024" y="0"/>
                    <a:pt x="145161" y="0"/>
                  </a:cubicBezTo>
                  <a:lnTo>
                    <a:pt x="1921891" y="0"/>
                  </a:lnTo>
                  <a:cubicBezTo>
                    <a:pt x="2002028" y="0"/>
                    <a:pt x="2067052" y="65024"/>
                    <a:pt x="2067052" y="145161"/>
                  </a:cubicBezTo>
                  <a:lnTo>
                    <a:pt x="2067052" y="542290"/>
                  </a:lnTo>
                  <a:cubicBezTo>
                    <a:pt x="2067052" y="622427"/>
                    <a:pt x="2002028" y="687451"/>
                    <a:pt x="1921891" y="687451"/>
                  </a:cubicBezTo>
                  <a:lnTo>
                    <a:pt x="145161" y="687451"/>
                  </a:lnTo>
                  <a:cubicBezTo>
                    <a:pt x="65024" y="687578"/>
                    <a:pt x="0" y="622554"/>
                    <a:pt x="0" y="542290"/>
                  </a:cubicBezTo>
                  <a:close/>
                </a:path>
              </a:pathLst>
            </a:custGeom>
            <a:solidFill>
              <a:srgbClr val="D2F9F4"/>
            </a:solidFill>
          </p:spPr>
        </p:sp>
      </p:grpSp>
      <p:sp>
        <p:nvSpPr>
          <p:cNvPr name="TextBox 21" id="21"/>
          <p:cNvSpPr txBox="true"/>
          <p:nvPr/>
        </p:nvSpPr>
        <p:spPr>
          <a:xfrm rot="0">
            <a:off x="4792618" y="3731876"/>
            <a:ext cx="2076679" cy="340471"/>
          </a:xfrm>
          <a:prstGeom prst="rect">
            <a:avLst/>
          </a:prstGeom>
        </p:spPr>
        <p:txBody>
          <a:bodyPr anchor="t" rtlCol="false" tIns="0" lIns="0" bIns="0" rIns="0">
            <a:spAutoFit/>
          </a:bodyPr>
          <a:lstStyle/>
          <a:p>
            <a:pPr algn="l">
              <a:lnSpc>
                <a:spcPts val="2504"/>
              </a:lnSpc>
            </a:pPr>
            <a:r>
              <a:rPr lang="en-US" sz="2026" spc="21">
                <a:solidFill>
                  <a:srgbClr val="10201D"/>
                </a:solidFill>
                <a:latin typeface="IBM Plex Sans"/>
                <a:ea typeface="IBM Plex Sans"/>
                <a:cs typeface="IBM Plex Sans"/>
                <a:sym typeface="IBM Plex Sans"/>
              </a:rPr>
              <a:t>Proposed</a:t>
            </a:r>
          </a:p>
        </p:txBody>
      </p:sp>
      <p:sp>
        <p:nvSpPr>
          <p:cNvPr name="TextBox 22" id="22"/>
          <p:cNvSpPr txBox="true"/>
          <p:nvPr/>
        </p:nvSpPr>
        <p:spPr>
          <a:xfrm rot="0">
            <a:off x="4598251" y="4287412"/>
            <a:ext cx="2120170" cy="833771"/>
          </a:xfrm>
          <a:prstGeom prst="rect">
            <a:avLst/>
          </a:prstGeom>
        </p:spPr>
        <p:txBody>
          <a:bodyPr anchor="t" rtlCol="false" tIns="0" lIns="0" bIns="0" rIns="0">
            <a:spAutoFit/>
          </a:bodyPr>
          <a:lstStyle/>
          <a:p>
            <a:pPr algn="l">
              <a:lnSpc>
                <a:spcPts val="3170"/>
              </a:lnSpc>
            </a:pPr>
            <a:r>
              <a:rPr lang="en-US" sz="2401">
                <a:solidFill>
                  <a:srgbClr val="0D9488"/>
                </a:solidFill>
                <a:latin typeface="Inter"/>
                <a:ea typeface="Inter"/>
                <a:cs typeface="Inter"/>
                <a:sym typeface="Inter"/>
              </a:rPr>
              <a:t>Availability Management</a:t>
            </a:r>
          </a:p>
        </p:txBody>
      </p:sp>
      <p:sp>
        <p:nvSpPr>
          <p:cNvPr name="TextBox 23" id="23"/>
          <p:cNvSpPr txBox="true"/>
          <p:nvPr/>
        </p:nvSpPr>
        <p:spPr>
          <a:xfrm rot="0">
            <a:off x="4598251" y="5346659"/>
            <a:ext cx="2120170" cy="1142676"/>
          </a:xfrm>
          <a:prstGeom prst="rect">
            <a:avLst/>
          </a:prstGeom>
        </p:spPr>
        <p:txBody>
          <a:bodyPr anchor="t" rtlCol="false" tIns="0" lIns="0" bIns="0" rIns="0">
            <a:spAutoFit/>
          </a:bodyPr>
          <a:lstStyle/>
          <a:p>
            <a:pPr algn="l">
              <a:lnSpc>
                <a:spcPts val="2900"/>
              </a:lnSpc>
            </a:pPr>
            <a:r>
              <a:rPr lang="en-US" sz="2101">
                <a:solidFill>
                  <a:srgbClr val="10201D"/>
                </a:solidFill>
                <a:latin typeface="Inter"/>
                <a:ea typeface="Inter"/>
                <a:cs typeface="Inter"/>
                <a:sym typeface="Inter"/>
              </a:rPr>
              <a:t>Check whether an asset can be reserved.</a:t>
            </a:r>
          </a:p>
        </p:txBody>
      </p:sp>
      <p:grpSp>
        <p:nvGrpSpPr>
          <p:cNvPr name="Group 24" id="24"/>
          <p:cNvGrpSpPr/>
          <p:nvPr/>
        </p:nvGrpSpPr>
        <p:grpSpPr>
          <a:xfrm rot="0">
            <a:off x="7747749" y="2614279"/>
            <a:ext cx="2806341" cy="4585554"/>
            <a:chOff x="0" y="0"/>
            <a:chExt cx="3741788" cy="6114072"/>
          </a:xfrm>
        </p:grpSpPr>
        <p:sp>
          <p:nvSpPr>
            <p:cNvPr name="Freeform 25" id="25"/>
            <p:cNvSpPr/>
            <p:nvPr/>
          </p:nvSpPr>
          <p:spPr>
            <a:xfrm flipH="false" flipV="false" rot="0">
              <a:off x="0" y="0"/>
              <a:ext cx="3741801" cy="6114034"/>
            </a:xfrm>
            <a:custGeom>
              <a:avLst/>
              <a:gdLst/>
              <a:ahLst/>
              <a:cxnLst/>
              <a:rect r="r" b="b" t="t" l="l"/>
              <a:pathLst>
                <a:path h="6114034" w="3741801">
                  <a:moveTo>
                    <a:pt x="0" y="181483"/>
                  </a:moveTo>
                  <a:cubicBezTo>
                    <a:pt x="0" y="81280"/>
                    <a:pt x="81280" y="0"/>
                    <a:pt x="181483" y="0"/>
                  </a:cubicBezTo>
                  <a:lnTo>
                    <a:pt x="3560318" y="0"/>
                  </a:lnTo>
                  <a:cubicBezTo>
                    <a:pt x="3660521" y="0"/>
                    <a:pt x="3741801" y="81280"/>
                    <a:pt x="3741801" y="181483"/>
                  </a:cubicBezTo>
                  <a:lnTo>
                    <a:pt x="3741801" y="5932551"/>
                  </a:lnTo>
                  <a:cubicBezTo>
                    <a:pt x="3741801" y="6032754"/>
                    <a:pt x="3660521" y="6114034"/>
                    <a:pt x="3560318" y="6114034"/>
                  </a:cubicBezTo>
                  <a:lnTo>
                    <a:pt x="181483" y="6114034"/>
                  </a:lnTo>
                  <a:cubicBezTo>
                    <a:pt x="81280" y="6114034"/>
                    <a:pt x="0" y="6032881"/>
                    <a:pt x="0" y="5932551"/>
                  </a:cubicBezTo>
                  <a:close/>
                </a:path>
              </a:pathLst>
            </a:custGeom>
            <a:solidFill>
              <a:srgbClr val="E5E9DA"/>
            </a:solidFill>
          </p:spPr>
        </p:sp>
      </p:grpSp>
      <p:sp>
        <p:nvSpPr>
          <p:cNvPr name="TextBox 26" id="26"/>
          <p:cNvSpPr txBox="true"/>
          <p:nvPr/>
        </p:nvSpPr>
        <p:spPr>
          <a:xfrm rot="0">
            <a:off x="8090906" y="3005071"/>
            <a:ext cx="1335110" cy="276482"/>
          </a:xfrm>
          <a:prstGeom prst="rect">
            <a:avLst/>
          </a:prstGeom>
        </p:spPr>
        <p:txBody>
          <a:bodyPr anchor="t" rtlCol="false" tIns="0" lIns="0" bIns="0" rIns="0">
            <a:spAutoFit/>
          </a:bodyPr>
          <a:lstStyle/>
          <a:p>
            <a:pPr algn="l">
              <a:lnSpc>
                <a:spcPts val="2541"/>
              </a:lnSpc>
            </a:pPr>
            <a:r>
              <a:rPr lang="en-US" sz="2551">
                <a:solidFill>
                  <a:srgbClr val="083C35"/>
                </a:solidFill>
                <a:latin typeface="Inter"/>
                <a:ea typeface="Inter"/>
                <a:cs typeface="Inter"/>
                <a:sym typeface="Inter"/>
              </a:rPr>
              <a:t>03</a:t>
            </a:r>
          </a:p>
        </p:txBody>
      </p:sp>
      <p:grpSp>
        <p:nvGrpSpPr>
          <p:cNvPr name="Group 27" id="27"/>
          <p:cNvGrpSpPr/>
          <p:nvPr/>
        </p:nvGrpSpPr>
        <p:grpSpPr>
          <a:xfrm rot="0">
            <a:off x="8090906" y="3411131"/>
            <a:ext cx="2120027" cy="28594"/>
            <a:chOff x="0" y="0"/>
            <a:chExt cx="2826702" cy="38125"/>
          </a:xfrm>
        </p:grpSpPr>
        <p:sp>
          <p:nvSpPr>
            <p:cNvPr name="Freeform 28" id="28"/>
            <p:cNvSpPr/>
            <p:nvPr/>
          </p:nvSpPr>
          <p:spPr>
            <a:xfrm flipH="false" flipV="false" rot="0">
              <a:off x="0" y="0"/>
              <a:ext cx="2826639" cy="38100"/>
            </a:xfrm>
            <a:custGeom>
              <a:avLst/>
              <a:gdLst/>
              <a:ahLst/>
              <a:cxnLst/>
              <a:rect r="r" b="b" t="t" l="l"/>
              <a:pathLst>
                <a:path h="38100" w="2826639">
                  <a:moveTo>
                    <a:pt x="0" y="0"/>
                  </a:moveTo>
                  <a:lnTo>
                    <a:pt x="2826639" y="0"/>
                  </a:lnTo>
                  <a:lnTo>
                    <a:pt x="2826639" y="38100"/>
                  </a:lnTo>
                  <a:lnTo>
                    <a:pt x="0" y="38100"/>
                  </a:lnTo>
                  <a:close/>
                </a:path>
              </a:pathLst>
            </a:custGeom>
            <a:solidFill>
              <a:srgbClr val="083C35"/>
            </a:solidFill>
          </p:spPr>
        </p:sp>
      </p:grpSp>
      <p:grpSp>
        <p:nvGrpSpPr>
          <p:cNvPr name="Group 29" id="29"/>
          <p:cNvGrpSpPr/>
          <p:nvPr/>
        </p:nvGrpSpPr>
        <p:grpSpPr>
          <a:xfrm rot="0">
            <a:off x="8090906" y="3634092"/>
            <a:ext cx="1550327" cy="515645"/>
            <a:chOff x="0" y="0"/>
            <a:chExt cx="2067103" cy="687527"/>
          </a:xfrm>
        </p:grpSpPr>
        <p:sp>
          <p:nvSpPr>
            <p:cNvPr name="Freeform 30" id="30"/>
            <p:cNvSpPr/>
            <p:nvPr/>
          </p:nvSpPr>
          <p:spPr>
            <a:xfrm flipH="false" flipV="false" rot="0">
              <a:off x="0" y="0"/>
              <a:ext cx="2067052" cy="687451"/>
            </a:xfrm>
            <a:custGeom>
              <a:avLst/>
              <a:gdLst/>
              <a:ahLst/>
              <a:cxnLst/>
              <a:rect r="r" b="b" t="t" l="l"/>
              <a:pathLst>
                <a:path h="687451" w="2067052">
                  <a:moveTo>
                    <a:pt x="0" y="145161"/>
                  </a:moveTo>
                  <a:cubicBezTo>
                    <a:pt x="0" y="65024"/>
                    <a:pt x="65024" y="0"/>
                    <a:pt x="145161" y="0"/>
                  </a:cubicBezTo>
                  <a:lnTo>
                    <a:pt x="1921891" y="0"/>
                  </a:lnTo>
                  <a:cubicBezTo>
                    <a:pt x="2002028" y="0"/>
                    <a:pt x="2067052" y="65024"/>
                    <a:pt x="2067052" y="145161"/>
                  </a:cubicBezTo>
                  <a:lnTo>
                    <a:pt x="2067052" y="542290"/>
                  </a:lnTo>
                  <a:cubicBezTo>
                    <a:pt x="2067052" y="622427"/>
                    <a:pt x="2002028" y="687451"/>
                    <a:pt x="1921891" y="687451"/>
                  </a:cubicBezTo>
                  <a:lnTo>
                    <a:pt x="145161" y="687451"/>
                  </a:lnTo>
                  <a:cubicBezTo>
                    <a:pt x="65024" y="687578"/>
                    <a:pt x="0" y="622554"/>
                    <a:pt x="0" y="542290"/>
                  </a:cubicBezTo>
                  <a:close/>
                </a:path>
              </a:pathLst>
            </a:custGeom>
            <a:solidFill>
              <a:srgbClr val="D2F9F4"/>
            </a:solidFill>
          </p:spPr>
        </p:sp>
      </p:grpSp>
      <p:sp>
        <p:nvSpPr>
          <p:cNvPr name="TextBox 31" id="31"/>
          <p:cNvSpPr txBox="true"/>
          <p:nvPr/>
        </p:nvSpPr>
        <p:spPr>
          <a:xfrm rot="0">
            <a:off x="8285274" y="3731876"/>
            <a:ext cx="2076679" cy="340471"/>
          </a:xfrm>
          <a:prstGeom prst="rect">
            <a:avLst/>
          </a:prstGeom>
        </p:spPr>
        <p:txBody>
          <a:bodyPr anchor="t" rtlCol="false" tIns="0" lIns="0" bIns="0" rIns="0">
            <a:spAutoFit/>
          </a:bodyPr>
          <a:lstStyle/>
          <a:p>
            <a:pPr algn="l">
              <a:lnSpc>
                <a:spcPts val="2504"/>
              </a:lnSpc>
            </a:pPr>
            <a:r>
              <a:rPr lang="en-US" sz="2026" spc="21">
                <a:solidFill>
                  <a:srgbClr val="10201D"/>
                </a:solidFill>
                <a:latin typeface="IBM Plex Sans"/>
                <a:ea typeface="IBM Plex Sans"/>
                <a:cs typeface="IBM Plex Sans"/>
                <a:sym typeface="IBM Plex Sans"/>
              </a:rPr>
              <a:t>Proposed</a:t>
            </a:r>
          </a:p>
        </p:txBody>
      </p:sp>
      <p:sp>
        <p:nvSpPr>
          <p:cNvPr name="TextBox 32" id="32"/>
          <p:cNvSpPr txBox="true"/>
          <p:nvPr/>
        </p:nvSpPr>
        <p:spPr>
          <a:xfrm rot="0">
            <a:off x="8090906" y="4287412"/>
            <a:ext cx="2120027" cy="833771"/>
          </a:xfrm>
          <a:prstGeom prst="rect">
            <a:avLst/>
          </a:prstGeom>
        </p:spPr>
        <p:txBody>
          <a:bodyPr anchor="t" rtlCol="false" tIns="0" lIns="0" bIns="0" rIns="0">
            <a:spAutoFit/>
          </a:bodyPr>
          <a:lstStyle/>
          <a:p>
            <a:pPr algn="l">
              <a:lnSpc>
                <a:spcPts val="3170"/>
              </a:lnSpc>
            </a:pPr>
            <a:r>
              <a:rPr lang="en-US" sz="2401">
                <a:solidFill>
                  <a:srgbClr val="0D9488"/>
                </a:solidFill>
                <a:latin typeface="Inter"/>
                <a:ea typeface="Inter"/>
                <a:cs typeface="Inter"/>
                <a:sym typeface="Inter"/>
              </a:rPr>
              <a:t>Reservation Management</a:t>
            </a:r>
          </a:p>
        </p:txBody>
      </p:sp>
      <p:sp>
        <p:nvSpPr>
          <p:cNvPr name="TextBox 33" id="33"/>
          <p:cNvSpPr txBox="true"/>
          <p:nvPr/>
        </p:nvSpPr>
        <p:spPr>
          <a:xfrm rot="0">
            <a:off x="8090906" y="5346659"/>
            <a:ext cx="2120027" cy="1142676"/>
          </a:xfrm>
          <a:prstGeom prst="rect">
            <a:avLst/>
          </a:prstGeom>
        </p:spPr>
        <p:txBody>
          <a:bodyPr anchor="t" rtlCol="false" tIns="0" lIns="0" bIns="0" rIns="0">
            <a:spAutoFit/>
          </a:bodyPr>
          <a:lstStyle/>
          <a:p>
            <a:pPr algn="l">
              <a:lnSpc>
                <a:spcPts val="2900"/>
              </a:lnSpc>
            </a:pPr>
            <a:r>
              <a:rPr lang="en-US" sz="2101">
                <a:solidFill>
                  <a:srgbClr val="10201D"/>
                </a:solidFill>
                <a:latin typeface="Inter"/>
                <a:ea typeface="Inter"/>
                <a:cs typeface="Inter"/>
                <a:sym typeface="Inter"/>
              </a:rPr>
              <a:t>Handle requests for available assets.</a:t>
            </a:r>
          </a:p>
        </p:txBody>
      </p:sp>
      <p:grpSp>
        <p:nvGrpSpPr>
          <p:cNvPr name="Group 34" id="34"/>
          <p:cNvGrpSpPr/>
          <p:nvPr/>
        </p:nvGrpSpPr>
        <p:grpSpPr>
          <a:xfrm rot="0">
            <a:off x="11240262" y="2614279"/>
            <a:ext cx="2806494" cy="4585554"/>
            <a:chOff x="0" y="0"/>
            <a:chExt cx="3741992" cy="6114072"/>
          </a:xfrm>
        </p:grpSpPr>
        <p:sp>
          <p:nvSpPr>
            <p:cNvPr name="Freeform 35" id="35"/>
            <p:cNvSpPr/>
            <p:nvPr/>
          </p:nvSpPr>
          <p:spPr>
            <a:xfrm flipH="false" flipV="false" rot="0">
              <a:off x="0" y="0"/>
              <a:ext cx="3741928" cy="6114034"/>
            </a:xfrm>
            <a:custGeom>
              <a:avLst/>
              <a:gdLst/>
              <a:ahLst/>
              <a:cxnLst/>
              <a:rect r="r" b="b" t="t" l="l"/>
              <a:pathLst>
                <a:path h="6114034" w="3741928">
                  <a:moveTo>
                    <a:pt x="0" y="181483"/>
                  </a:moveTo>
                  <a:cubicBezTo>
                    <a:pt x="0" y="81280"/>
                    <a:pt x="81280" y="0"/>
                    <a:pt x="181483" y="0"/>
                  </a:cubicBezTo>
                  <a:lnTo>
                    <a:pt x="3560445" y="0"/>
                  </a:lnTo>
                  <a:cubicBezTo>
                    <a:pt x="3660648" y="0"/>
                    <a:pt x="3741928" y="81280"/>
                    <a:pt x="3741928" y="181483"/>
                  </a:cubicBezTo>
                  <a:lnTo>
                    <a:pt x="3741928" y="5932551"/>
                  </a:lnTo>
                  <a:cubicBezTo>
                    <a:pt x="3741928" y="6032754"/>
                    <a:pt x="3660648" y="6114034"/>
                    <a:pt x="3560445" y="6114034"/>
                  </a:cubicBezTo>
                  <a:lnTo>
                    <a:pt x="181483" y="6114034"/>
                  </a:lnTo>
                  <a:cubicBezTo>
                    <a:pt x="81280" y="6114034"/>
                    <a:pt x="0" y="6032881"/>
                    <a:pt x="0" y="5932551"/>
                  </a:cubicBezTo>
                  <a:close/>
                </a:path>
              </a:pathLst>
            </a:custGeom>
            <a:solidFill>
              <a:srgbClr val="E5E9DA"/>
            </a:solidFill>
          </p:spPr>
        </p:sp>
      </p:grpSp>
      <p:sp>
        <p:nvSpPr>
          <p:cNvPr name="TextBox 36" id="36"/>
          <p:cNvSpPr txBox="true"/>
          <p:nvPr/>
        </p:nvSpPr>
        <p:spPr>
          <a:xfrm rot="0">
            <a:off x="11583419" y="3005071"/>
            <a:ext cx="1344787" cy="276482"/>
          </a:xfrm>
          <a:prstGeom prst="rect">
            <a:avLst/>
          </a:prstGeom>
        </p:spPr>
        <p:txBody>
          <a:bodyPr anchor="t" rtlCol="false" tIns="0" lIns="0" bIns="0" rIns="0">
            <a:spAutoFit/>
          </a:bodyPr>
          <a:lstStyle/>
          <a:p>
            <a:pPr algn="l">
              <a:lnSpc>
                <a:spcPts val="2541"/>
              </a:lnSpc>
            </a:pPr>
            <a:r>
              <a:rPr lang="en-US" sz="2551">
                <a:solidFill>
                  <a:srgbClr val="083C35"/>
                </a:solidFill>
                <a:latin typeface="Inter"/>
                <a:ea typeface="Inter"/>
                <a:cs typeface="Inter"/>
                <a:sym typeface="Inter"/>
              </a:rPr>
              <a:t>04</a:t>
            </a:r>
          </a:p>
        </p:txBody>
      </p:sp>
      <p:grpSp>
        <p:nvGrpSpPr>
          <p:cNvPr name="Group 37" id="37"/>
          <p:cNvGrpSpPr/>
          <p:nvPr/>
        </p:nvGrpSpPr>
        <p:grpSpPr>
          <a:xfrm rot="0">
            <a:off x="11583419" y="3411131"/>
            <a:ext cx="2120027" cy="28594"/>
            <a:chOff x="0" y="0"/>
            <a:chExt cx="2826702" cy="38125"/>
          </a:xfrm>
        </p:grpSpPr>
        <p:sp>
          <p:nvSpPr>
            <p:cNvPr name="Freeform 38" id="38"/>
            <p:cNvSpPr/>
            <p:nvPr/>
          </p:nvSpPr>
          <p:spPr>
            <a:xfrm flipH="false" flipV="false" rot="0">
              <a:off x="0" y="0"/>
              <a:ext cx="2826639" cy="38100"/>
            </a:xfrm>
            <a:custGeom>
              <a:avLst/>
              <a:gdLst/>
              <a:ahLst/>
              <a:cxnLst/>
              <a:rect r="r" b="b" t="t" l="l"/>
              <a:pathLst>
                <a:path h="38100" w="2826639">
                  <a:moveTo>
                    <a:pt x="0" y="0"/>
                  </a:moveTo>
                  <a:lnTo>
                    <a:pt x="2826639" y="0"/>
                  </a:lnTo>
                  <a:lnTo>
                    <a:pt x="2826639" y="38100"/>
                  </a:lnTo>
                  <a:lnTo>
                    <a:pt x="0" y="38100"/>
                  </a:lnTo>
                  <a:close/>
                </a:path>
              </a:pathLst>
            </a:custGeom>
            <a:solidFill>
              <a:srgbClr val="083C35"/>
            </a:solidFill>
          </p:spPr>
        </p:sp>
      </p:grpSp>
      <p:grpSp>
        <p:nvGrpSpPr>
          <p:cNvPr name="Group 39" id="39"/>
          <p:cNvGrpSpPr/>
          <p:nvPr/>
        </p:nvGrpSpPr>
        <p:grpSpPr>
          <a:xfrm rot="0">
            <a:off x="11583419" y="3634092"/>
            <a:ext cx="1550327" cy="515645"/>
            <a:chOff x="0" y="0"/>
            <a:chExt cx="2067103" cy="687527"/>
          </a:xfrm>
        </p:grpSpPr>
        <p:sp>
          <p:nvSpPr>
            <p:cNvPr name="Freeform 40" id="40"/>
            <p:cNvSpPr/>
            <p:nvPr/>
          </p:nvSpPr>
          <p:spPr>
            <a:xfrm flipH="false" flipV="false" rot="0">
              <a:off x="0" y="0"/>
              <a:ext cx="2067052" cy="687451"/>
            </a:xfrm>
            <a:custGeom>
              <a:avLst/>
              <a:gdLst/>
              <a:ahLst/>
              <a:cxnLst/>
              <a:rect r="r" b="b" t="t" l="l"/>
              <a:pathLst>
                <a:path h="687451" w="2067052">
                  <a:moveTo>
                    <a:pt x="0" y="145161"/>
                  </a:moveTo>
                  <a:cubicBezTo>
                    <a:pt x="0" y="65024"/>
                    <a:pt x="65024" y="0"/>
                    <a:pt x="145161" y="0"/>
                  </a:cubicBezTo>
                  <a:lnTo>
                    <a:pt x="1921891" y="0"/>
                  </a:lnTo>
                  <a:cubicBezTo>
                    <a:pt x="2002028" y="0"/>
                    <a:pt x="2067052" y="65024"/>
                    <a:pt x="2067052" y="145161"/>
                  </a:cubicBezTo>
                  <a:lnTo>
                    <a:pt x="2067052" y="542290"/>
                  </a:lnTo>
                  <a:cubicBezTo>
                    <a:pt x="2067052" y="622427"/>
                    <a:pt x="2002028" y="687451"/>
                    <a:pt x="1921891" y="687451"/>
                  </a:cubicBezTo>
                  <a:lnTo>
                    <a:pt x="145161" y="687451"/>
                  </a:lnTo>
                  <a:cubicBezTo>
                    <a:pt x="65024" y="687578"/>
                    <a:pt x="0" y="622554"/>
                    <a:pt x="0" y="542290"/>
                  </a:cubicBezTo>
                  <a:close/>
                </a:path>
              </a:pathLst>
            </a:custGeom>
            <a:solidFill>
              <a:srgbClr val="D2F9F4"/>
            </a:solidFill>
          </p:spPr>
        </p:sp>
      </p:grpSp>
      <p:sp>
        <p:nvSpPr>
          <p:cNvPr name="TextBox 41" id="41"/>
          <p:cNvSpPr txBox="true"/>
          <p:nvPr/>
        </p:nvSpPr>
        <p:spPr>
          <a:xfrm rot="0">
            <a:off x="11777786" y="3731876"/>
            <a:ext cx="2076679" cy="340471"/>
          </a:xfrm>
          <a:prstGeom prst="rect">
            <a:avLst/>
          </a:prstGeom>
        </p:spPr>
        <p:txBody>
          <a:bodyPr anchor="t" rtlCol="false" tIns="0" lIns="0" bIns="0" rIns="0">
            <a:spAutoFit/>
          </a:bodyPr>
          <a:lstStyle/>
          <a:p>
            <a:pPr algn="l">
              <a:lnSpc>
                <a:spcPts val="2504"/>
              </a:lnSpc>
            </a:pPr>
            <a:r>
              <a:rPr lang="en-US" sz="2026" spc="21">
                <a:solidFill>
                  <a:srgbClr val="10201D"/>
                </a:solidFill>
                <a:latin typeface="IBM Plex Sans"/>
                <a:ea typeface="IBM Plex Sans"/>
                <a:cs typeface="IBM Plex Sans"/>
                <a:sym typeface="IBM Plex Sans"/>
              </a:rPr>
              <a:t>Proposed</a:t>
            </a:r>
          </a:p>
        </p:txBody>
      </p:sp>
      <p:sp>
        <p:nvSpPr>
          <p:cNvPr name="TextBox 42" id="42"/>
          <p:cNvSpPr txBox="true"/>
          <p:nvPr/>
        </p:nvSpPr>
        <p:spPr>
          <a:xfrm rot="0">
            <a:off x="11583419" y="4287412"/>
            <a:ext cx="2120170" cy="833771"/>
          </a:xfrm>
          <a:prstGeom prst="rect">
            <a:avLst/>
          </a:prstGeom>
        </p:spPr>
        <p:txBody>
          <a:bodyPr anchor="t" rtlCol="false" tIns="0" lIns="0" bIns="0" rIns="0">
            <a:spAutoFit/>
          </a:bodyPr>
          <a:lstStyle/>
          <a:p>
            <a:pPr algn="l">
              <a:lnSpc>
                <a:spcPts val="3170"/>
              </a:lnSpc>
            </a:pPr>
            <a:r>
              <a:rPr lang="en-US" sz="2401">
                <a:solidFill>
                  <a:srgbClr val="0D9488"/>
                </a:solidFill>
                <a:latin typeface="Inter"/>
                <a:ea typeface="Inter"/>
                <a:cs typeface="Inter"/>
                <a:sym typeface="Inter"/>
              </a:rPr>
              <a:t>Rental Lifecycle</a:t>
            </a:r>
          </a:p>
        </p:txBody>
      </p:sp>
      <p:sp>
        <p:nvSpPr>
          <p:cNvPr name="TextBox 43" id="43"/>
          <p:cNvSpPr txBox="true"/>
          <p:nvPr/>
        </p:nvSpPr>
        <p:spPr>
          <a:xfrm rot="0">
            <a:off x="11583419" y="5346659"/>
            <a:ext cx="2120170" cy="1510865"/>
          </a:xfrm>
          <a:prstGeom prst="rect">
            <a:avLst/>
          </a:prstGeom>
        </p:spPr>
        <p:txBody>
          <a:bodyPr anchor="t" rtlCol="false" tIns="0" lIns="0" bIns="0" rIns="0">
            <a:spAutoFit/>
          </a:bodyPr>
          <a:lstStyle/>
          <a:p>
            <a:pPr algn="l">
              <a:lnSpc>
                <a:spcPts val="2900"/>
              </a:lnSpc>
            </a:pPr>
            <a:r>
              <a:rPr lang="en-US" sz="2101">
                <a:solidFill>
                  <a:srgbClr val="10201D"/>
                </a:solidFill>
                <a:latin typeface="Inter"/>
                <a:ea typeface="Inter"/>
                <a:cs typeface="Inter"/>
                <a:sym typeface="Inter"/>
              </a:rPr>
              <a:t>Reservation, active lease, return, and inspection.</a:t>
            </a:r>
          </a:p>
        </p:txBody>
      </p:sp>
      <p:grpSp>
        <p:nvGrpSpPr>
          <p:cNvPr name="Group 44" id="44"/>
          <p:cNvGrpSpPr/>
          <p:nvPr/>
        </p:nvGrpSpPr>
        <p:grpSpPr>
          <a:xfrm rot="0">
            <a:off x="14732927" y="2614279"/>
            <a:ext cx="2806341" cy="4585554"/>
            <a:chOff x="0" y="0"/>
            <a:chExt cx="3741788" cy="6114072"/>
          </a:xfrm>
        </p:grpSpPr>
        <p:sp>
          <p:nvSpPr>
            <p:cNvPr name="Freeform 45" id="45"/>
            <p:cNvSpPr/>
            <p:nvPr/>
          </p:nvSpPr>
          <p:spPr>
            <a:xfrm flipH="false" flipV="false" rot="0">
              <a:off x="0" y="0"/>
              <a:ext cx="3741801" cy="6114034"/>
            </a:xfrm>
            <a:custGeom>
              <a:avLst/>
              <a:gdLst/>
              <a:ahLst/>
              <a:cxnLst/>
              <a:rect r="r" b="b" t="t" l="l"/>
              <a:pathLst>
                <a:path h="6114034" w="3741801">
                  <a:moveTo>
                    <a:pt x="0" y="181483"/>
                  </a:moveTo>
                  <a:cubicBezTo>
                    <a:pt x="0" y="81280"/>
                    <a:pt x="81280" y="0"/>
                    <a:pt x="181483" y="0"/>
                  </a:cubicBezTo>
                  <a:lnTo>
                    <a:pt x="3560318" y="0"/>
                  </a:lnTo>
                  <a:cubicBezTo>
                    <a:pt x="3660521" y="0"/>
                    <a:pt x="3741801" y="81280"/>
                    <a:pt x="3741801" y="181483"/>
                  </a:cubicBezTo>
                  <a:lnTo>
                    <a:pt x="3741801" y="5932551"/>
                  </a:lnTo>
                  <a:cubicBezTo>
                    <a:pt x="3741801" y="6032754"/>
                    <a:pt x="3660521" y="6114034"/>
                    <a:pt x="3560318" y="6114034"/>
                  </a:cubicBezTo>
                  <a:lnTo>
                    <a:pt x="181483" y="6114034"/>
                  </a:lnTo>
                  <a:cubicBezTo>
                    <a:pt x="81280" y="6114034"/>
                    <a:pt x="0" y="6032881"/>
                    <a:pt x="0" y="5932551"/>
                  </a:cubicBezTo>
                  <a:close/>
                </a:path>
              </a:pathLst>
            </a:custGeom>
            <a:solidFill>
              <a:srgbClr val="E5E9DA"/>
            </a:solidFill>
          </p:spPr>
        </p:sp>
      </p:grpSp>
      <p:sp>
        <p:nvSpPr>
          <p:cNvPr name="TextBox 46" id="46"/>
          <p:cNvSpPr txBox="true"/>
          <p:nvPr/>
        </p:nvSpPr>
        <p:spPr>
          <a:xfrm rot="0">
            <a:off x="15076084" y="3005071"/>
            <a:ext cx="1327356" cy="276482"/>
          </a:xfrm>
          <a:prstGeom prst="rect">
            <a:avLst/>
          </a:prstGeom>
        </p:spPr>
        <p:txBody>
          <a:bodyPr anchor="t" rtlCol="false" tIns="0" lIns="0" bIns="0" rIns="0">
            <a:spAutoFit/>
          </a:bodyPr>
          <a:lstStyle/>
          <a:p>
            <a:pPr algn="l">
              <a:lnSpc>
                <a:spcPts val="2541"/>
              </a:lnSpc>
            </a:pPr>
            <a:r>
              <a:rPr lang="en-US" sz="2551">
                <a:solidFill>
                  <a:srgbClr val="083C35"/>
                </a:solidFill>
                <a:latin typeface="Inter"/>
                <a:ea typeface="Inter"/>
                <a:cs typeface="Inter"/>
                <a:sym typeface="Inter"/>
              </a:rPr>
              <a:t>05</a:t>
            </a:r>
          </a:p>
        </p:txBody>
      </p:sp>
      <p:grpSp>
        <p:nvGrpSpPr>
          <p:cNvPr name="Group 47" id="47"/>
          <p:cNvGrpSpPr/>
          <p:nvPr/>
        </p:nvGrpSpPr>
        <p:grpSpPr>
          <a:xfrm rot="0">
            <a:off x="15076084" y="3411131"/>
            <a:ext cx="2120027" cy="28594"/>
            <a:chOff x="0" y="0"/>
            <a:chExt cx="2826702" cy="38125"/>
          </a:xfrm>
        </p:grpSpPr>
        <p:sp>
          <p:nvSpPr>
            <p:cNvPr name="Freeform 48" id="48"/>
            <p:cNvSpPr/>
            <p:nvPr/>
          </p:nvSpPr>
          <p:spPr>
            <a:xfrm flipH="false" flipV="false" rot="0">
              <a:off x="0" y="0"/>
              <a:ext cx="2826639" cy="38100"/>
            </a:xfrm>
            <a:custGeom>
              <a:avLst/>
              <a:gdLst/>
              <a:ahLst/>
              <a:cxnLst/>
              <a:rect r="r" b="b" t="t" l="l"/>
              <a:pathLst>
                <a:path h="38100" w="2826639">
                  <a:moveTo>
                    <a:pt x="0" y="0"/>
                  </a:moveTo>
                  <a:lnTo>
                    <a:pt x="2826639" y="0"/>
                  </a:lnTo>
                  <a:lnTo>
                    <a:pt x="2826639" y="38100"/>
                  </a:lnTo>
                  <a:lnTo>
                    <a:pt x="0" y="38100"/>
                  </a:lnTo>
                  <a:close/>
                </a:path>
              </a:pathLst>
            </a:custGeom>
            <a:solidFill>
              <a:srgbClr val="083C35"/>
            </a:solidFill>
          </p:spPr>
        </p:sp>
      </p:grpSp>
      <p:grpSp>
        <p:nvGrpSpPr>
          <p:cNvPr name="Group 49" id="49"/>
          <p:cNvGrpSpPr/>
          <p:nvPr/>
        </p:nvGrpSpPr>
        <p:grpSpPr>
          <a:xfrm rot="0">
            <a:off x="15076084" y="3634092"/>
            <a:ext cx="1550327" cy="515645"/>
            <a:chOff x="0" y="0"/>
            <a:chExt cx="2067103" cy="687527"/>
          </a:xfrm>
        </p:grpSpPr>
        <p:sp>
          <p:nvSpPr>
            <p:cNvPr name="Freeform 50" id="50"/>
            <p:cNvSpPr/>
            <p:nvPr/>
          </p:nvSpPr>
          <p:spPr>
            <a:xfrm flipH="false" flipV="false" rot="0">
              <a:off x="0" y="0"/>
              <a:ext cx="2067052" cy="687451"/>
            </a:xfrm>
            <a:custGeom>
              <a:avLst/>
              <a:gdLst/>
              <a:ahLst/>
              <a:cxnLst/>
              <a:rect r="r" b="b" t="t" l="l"/>
              <a:pathLst>
                <a:path h="687451" w="2067052">
                  <a:moveTo>
                    <a:pt x="0" y="145161"/>
                  </a:moveTo>
                  <a:cubicBezTo>
                    <a:pt x="0" y="65024"/>
                    <a:pt x="65024" y="0"/>
                    <a:pt x="145161" y="0"/>
                  </a:cubicBezTo>
                  <a:lnTo>
                    <a:pt x="1921891" y="0"/>
                  </a:lnTo>
                  <a:cubicBezTo>
                    <a:pt x="2002028" y="0"/>
                    <a:pt x="2067052" y="65024"/>
                    <a:pt x="2067052" y="145161"/>
                  </a:cubicBezTo>
                  <a:lnTo>
                    <a:pt x="2067052" y="542290"/>
                  </a:lnTo>
                  <a:cubicBezTo>
                    <a:pt x="2067052" y="622427"/>
                    <a:pt x="2002028" y="687451"/>
                    <a:pt x="1921891" y="687451"/>
                  </a:cubicBezTo>
                  <a:lnTo>
                    <a:pt x="145161" y="687451"/>
                  </a:lnTo>
                  <a:cubicBezTo>
                    <a:pt x="65024" y="687578"/>
                    <a:pt x="0" y="622554"/>
                    <a:pt x="0" y="542290"/>
                  </a:cubicBezTo>
                  <a:close/>
                </a:path>
              </a:pathLst>
            </a:custGeom>
            <a:solidFill>
              <a:srgbClr val="D2F9F4"/>
            </a:solidFill>
          </p:spPr>
        </p:sp>
      </p:grpSp>
      <p:sp>
        <p:nvSpPr>
          <p:cNvPr name="TextBox 51" id="51"/>
          <p:cNvSpPr txBox="true"/>
          <p:nvPr/>
        </p:nvSpPr>
        <p:spPr>
          <a:xfrm rot="0">
            <a:off x="15270451" y="3731876"/>
            <a:ext cx="2076679" cy="340471"/>
          </a:xfrm>
          <a:prstGeom prst="rect">
            <a:avLst/>
          </a:prstGeom>
        </p:spPr>
        <p:txBody>
          <a:bodyPr anchor="t" rtlCol="false" tIns="0" lIns="0" bIns="0" rIns="0">
            <a:spAutoFit/>
          </a:bodyPr>
          <a:lstStyle/>
          <a:p>
            <a:pPr algn="l">
              <a:lnSpc>
                <a:spcPts val="2504"/>
              </a:lnSpc>
            </a:pPr>
            <a:r>
              <a:rPr lang="en-US" sz="2026" spc="21">
                <a:solidFill>
                  <a:srgbClr val="10201D"/>
                </a:solidFill>
                <a:latin typeface="IBM Plex Sans"/>
                <a:ea typeface="IBM Plex Sans"/>
                <a:cs typeface="IBM Plex Sans"/>
                <a:sym typeface="IBM Plex Sans"/>
              </a:rPr>
              <a:t>Proposed</a:t>
            </a:r>
          </a:p>
        </p:txBody>
      </p:sp>
      <p:sp>
        <p:nvSpPr>
          <p:cNvPr name="TextBox 52" id="52"/>
          <p:cNvSpPr txBox="true"/>
          <p:nvPr/>
        </p:nvSpPr>
        <p:spPr>
          <a:xfrm rot="0">
            <a:off x="15076084" y="4287412"/>
            <a:ext cx="2120027" cy="833771"/>
          </a:xfrm>
          <a:prstGeom prst="rect">
            <a:avLst/>
          </a:prstGeom>
        </p:spPr>
        <p:txBody>
          <a:bodyPr anchor="t" rtlCol="false" tIns="0" lIns="0" bIns="0" rIns="0">
            <a:spAutoFit/>
          </a:bodyPr>
          <a:lstStyle/>
          <a:p>
            <a:pPr algn="l">
              <a:lnSpc>
                <a:spcPts val="3170"/>
              </a:lnSpc>
            </a:pPr>
            <a:r>
              <a:rPr lang="en-US" sz="2401">
                <a:solidFill>
                  <a:srgbClr val="0D9488"/>
                </a:solidFill>
                <a:latin typeface="Inter"/>
                <a:ea typeface="Inter"/>
                <a:cs typeface="Inter"/>
                <a:sym typeface="Inter"/>
              </a:rPr>
              <a:t>Micro-Storage Management</a:t>
            </a:r>
          </a:p>
        </p:txBody>
      </p:sp>
      <p:sp>
        <p:nvSpPr>
          <p:cNvPr name="TextBox 53" id="53"/>
          <p:cNvSpPr txBox="true"/>
          <p:nvPr/>
        </p:nvSpPr>
        <p:spPr>
          <a:xfrm rot="0">
            <a:off x="15076084" y="5346659"/>
            <a:ext cx="2120027" cy="1142676"/>
          </a:xfrm>
          <a:prstGeom prst="rect">
            <a:avLst/>
          </a:prstGeom>
        </p:spPr>
        <p:txBody>
          <a:bodyPr anchor="t" rtlCol="false" tIns="0" lIns="0" bIns="0" rIns="0">
            <a:spAutoFit/>
          </a:bodyPr>
          <a:lstStyle/>
          <a:p>
            <a:pPr algn="l">
              <a:lnSpc>
                <a:spcPts val="2900"/>
              </a:lnSpc>
            </a:pPr>
            <a:r>
              <a:rPr lang="en-US" sz="2101">
                <a:solidFill>
                  <a:srgbClr val="10201D"/>
                </a:solidFill>
                <a:latin typeface="Inter"/>
                <a:ea typeface="Inter"/>
                <a:cs typeface="Inter"/>
                <a:sym typeface="Inter"/>
              </a:rPr>
              <a:t>Represent and manage storage slots.</a:t>
            </a:r>
          </a:p>
        </p:txBody>
      </p:sp>
      <p:grpSp>
        <p:nvGrpSpPr>
          <p:cNvPr name="Group 54" id="54"/>
          <p:cNvGrpSpPr/>
          <p:nvPr/>
        </p:nvGrpSpPr>
        <p:grpSpPr>
          <a:xfrm rot="0">
            <a:off x="753046" y="8356530"/>
            <a:ext cx="16795756" cy="1490491"/>
            <a:chOff x="0" y="0"/>
            <a:chExt cx="22394342" cy="1987321"/>
          </a:xfrm>
        </p:grpSpPr>
        <p:sp>
          <p:nvSpPr>
            <p:cNvPr name="Freeform 55" id="55"/>
            <p:cNvSpPr/>
            <p:nvPr/>
          </p:nvSpPr>
          <p:spPr>
            <a:xfrm flipH="false" flipV="false" rot="0">
              <a:off x="0" y="0"/>
              <a:ext cx="22394292" cy="1987296"/>
            </a:xfrm>
            <a:custGeom>
              <a:avLst/>
              <a:gdLst/>
              <a:ahLst/>
              <a:cxnLst/>
              <a:rect r="r" b="b" t="t" l="l"/>
              <a:pathLst>
                <a:path h="1987296" w="22394292">
                  <a:moveTo>
                    <a:pt x="0" y="432562"/>
                  </a:moveTo>
                  <a:cubicBezTo>
                    <a:pt x="0" y="193675"/>
                    <a:pt x="193675" y="0"/>
                    <a:pt x="432562" y="0"/>
                  </a:cubicBezTo>
                  <a:lnTo>
                    <a:pt x="21961729" y="0"/>
                  </a:lnTo>
                  <a:cubicBezTo>
                    <a:pt x="22200617" y="0"/>
                    <a:pt x="22394292" y="193675"/>
                    <a:pt x="22394292" y="432562"/>
                  </a:cubicBezTo>
                  <a:lnTo>
                    <a:pt x="22394292" y="1554734"/>
                  </a:lnTo>
                  <a:cubicBezTo>
                    <a:pt x="22394292" y="1793621"/>
                    <a:pt x="22200617" y="1987296"/>
                    <a:pt x="21961729" y="1987296"/>
                  </a:cubicBezTo>
                  <a:lnTo>
                    <a:pt x="432562" y="1987296"/>
                  </a:lnTo>
                  <a:cubicBezTo>
                    <a:pt x="193675" y="1987296"/>
                    <a:pt x="0" y="1793621"/>
                    <a:pt x="0" y="1554734"/>
                  </a:cubicBezTo>
                  <a:close/>
                </a:path>
              </a:pathLst>
            </a:custGeom>
            <a:solidFill>
              <a:srgbClr val="FFFFFF"/>
            </a:solidFill>
            <a:ln w="19065" cap="sq">
              <a:solidFill>
                <a:srgbClr val="CBD4CE"/>
              </a:solidFill>
              <a:prstDash val="solid"/>
              <a:miter/>
            </a:ln>
          </p:spPr>
        </p:sp>
      </p:grpSp>
      <p:sp>
        <p:nvSpPr>
          <p:cNvPr name="TextBox 56" id="56"/>
          <p:cNvSpPr txBox="true"/>
          <p:nvPr/>
        </p:nvSpPr>
        <p:spPr>
          <a:xfrm rot="0">
            <a:off x="1086669" y="8618010"/>
            <a:ext cx="16452590" cy="269434"/>
          </a:xfrm>
          <a:prstGeom prst="rect">
            <a:avLst/>
          </a:prstGeom>
        </p:spPr>
        <p:txBody>
          <a:bodyPr anchor="t" rtlCol="false" tIns="0" lIns="0" bIns="0" rIns="0">
            <a:spAutoFit/>
          </a:bodyPr>
          <a:lstStyle/>
          <a:p>
            <a:pPr algn="l">
              <a:lnSpc>
                <a:spcPts val="2040"/>
              </a:lnSpc>
            </a:pPr>
            <a:r>
              <a:rPr lang="en-US" sz="1651" spc="90">
                <a:solidFill>
                  <a:srgbClr val="10201D"/>
                </a:solidFill>
                <a:latin typeface="IBM Plex Sans"/>
                <a:ea typeface="IBM Plex Sans"/>
                <a:cs typeface="IBM Plex Sans"/>
                <a:sym typeface="IBM Plex Sans"/>
              </a:rPr>
              <a:t>END-TO-END USER JOURNEY</a:t>
            </a:r>
          </a:p>
        </p:txBody>
      </p:sp>
      <p:grpSp>
        <p:nvGrpSpPr>
          <p:cNvPr name="Group 57" id="57"/>
          <p:cNvGrpSpPr/>
          <p:nvPr/>
        </p:nvGrpSpPr>
        <p:grpSpPr>
          <a:xfrm rot="0">
            <a:off x="1086669" y="9097832"/>
            <a:ext cx="2150402" cy="491814"/>
            <a:chOff x="0" y="0"/>
            <a:chExt cx="2867203" cy="655752"/>
          </a:xfrm>
        </p:grpSpPr>
        <p:sp>
          <p:nvSpPr>
            <p:cNvPr name="Freeform 58" id="58"/>
            <p:cNvSpPr/>
            <p:nvPr/>
          </p:nvSpPr>
          <p:spPr>
            <a:xfrm flipH="false" flipV="false" rot="0">
              <a:off x="0" y="0"/>
              <a:ext cx="2867279" cy="655828"/>
            </a:xfrm>
            <a:custGeom>
              <a:avLst/>
              <a:gdLst/>
              <a:ahLst/>
              <a:cxnLst/>
              <a:rect r="r" b="b" t="t" l="l"/>
              <a:pathLst>
                <a:path h="655828" w="2867279">
                  <a:moveTo>
                    <a:pt x="0" y="327914"/>
                  </a:moveTo>
                  <a:cubicBezTo>
                    <a:pt x="0" y="146812"/>
                    <a:pt x="146812" y="0"/>
                    <a:pt x="327914" y="0"/>
                  </a:cubicBezTo>
                  <a:lnTo>
                    <a:pt x="2539365" y="0"/>
                  </a:lnTo>
                  <a:cubicBezTo>
                    <a:pt x="2720467" y="0"/>
                    <a:pt x="2867279" y="146812"/>
                    <a:pt x="2867279" y="327914"/>
                  </a:cubicBezTo>
                  <a:cubicBezTo>
                    <a:pt x="2867279" y="509016"/>
                    <a:pt x="2720467" y="655828"/>
                    <a:pt x="2539365" y="655828"/>
                  </a:cubicBezTo>
                  <a:lnTo>
                    <a:pt x="327914" y="655828"/>
                  </a:lnTo>
                  <a:cubicBezTo>
                    <a:pt x="146812" y="655701"/>
                    <a:pt x="0" y="509016"/>
                    <a:pt x="0" y="327914"/>
                  </a:cubicBezTo>
                  <a:close/>
                </a:path>
              </a:pathLst>
            </a:custGeom>
            <a:solidFill>
              <a:srgbClr val="0A7C78"/>
            </a:solidFill>
          </p:spPr>
        </p:sp>
      </p:grpSp>
      <p:sp>
        <p:nvSpPr>
          <p:cNvPr name="TextBox 59" id="59"/>
          <p:cNvSpPr txBox="true"/>
          <p:nvPr/>
        </p:nvSpPr>
        <p:spPr>
          <a:xfrm rot="0">
            <a:off x="1086669" y="9189358"/>
            <a:ext cx="2150402" cy="291608"/>
          </a:xfrm>
          <a:prstGeom prst="rect">
            <a:avLst/>
          </a:prstGeom>
        </p:spPr>
        <p:txBody>
          <a:bodyPr anchor="t" rtlCol="false" tIns="0" lIns="0" bIns="0" rIns="0">
            <a:spAutoFit/>
          </a:bodyPr>
          <a:lstStyle/>
          <a:p>
            <a:pPr algn="ctr">
              <a:lnSpc>
                <a:spcPts val="2071"/>
              </a:lnSpc>
            </a:pPr>
            <a:r>
              <a:rPr lang="en-US" sz="1501" b="true">
                <a:solidFill>
                  <a:srgbClr val="FFFFFF"/>
                </a:solidFill>
                <a:latin typeface="Inter Bold"/>
                <a:ea typeface="Inter Bold"/>
                <a:cs typeface="Inter Bold"/>
                <a:sym typeface="Inter Bold"/>
              </a:rPr>
              <a:t>Browse</a:t>
            </a:r>
          </a:p>
        </p:txBody>
      </p:sp>
      <p:grpSp>
        <p:nvGrpSpPr>
          <p:cNvPr name="Group 60" id="60"/>
          <p:cNvGrpSpPr/>
          <p:nvPr/>
        </p:nvGrpSpPr>
        <p:grpSpPr>
          <a:xfrm rot="0">
            <a:off x="3237081" y="9319908"/>
            <a:ext cx="537524" cy="47511"/>
            <a:chOff x="0" y="0"/>
            <a:chExt cx="716699" cy="63348"/>
          </a:xfrm>
        </p:grpSpPr>
        <p:sp>
          <p:nvSpPr>
            <p:cNvPr name="Freeform 61" id="61"/>
            <p:cNvSpPr/>
            <p:nvPr/>
          </p:nvSpPr>
          <p:spPr>
            <a:xfrm flipH="false" flipV="false" rot="0">
              <a:off x="0" y="0"/>
              <a:ext cx="716661" cy="63247"/>
            </a:xfrm>
            <a:custGeom>
              <a:avLst/>
              <a:gdLst/>
              <a:ahLst/>
              <a:cxnLst/>
              <a:rect r="r" b="b" t="t" l="l"/>
              <a:pathLst>
                <a:path h="63247" w="716661">
                  <a:moveTo>
                    <a:pt x="0" y="31623"/>
                  </a:moveTo>
                  <a:cubicBezTo>
                    <a:pt x="0" y="14224"/>
                    <a:pt x="14224" y="0"/>
                    <a:pt x="31623" y="0"/>
                  </a:cubicBezTo>
                  <a:lnTo>
                    <a:pt x="685038" y="0"/>
                  </a:lnTo>
                  <a:cubicBezTo>
                    <a:pt x="702564" y="0"/>
                    <a:pt x="716661" y="14224"/>
                    <a:pt x="716661" y="31623"/>
                  </a:cubicBezTo>
                  <a:cubicBezTo>
                    <a:pt x="716661" y="49149"/>
                    <a:pt x="702437" y="63246"/>
                    <a:pt x="685038" y="63246"/>
                  </a:cubicBezTo>
                  <a:lnTo>
                    <a:pt x="31623" y="63246"/>
                  </a:lnTo>
                  <a:cubicBezTo>
                    <a:pt x="14224" y="63373"/>
                    <a:pt x="0" y="49149"/>
                    <a:pt x="0" y="31623"/>
                  </a:cubicBezTo>
                  <a:close/>
                </a:path>
              </a:pathLst>
            </a:custGeom>
            <a:solidFill>
              <a:srgbClr val="0A7C78"/>
            </a:solidFill>
          </p:spPr>
        </p:sp>
      </p:grpSp>
      <p:grpSp>
        <p:nvGrpSpPr>
          <p:cNvPr name="Group 62" id="62"/>
          <p:cNvGrpSpPr/>
          <p:nvPr/>
        </p:nvGrpSpPr>
        <p:grpSpPr>
          <a:xfrm rot="0">
            <a:off x="3774605" y="9097832"/>
            <a:ext cx="2150554" cy="491814"/>
            <a:chOff x="0" y="0"/>
            <a:chExt cx="2867406" cy="655752"/>
          </a:xfrm>
        </p:grpSpPr>
        <p:sp>
          <p:nvSpPr>
            <p:cNvPr name="Freeform 63" id="63"/>
            <p:cNvSpPr/>
            <p:nvPr/>
          </p:nvSpPr>
          <p:spPr>
            <a:xfrm flipH="false" flipV="false" rot="0">
              <a:off x="0" y="0"/>
              <a:ext cx="2867406" cy="655828"/>
            </a:xfrm>
            <a:custGeom>
              <a:avLst/>
              <a:gdLst/>
              <a:ahLst/>
              <a:cxnLst/>
              <a:rect r="r" b="b" t="t" l="l"/>
              <a:pathLst>
                <a:path h="655828" w="2867406">
                  <a:moveTo>
                    <a:pt x="0" y="327914"/>
                  </a:moveTo>
                  <a:cubicBezTo>
                    <a:pt x="0" y="146812"/>
                    <a:pt x="146812" y="0"/>
                    <a:pt x="327914" y="0"/>
                  </a:cubicBezTo>
                  <a:lnTo>
                    <a:pt x="2539492" y="0"/>
                  </a:lnTo>
                  <a:cubicBezTo>
                    <a:pt x="2720594" y="0"/>
                    <a:pt x="2867406" y="146812"/>
                    <a:pt x="2867406" y="327914"/>
                  </a:cubicBezTo>
                  <a:cubicBezTo>
                    <a:pt x="2867406" y="509016"/>
                    <a:pt x="2720594" y="655828"/>
                    <a:pt x="2539492" y="655828"/>
                  </a:cubicBezTo>
                  <a:lnTo>
                    <a:pt x="327914" y="655828"/>
                  </a:lnTo>
                  <a:cubicBezTo>
                    <a:pt x="146812" y="655701"/>
                    <a:pt x="0" y="509016"/>
                    <a:pt x="0" y="327914"/>
                  </a:cubicBezTo>
                  <a:close/>
                </a:path>
              </a:pathLst>
            </a:custGeom>
            <a:solidFill>
              <a:srgbClr val="0A7C78"/>
            </a:solidFill>
          </p:spPr>
        </p:sp>
      </p:grpSp>
      <p:sp>
        <p:nvSpPr>
          <p:cNvPr name="TextBox 64" id="64"/>
          <p:cNvSpPr txBox="true"/>
          <p:nvPr/>
        </p:nvSpPr>
        <p:spPr>
          <a:xfrm rot="0">
            <a:off x="3774605" y="9189358"/>
            <a:ext cx="2150554" cy="291608"/>
          </a:xfrm>
          <a:prstGeom prst="rect">
            <a:avLst/>
          </a:prstGeom>
        </p:spPr>
        <p:txBody>
          <a:bodyPr anchor="t" rtlCol="false" tIns="0" lIns="0" bIns="0" rIns="0">
            <a:spAutoFit/>
          </a:bodyPr>
          <a:lstStyle/>
          <a:p>
            <a:pPr algn="ctr">
              <a:lnSpc>
                <a:spcPts val="2071"/>
              </a:lnSpc>
            </a:pPr>
            <a:r>
              <a:rPr lang="en-US" sz="1501" b="true">
                <a:solidFill>
                  <a:srgbClr val="FFFFFF"/>
                </a:solidFill>
                <a:latin typeface="Inter Bold"/>
                <a:ea typeface="Inter Bold"/>
                <a:cs typeface="Inter Bold"/>
                <a:sym typeface="Inter Bold"/>
              </a:rPr>
              <a:t>Select</a:t>
            </a:r>
          </a:p>
        </p:txBody>
      </p:sp>
      <p:grpSp>
        <p:nvGrpSpPr>
          <p:cNvPr name="Group 65" id="65"/>
          <p:cNvGrpSpPr/>
          <p:nvPr/>
        </p:nvGrpSpPr>
        <p:grpSpPr>
          <a:xfrm rot="0">
            <a:off x="5925160" y="9319908"/>
            <a:ext cx="537524" cy="47511"/>
            <a:chOff x="0" y="0"/>
            <a:chExt cx="716699" cy="63348"/>
          </a:xfrm>
        </p:grpSpPr>
        <p:sp>
          <p:nvSpPr>
            <p:cNvPr name="Freeform 66" id="66"/>
            <p:cNvSpPr/>
            <p:nvPr/>
          </p:nvSpPr>
          <p:spPr>
            <a:xfrm flipH="false" flipV="false" rot="0">
              <a:off x="0" y="0"/>
              <a:ext cx="716661" cy="63247"/>
            </a:xfrm>
            <a:custGeom>
              <a:avLst/>
              <a:gdLst/>
              <a:ahLst/>
              <a:cxnLst/>
              <a:rect r="r" b="b" t="t" l="l"/>
              <a:pathLst>
                <a:path h="63247" w="716661">
                  <a:moveTo>
                    <a:pt x="0" y="31623"/>
                  </a:moveTo>
                  <a:cubicBezTo>
                    <a:pt x="0" y="14224"/>
                    <a:pt x="14224" y="0"/>
                    <a:pt x="31623" y="0"/>
                  </a:cubicBezTo>
                  <a:lnTo>
                    <a:pt x="685038" y="0"/>
                  </a:lnTo>
                  <a:cubicBezTo>
                    <a:pt x="702564" y="0"/>
                    <a:pt x="716661" y="14224"/>
                    <a:pt x="716661" y="31623"/>
                  </a:cubicBezTo>
                  <a:cubicBezTo>
                    <a:pt x="716661" y="49149"/>
                    <a:pt x="702437" y="63246"/>
                    <a:pt x="685038" y="63246"/>
                  </a:cubicBezTo>
                  <a:lnTo>
                    <a:pt x="31623" y="63246"/>
                  </a:lnTo>
                  <a:cubicBezTo>
                    <a:pt x="14224" y="63373"/>
                    <a:pt x="0" y="49149"/>
                    <a:pt x="0" y="31623"/>
                  </a:cubicBezTo>
                  <a:close/>
                </a:path>
              </a:pathLst>
            </a:custGeom>
            <a:solidFill>
              <a:srgbClr val="0A7C78"/>
            </a:solidFill>
          </p:spPr>
        </p:sp>
      </p:grpSp>
      <p:grpSp>
        <p:nvGrpSpPr>
          <p:cNvPr name="Group 67" id="67"/>
          <p:cNvGrpSpPr/>
          <p:nvPr/>
        </p:nvGrpSpPr>
        <p:grpSpPr>
          <a:xfrm rot="0">
            <a:off x="6462684" y="9097832"/>
            <a:ext cx="2150554" cy="491814"/>
            <a:chOff x="0" y="0"/>
            <a:chExt cx="2867406" cy="655752"/>
          </a:xfrm>
        </p:grpSpPr>
        <p:sp>
          <p:nvSpPr>
            <p:cNvPr name="Freeform 68" id="68"/>
            <p:cNvSpPr/>
            <p:nvPr/>
          </p:nvSpPr>
          <p:spPr>
            <a:xfrm flipH="false" flipV="false" rot="0">
              <a:off x="0" y="0"/>
              <a:ext cx="2867406" cy="655828"/>
            </a:xfrm>
            <a:custGeom>
              <a:avLst/>
              <a:gdLst/>
              <a:ahLst/>
              <a:cxnLst/>
              <a:rect r="r" b="b" t="t" l="l"/>
              <a:pathLst>
                <a:path h="655828" w="2867406">
                  <a:moveTo>
                    <a:pt x="0" y="327914"/>
                  </a:moveTo>
                  <a:cubicBezTo>
                    <a:pt x="0" y="146812"/>
                    <a:pt x="146812" y="0"/>
                    <a:pt x="327914" y="0"/>
                  </a:cubicBezTo>
                  <a:lnTo>
                    <a:pt x="2539492" y="0"/>
                  </a:lnTo>
                  <a:cubicBezTo>
                    <a:pt x="2720594" y="0"/>
                    <a:pt x="2867406" y="146812"/>
                    <a:pt x="2867406" y="327914"/>
                  </a:cubicBezTo>
                  <a:cubicBezTo>
                    <a:pt x="2867406" y="509016"/>
                    <a:pt x="2720594" y="655828"/>
                    <a:pt x="2539492" y="655828"/>
                  </a:cubicBezTo>
                  <a:lnTo>
                    <a:pt x="327914" y="655828"/>
                  </a:lnTo>
                  <a:cubicBezTo>
                    <a:pt x="146812" y="655701"/>
                    <a:pt x="0" y="509016"/>
                    <a:pt x="0" y="327914"/>
                  </a:cubicBezTo>
                  <a:close/>
                </a:path>
              </a:pathLst>
            </a:custGeom>
            <a:solidFill>
              <a:srgbClr val="0A7C78"/>
            </a:solidFill>
          </p:spPr>
        </p:sp>
      </p:grpSp>
      <p:sp>
        <p:nvSpPr>
          <p:cNvPr name="TextBox 69" id="69"/>
          <p:cNvSpPr txBox="true"/>
          <p:nvPr/>
        </p:nvSpPr>
        <p:spPr>
          <a:xfrm rot="0">
            <a:off x="6462684" y="9189358"/>
            <a:ext cx="2150554" cy="291608"/>
          </a:xfrm>
          <a:prstGeom prst="rect">
            <a:avLst/>
          </a:prstGeom>
        </p:spPr>
        <p:txBody>
          <a:bodyPr anchor="t" rtlCol="false" tIns="0" lIns="0" bIns="0" rIns="0">
            <a:spAutoFit/>
          </a:bodyPr>
          <a:lstStyle/>
          <a:p>
            <a:pPr algn="ctr">
              <a:lnSpc>
                <a:spcPts val="2071"/>
              </a:lnSpc>
            </a:pPr>
            <a:r>
              <a:rPr lang="en-US" sz="1501" b="true">
                <a:solidFill>
                  <a:srgbClr val="FFFFFF"/>
                </a:solidFill>
                <a:latin typeface="Inter Bold"/>
                <a:ea typeface="Inter Bold"/>
                <a:cs typeface="Inter Bold"/>
                <a:sym typeface="Inter Bold"/>
              </a:rPr>
              <a:t>Reserve</a:t>
            </a:r>
          </a:p>
        </p:txBody>
      </p:sp>
      <p:grpSp>
        <p:nvGrpSpPr>
          <p:cNvPr name="Group 70" id="70"/>
          <p:cNvGrpSpPr/>
          <p:nvPr/>
        </p:nvGrpSpPr>
        <p:grpSpPr>
          <a:xfrm rot="0">
            <a:off x="8613248" y="9319908"/>
            <a:ext cx="537524" cy="47511"/>
            <a:chOff x="0" y="0"/>
            <a:chExt cx="716699" cy="63348"/>
          </a:xfrm>
        </p:grpSpPr>
        <p:sp>
          <p:nvSpPr>
            <p:cNvPr name="Freeform 71" id="71"/>
            <p:cNvSpPr/>
            <p:nvPr/>
          </p:nvSpPr>
          <p:spPr>
            <a:xfrm flipH="false" flipV="false" rot="0">
              <a:off x="0" y="0"/>
              <a:ext cx="716661" cy="63247"/>
            </a:xfrm>
            <a:custGeom>
              <a:avLst/>
              <a:gdLst/>
              <a:ahLst/>
              <a:cxnLst/>
              <a:rect r="r" b="b" t="t" l="l"/>
              <a:pathLst>
                <a:path h="63247" w="716661">
                  <a:moveTo>
                    <a:pt x="0" y="31623"/>
                  </a:moveTo>
                  <a:cubicBezTo>
                    <a:pt x="0" y="14224"/>
                    <a:pt x="14224" y="0"/>
                    <a:pt x="31623" y="0"/>
                  </a:cubicBezTo>
                  <a:lnTo>
                    <a:pt x="685038" y="0"/>
                  </a:lnTo>
                  <a:cubicBezTo>
                    <a:pt x="702564" y="0"/>
                    <a:pt x="716661" y="14224"/>
                    <a:pt x="716661" y="31623"/>
                  </a:cubicBezTo>
                  <a:cubicBezTo>
                    <a:pt x="716661" y="49149"/>
                    <a:pt x="702437" y="63246"/>
                    <a:pt x="685038" y="63246"/>
                  </a:cubicBezTo>
                  <a:lnTo>
                    <a:pt x="31623" y="63246"/>
                  </a:lnTo>
                  <a:cubicBezTo>
                    <a:pt x="14224" y="63373"/>
                    <a:pt x="0" y="49149"/>
                    <a:pt x="0" y="31623"/>
                  </a:cubicBezTo>
                  <a:close/>
                </a:path>
              </a:pathLst>
            </a:custGeom>
            <a:solidFill>
              <a:srgbClr val="0A7C78"/>
            </a:solidFill>
          </p:spPr>
        </p:sp>
      </p:grpSp>
      <p:grpSp>
        <p:nvGrpSpPr>
          <p:cNvPr name="Group 72" id="72"/>
          <p:cNvGrpSpPr/>
          <p:nvPr/>
        </p:nvGrpSpPr>
        <p:grpSpPr>
          <a:xfrm rot="0">
            <a:off x="9150772" y="9097832"/>
            <a:ext cx="2150554" cy="491814"/>
            <a:chOff x="0" y="0"/>
            <a:chExt cx="2867406" cy="655752"/>
          </a:xfrm>
        </p:grpSpPr>
        <p:sp>
          <p:nvSpPr>
            <p:cNvPr name="Freeform 73" id="73"/>
            <p:cNvSpPr/>
            <p:nvPr/>
          </p:nvSpPr>
          <p:spPr>
            <a:xfrm flipH="false" flipV="false" rot="0">
              <a:off x="0" y="0"/>
              <a:ext cx="2867406" cy="655828"/>
            </a:xfrm>
            <a:custGeom>
              <a:avLst/>
              <a:gdLst/>
              <a:ahLst/>
              <a:cxnLst/>
              <a:rect r="r" b="b" t="t" l="l"/>
              <a:pathLst>
                <a:path h="655828" w="2867406">
                  <a:moveTo>
                    <a:pt x="0" y="327914"/>
                  </a:moveTo>
                  <a:cubicBezTo>
                    <a:pt x="0" y="146812"/>
                    <a:pt x="146812" y="0"/>
                    <a:pt x="327914" y="0"/>
                  </a:cubicBezTo>
                  <a:lnTo>
                    <a:pt x="2539492" y="0"/>
                  </a:lnTo>
                  <a:cubicBezTo>
                    <a:pt x="2720594" y="0"/>
                    <a:pt x="2867406" y="146812"/>
                    <a:pt x="2867406" y="327914"/>
                  </a:cubicBezTo>
                  <a:cubicBezTo>
                    <a:pt x="2867406" y="509016"/>
                    <a:pt x="2720594" y="655828"/>
                    <a:pt x="2539492" y="655828"/>
                  </a:cubicBezTo>
                  <a:lnTo>
                    <a:pt x="327914" y="655828"/>
                  </a:lnTo>
                  <a:cubicBezTo>
                    <a:pt x="146812" y="655701"/>
                    <a:pt x="0" y="509016"/>
                    <a:pt x="0" y="327914"/>
                  </a:cubicBezTo>
                  <a:close/>
                </a:path>
              </a:pathLst>
            </a:custGeom>
            <a:solidFill>
              <a:srgbClr val="0A7C78"/>
            </a:solidFill>
          </p:spPr>
        </p:sp>
      </p:grpSp>
      <p:sp>
        <p:nvSpPr>
          <p:cNvPr name="TextBox 74" id="74"/>
          <p:cNvSpPr txBox="true"/>
          <p:nvPr/>
        </p:nvSpPr>
        <p:spPr>
          <a:xfrm rot="0">
            <a:off x="9150772" y="9189358"/>
            <a:ext cx="2150554" cy="291608"/>
          </a:xfrm>
          <a:prstGeom prst="rect">
            <a:avLst/>
          </a:prstGeom>
        </p:spPr>
        <p:txBody>
          <a:bodyPr anchor="t" rtlCol="false" tIns="0" lIns="0" bIns="0" rIns="0">
            <a:spAutoFit/>
          </a:bodyPr>
          <a:lstStyle/>
          <a:p>
            <a:pPr algn="ctr">
              <a:lnSpc>
                <a:spcPts val="2071"/>
              </a:lnSpc>
            </a:pPr>
            <a:r>
              <a:rPr lang="en-US" sz="1501" b="true">
                <a:solidFill>
                  <a:srgbClr val="FFFFFF"/>
                </a:solidFill>
                <a:latin typeface="Inter Bold"/>
                <a:ea typeface="Inter Bold"/>
                <a:cs typeface="Inter Bold"/>
                <a:sym typeface="Inter Bold"/>
              </a:rPr>
              <a:t>Rent</a:t>
            </a:r>
          </a:p>
        </p:txBody>
      </p:sp>
      <p:grpSp>
        <p:nvGrpSpPr>
          <p:cNvPr name="Group 75" id="75"/>
          <p:cNvGrpSpPr/>
          <p:nvPr/>
        </p:nvGrpSpPr>
        <p:grpSpPr>
          <a:xfrm rot="0">
            <a:off x="11301327" y="9319908"/>
            <a:ext cx="537524" cy="47511"/>
            <a:chOff x="0" y="0"/>
            <a:chExt cx="716699" cy="63348"/>
          </a:xfrm>
        </p:grpSpPr>
        <p:sp>
          <p:nvSpPr>
            <p:cNvPr name="Freeform 76" id="76"/>
            <p:cNvSpPr/>
            <p:nvPr/>
          </p:nvSpPr>
          <p:spPr>
            <a:xfrm flipH="false" flipV="false" rot="0">
              <a:off x="0" y="0"/>
              <a:ext cx="716661" cy="63247"/>
            </a:xfrm>
            <a:custGeom>
              <a:avLst/>
              <a:gdLst/>
              <a:ahLst/>
              <a:cxnLst/>
              <a:rect r="r" b="b" t="t" l="l"/>
              <a:pathLst>
                <a:path h="63247" w="716661">
                  <a:moveTo>
                    <a:pt x="0" y="31623"/>
                  </a:moveTo>
                  <a:cubicBezTo>
                    <a:pt x="0" y="14224"/>
                    <a:pt x="14224" y="0"/>
                    <a:pt x="31623" y="0"/>
                  </a:cubicBezTo>
                  <a:lnTo>
                    <a:pt x="685038" y="0"/>
                  </a:lnTo>
                  <a:cubicBezTo>
                    <a:pt x="702564" y="0"/>
                    <a:pt x="716661" y="14224"/>
                    <a:pt x="716661" y="31623"/>
                  </a:cubicBezTo>
                  <a:cubicBezTo>
                    <a:pt x="716661" y="49149"/>
                    <a:pt x="702437" y="63246"/>
                    <a:pt x="685038" y="63246"/>
                  </a:cubicBezTo>
                  <a:lnTo>
                    <a:pt x="31623" y="63246"/>
                  </a:lnTo>
                  <a:cubicBezTo>
                    <a:pt x="14224" y="63373"/>
                    <a:pt x="0" y="49149"/>
                    <a:pt x="0" y="31623"/>
                  </a:cubicBezTo>
                  <a:close/>
                </a:path>
              </a:pathLst>
            </a:custGeom>
            <a:solidFill>
              <a:srgbClr val="0A7C78"/>
            </a:solidFill>
          </p:spPr>
        </p:sp>
      </p:grpSp>
      <p:grpSp>
        <p:nvGrpSpPr>
          <p:cNvPr name="Group 77" id="77"/>
          <p:cNvGrpSpPr/>
          <p:nvPr/>
        </p:nvGrpSpPr>
        <p:grpSpPr>
          <a:xfrm rot="0">
            <a:off x="11838851" y="9097832"/>
            <a:ext cx="2150554" cy="491814"/>
            <a:chOff x="0" y="0"/>
            <a:chExt cx="2867406" cy="655752"/>
          </a:xfrm>
        </p:grpSpPr>
        <p:sp>
          <p:nvSpPr>
            <p:cNvPr name="Freeform 78" id="78"/>
            <p:cNvSpPr/>
            <p:nvPr/>
          </p:nvSpPr>
          <p:spPr>
            <a:xfrm flipH="false" flipV="false" rot="0">
              <a:off x="0" y="0"/>
              <a:ext cx="2867406" cy="655828"/>
            </a:xfrm>
            <a:custGeom>
              <a:avLst/>
              <a:gdLst/>
              <a:ahLst/>
              <a:cxnLst/>
              <a:rect r="r" b="b" t="t" l="l"/>
              <a:pathLst>
                <a:path h="655828" w="2867406">
                  <a:moveTo>
                    <a:pt x="0" y="327914"/>
                  </a:moveTo>
                  <a:cubicBezTo>
                    <a:pt x="0" y="146812"/>
                    <a:pt x="146812" y="0"/>
                    <a:pt x="327914" y="0"/>
                  </a:cubicBezTo>
                  <a:lnTo>
                    <a:pt x="2539492" y="0"/>
                  </a:lnTo>
                  <a:cubicBezTo>
                    <a:pt x="2720594" y="0"/>
                    <a:pt x="2867406" y="146812"/>
                    <a:pt x="2867406" y="327914"/>
                  </a:cubicBezTo>
                  <a:cubicBezTo>
                    <a:pt x="2867406" y="509016"/>
                    <a:pt x="2720594" y="655828"/>
                    <a:pt x="2539492" y="655828"/>
                  </a:cubicBezTo>
                  <a:lnTo>
                    <a:pt x="327914" y="655828"/>
                  </a:lnTo>
                  <a:cubicBezTo>
                    <a:pt x="146812" y="655701"/>
                    <a:pt x="0" y="509016"/>
                    <a:pt x="0" y="327914"/>
                  </a:cubicBezTo>
                  <a:close/>
                </a:path>
              </a:pathLst>
            </a:custGeom>
            <a:solidFill>
              <a:srgbClr val="0A7C78"/>
            </a:solidFill>
          </p:spPr>
        </p:sp>
      </p:grpSp>
      <p:sp>
        <p:nvSpPr>
          <p:cNvPr name="TextBox 79" id="79"/>
          <p:cNvSpPr txBox="true"/>
          <p:nvPr/>
        </p:nvSpPr>
        <p:spPr>
          <a:xfrm rot="0">
            <a:off x="11838851" y="9189358"/>
            <a:ext cx="2150554" cy="291608"/>
          </a:xfrm>
          <a:prstGeom prst="rect">
            <a:avLst/>
          </a:prstGeom>
        </p:spPr>
        <p:txBody>
          <a:bodyPr anchor="t" rtlCol="false" tIns="0" lIns="0" bIns="0" rIns="0">
            <a:spAutoFit/>
          </a:bodyPr>
          <a:lstStyle/>
          <a:p>
            <a:pPr algn="ctr">
              <a:lnSpc>
                <a:spcPts val="2071"/>
              </a:lnSpc>
            </a:pPr>
            <a:r>
              <a:rPr lang="en-US" sz="1501" b="true">
                <a:solidFill>
                  <a:srgbClr val="FFFFFF"/>
                </a:solidFill>
                <a:latin typeface="Inter Bold"/>
                <a:ea typeface="Inter Bold"/>
                <a:cs typeface="Inter Bold"/>
                <a:sym typeface="Inter Bold"/>
              </a:rPr>
              <a:t>Return</a:t>
            </a:r>
          </a:p>
        </p:txBody>
      </p:sp>
      <p:grpSp>
        <p:nvGrpSpPr>
          <p:cNvPr name="Group 80" id="80"/>
          <p:cNvGrpSpPr/>
          <p:nvPr/>
        </p:nvGrpSpPr>
        <p:grpSpPr>
          <a:xfrm rot="0">
            <a:off x="13989406" y="9319908"/>
            <a:ext cx="537524" cy="47511"/>
            <a:chOff x="0" y="0"/>
            <a:chExt cx="716699" cy="63348"/>
          </a:xfrm>
        </p:grpSpPr>
        <p:sp>
          <p:nvSpPr>
            <p:cNvPr name="Freeform 81" id="81"/>
            <p:cNvSpPr/>
            <p:nvPr/>
          </p:nvSpPr>
          <p:spPr>
            <a:xfrm flipH="false" flipV="false" rot="0">
              <a:off x="0" y="0"/>
              <a:ext cx="716661" cy="63247"/>
            </a:xfrm>
            <a:custGeom>
              <a:avLst/>
              <a:gdLst/>
              <a:ahLst/>
              <a:cxnLst/>
              <a:rect r="r" b="b" t="t" l="l"/>
              <a:pathLst>
                <a:path h="63247" w="716661">
                  <a:moveTo>
                    <a:pt x="0" y="31623"/>
                  </a:moveTo>
                  <a:cubicBezTo>
                    <a:pt x="0" y="14224"/>
                    <a:pt x="14224" y="0"/>
                    <a:pt x="31623" y="0"/>
                  </a:cubicBezTo>
                  <a:lnTo>
                    <a:pt x="685038" y="0"/>
                  </a:lnTo>
                  <a:cubicBezTo>
                    <a:pt x="702564" y="0"/>
                    <a:pt x="716661" y="14224"/>
                    <a:pt x="716661" y="31623"/>
                  </a:cubicBezTo>
                  <a:cubicBezTo>
                    <a:pt x="716661" y="49149"/>
                    <a:pt x="702437" y="63246"/>
                    <a:pt x="685038" y="63246"/>
                  </a:cubicBezTo>
                  <a:lnTo>
                    <a:pt x="31623" y="63246"/>
                  </a:lnTo>
                  <a:cubicBezTo>
                    <a:pt x="14224" y="63373"/>
                    <a:pt x="0" y="49149"/>
                    <a:pt x="0" y="31623"/>
                  </a:cubicBezTo>
                  <a:close/>
                </a:path>
              </a:pathLst>
            </a:custGeom>
            <a:solidFill>
              <a:srgbClr val="0A7C78"/>
            </a:solidFill>
          </p:spPr>
        </p:sp>
      </p:grpSp>
      <p:grpSp>
        <p:nvGrpSpPr>
          <p:cNvPr name="Group 82" id="82"/>
          <p:cNvGrpSpPr/>
          <p:nvPr/>
        </p:nvGrpSpPr>
        <p:grpSpPr>
          <a:xfrm rot="0">
            <a:off x="14526939" y="9097832"/>
            <a:ext cx="2688079" cy="491814"/>
            <a:chOff x="0" y="0"/>
            <a:chExt cx="3584105" cy="655752"/>
          </a:xfrm>
        </p:grpSpPr>
        <p:sp>
          <p:nvSpPr>
            <p:cNvPr name="Freeform 83" id="83"/>
            <p:cNvSpPr/>
            <p:nvPr/>
          </p:nvSpPr>
          <p:spPr>
            <a:xfrm flipH="false" flipV="false" rot="0">
              <a:off x="0" y="0"/>
              <a:ext cx="3584194" cy="655828"/>
            </a:xfrm>
            <a:custGeom>
              <a:avLst/>
              <a:gdLst/>
              <a:ahLst/>
              <a:cxnLst/>
              <a:rect r="r" b="b" t="t" l="l"/>
              <a:pathLst>
                <a:path h="655828" w="3584194">
                  <a:moveTo>
                    <a:pt x="0" y="327914"/>
                  </a:moveTo>
                  <a:cubicBezTo>
                    <a:pt x="0" y="146812"/>
                    <a:pt x="146812" y="0"/>
                    <a:pt x="327914" y="0"/>
                  </a:cubicBezTo>
                  <a:lnTo>
                    <a:pt x="3256280" y="0"/>
                  </a:lnTo>
                  <a:cubicBezTo>
                    <a:pt x="3437382" y="0"/>
                    <a:pt x="3584194" y="146812"/>
                    <a:pt x="3584194" y="327914"/>
                  </a:cubicBezTo>
                  <a:cubicBezTo>
                    <a:pt x="3584194" y="509016"/>
                    <a:pt x="3437382" y="655828"/>
                    <a:pt x="3256280" y="655828"/>
                  </a:cubicBezTo>
                  <a:lnTo>
                    <a:pt x="327914" y="655828"/>
                  </a:lnTo>
                  <a:cubicBezTo>
                    <a:pt x="146812" y="655701"/>
                    <a:pt x="0" y="509016"/>
                    <a:pt x="0" y="327914"/>
                  </a:cubicBezTo>
                  <a:close/>
                </a:path>
              </a:pathLst>
            </a:custGeom>
            <a:solidFill>
              <a:srgbClr val="F26A3D"/>
            </a:solidFill>
          </p:spPr>
        </p:sp>
      </p:grpSp>
      <p:sp>
        <p:nvSpPr>
          <p:cNvPr name="TextBox 84" id="84"/>
          <p:cNvSpPr txBox="true"/>
          <p:nvPr/>
        </p:nvSpPr>
        <p:spPr>
          <a:xfrm rot="0">
            <a:off x="14526939" y="9189358"/>
            <a:ext cx="2688079" cy="291608"/>
          </a:xfrm>
          <a:prstGeom prst="rect">
            <a:avLst/>
          </a:prstGeom>
        </p:spPr>
        <p:txBody>
          <a:bodyPr anchor="t" rtlCol="false" tIns="0" lIns="0" bIns="0" rIns="0">
            <a:spAutoFit/>
          </a:bodyPr>
          <a:lstStyle/>
          <a:p>
            <a:pPr algn="ctr">
              <a:lnSpc>
                <a:spcPts val="2071"/>
              </a:lnSpc>
            </a:pPr>
            <a:r>
              <a:rPr lang="en-US" sz="1501" b="true">
                <a:solidFill>
                  <a:srgbClr val="10201D"/>
                </a:solidFill>
                <a:latin typeface="Inter Bold"/>
                <a:ea typeface="Inter Bold"/>
                <a:cs typeface="Inter Bold"/>
                <a:sym typeface="Inter Bold"/>
              </a:rPr>
              <a:t>Inspect</a:t>
            </a:r>
          </a:p>
        </p:txBody>
      </p:sp>
      <p:sp>
        <p:nvSpPr>
          <p:cNvPr name="TextBox 85" id="85"/>
          <p:cNvSpPr txBox="true"/>
          <p:nvPr/>
        </p:nvSpPr>
        <p:spPr>
          <a:xfrm rot="0">
            <a:off x="570443" y="1104900"/>
            <a:ext cx="4258595" cy="693417"/>
          </a:xfrm>
          <a:prstGeom prst="rect">
            <a:avLst/>
          </a:prstGeom>
        </p:spPr>
        <p:txBody>
          <a:bodyPr anchor="t" rtlCol="false" tIns="0" lIns="0" bIns="0" rIns="0">
            <a:spAutoFit/>
          </a:bodyPr>
          <a:lstStyle/>
          <a:p>
            <a:pPr algn="l">
              <a:lnSpc>
                <a:spcPts val="5389"/>
              </a:lnSpc>
            </a:pPr>
            <a:r>
              <a:rPr lang="en-US" b="true" sz="5103" spc="-102">
                <a:solidFill>
                  <a:srgbClr val="0D9488"/>
                </a:solidFill>
                <a:latin typeface="Inter Bold"/>
                <a:ea typeface="Inter Bold"/>
                <a:cs typeface="Inter Bold"/>
                <a:sym typeface="Inter Bold"/>
              </a:rPr>
              <a:t>Core Features</a:t>
            </a:r>
          </a:p>
        </p:txBody>
      </p:sp>
    </p:spTree>
  </p:cSld>
  <p:clrMapOvr>
    <a:masterClrMapping/>
  </p:clrMapOvr>
</p:sld>
</file>

<file path=ppt/slides/slide5.xml><?xml version="1.0" encoding="utf-8"?>
<p:sld xmlns:p="http://schemas.openxmlformats.org/presentationml/2006/main" xmlns:a="http://schemas.openxmlformats.org/drawingml/2006/main">
  <p:cSld>
    <p:bg>
      <p:bgPr>
        <a:solidFill>
          <a:srgbClr val="F2F4ED"/>
        </a:solidFill>
      </p:bgPr>
    </p:bg>
    <p:spTree>
      <p:nvGrpSpPr>
        <p:cNvPr id="1" name=""/>
        <p:cNvGrpSpPr/>
        <p:nvPr/>
      </p:nvGrpSpPr>
      <p:grpSpPr>
        <a:xfrm>
          <a:off x="0" y="0"/>
          <a:ext cx="0" cy="0"/>
          <a:chOff x="0" y="0"/>
          <a:chExt cx="0" cy="0"/>
        </a:xfrm>
      </p:grpSpPr>
      <p:sp>
        <p:nvSpPr>
          <p:cNvPr name="TextBox 2" id="2"/>
          <p:cNvSpPr txBox="true"/>
          <p:nvPr/>
        </p:nvSpPr>
        <p:spPr>
          <a:xfrm rot="0">
            <a:off x="762581" y="690439"/>
            <a:ext cx="17539268" cy="269434"/>
          </a:xfrm>
          <a:prstGeom prst="rect">
            <a:avLst/>
          </a:prstGeom>
        </p:spPr>
        <p:txBody>
          <a:bodyPr anchor="t" rtlCol="false" tIns="0" lIns="0" bIns="0" rIns="0">
            <a:spAutoFit/>
          </a:bodyPr>
          <a:lstStyle/>
          <a:p>
            <a:pPr algn="l">
              <a:lnSpc>
                <a:spcPts val="2040"/>
              </a:lnSpc>
            </a:pPr>
            <a:r>
              <a:rPr lang="en-US" sz="1651" spc="90">
                <a:solidFill>
                  <a:srgbClr val="0A7C78"/>
                </a:solidFill>
                <a:latin typeface="IBM Plex Sans"/>
                <a:ea typeface="IBM Plex Sans"/>
                <a:cs typeface="IBM Plex Sans"/>
                <a:sym typeface="IBM Plex Sans"/>
              </a:rPr>
              <a:t>LANDSCAPE COMPARISON</a:t>
            </a:r>
          </a:p>
        </p:txBody>
      </p:sp>
      <p:sp>
        <p:nvSpPr>
          <p:cNvPr name="TextBox 3" id="3"/>
          <p:cNvSpPr txBox="true"/>
          <p:nvPr/>
        </p:nvSpPr>
        <p:spPr>
          <a:xfrm rot="0">
            <a:off x="762581" y="1232402"/>
            <a:ext cx="16776687" cy="610876"/>
          </a:xfrm>
          <a:prstGeom prst="rect">
            <a:avLst/>
          </a:prstGeom>
        </p:spPr>
        <p:txBody>
          <a:bodyPr anchor="t" rtlCol="false" tIns="0" lIns="0" bIns="0" rIns="0">
            <a:spAutoFit/>
          </a:bodyPr>
          <a:lstStyle/>
          <a:p>
            <a:pPr algn="l">
              <a:lnSpc>
                <a:spcPts val="5389"/>
              </a:lnSpc>
            </a:pPr>
            <a:r>
              <a:rPr lang="en-US" b="true" sz="5103" spc="-102">
                <a:solidFill>
                  <a:srgbClr val="0D9488"/>
                </a:solidFill>
                <a:latin typeface="Inter Bold"/>
                <a:ea typeface="Inter Bold"/>
                <a:cs typeface="Inter Bold"/>
                <a:sym typeface="Inter Bold"/>
              </a:rPr>
              <a:t>Where RentSphere Fits</a:t>
            </a:r>
          </a:p>
        </p:txBody>
      </p:sp>
      <p:sp>
        <p:nvSpPr>
          <p:cNvPr name="TextBox 4" id="4"/>
          <p:cNvSpPr txBox="true"/>
          <p:nvPr/>
        </p:nvSpPr>
        <p:spPr>
          <a:xfrm rot="0">
            <a:off x="762581" y="2129238"/>
            <a:ext cx="17539268" cy="427436"/>
          </a:xfrm>
          <a:prstGeom prst="rect">
            <a:avLst/>
          </a:prstGeom>
        </p:spPr>
        <p:txBody>
          <a:bodyPr anchor="t" rtlCol="false" tIns="0" lIns="0" bIns="0" rIns="0">
            <a:spAutoFit/>
          </a:bodyPr>
          <a:lstStyle/>
          <a:p>
            <a:pPr algn="l">
              <a:lnSpc>
                <a:spcPts val="3521"/>
              </a:lnSpc>
            </a:pPr>
            <a:r>
              <a:rPr lang="en-US" sz="2551">
                <a:solidFill>
                  <a:srgbClr val="10201D"/>
                </a:solidFill>
                <a:latin typeface="Inter"/>
                <a:ea typeface="Inter"/>
                <a:cs typeface="Inter"/>
                <a:sym typeface="Inter"/>
              </a:rPr>
              <a:t>Comparing verified competitor information with RentSphere’s implemented capabilities.</a:t>
            </a:r>
          </a:p>
        </p:txBody>
      </p:sp>
      <p:graphicFrame>
        <p:nvGraphicFramePr>
          <p:cNvPr name="Table 5" id="5"/>
          <p:cNvGraphicFramePr>
            <a:graphicFrameLocks noGrp="true"/>
          </p:cNvGraphicFramePr>
          <p:nvPr/>
        </p:nvGraphicFramePr>
        <p:xfrm>
          <a:off x="762576" y="2843053"/>
          <a:ext cx="13928297" cy="6563273"/>
        </p:xfrm>
        <a:graphic>
          <a:graphicData uri="http://schemas.openxmlformats.org/drawingml/2006/table">
            <a:tbl>
              <a:tblPr/>
              <a:tblGrid>
                <a:gridCol w="2673974"/>
                <a:gridCol w="2673974"/>
                <a:gridCol w="2673974"/>
                <a:gridCol w="2673974"/>
                <a:gridCol w="3003594"/>
                <a:gridCol w="228807"/>
              </a:tblGrid>
              <a:tr h="941400">
                <a:tc>
                  <a:txBody>
                    <a:bodyPr anchor="t" rtlCol="false"/>
                    <a:lstStyle/>
                    <a:p>
                      <a:pPr algn="l">
                        <a:lnSpc>
                          <a:spcPts val="2521"/>
                        </a:lnSpc>
                        <a:defRPr/>
                      </a:pPr>
                      <a:r>
                        <a:rPr lang="en-US" sz="2101" b="true">
                          <a:solidFill>
                            <a:srgbClr val="FFFFFF"/>
                          </a:solidFill>
                          <a:latin typeface="Inter Bold"/>
                          <a:ea typeface="Inter Bold"/>
                          <a:cs typeface="Inter Bold"/>
                          <a:sym typeface="Inter Bold"/>
                        </a:rPr>
                        <a:t>Platform</a:t>
                      </a:r>
                      <a:endParaRPr lang="en-US" sz="1100"/>
                    </a:p>
                  </a:txBody>
                  <a:tcPr marL="50799" marR="50799" marT="50799" marB="50799" anchor="ctr">
                    <a:lnL cmpd="sng" algn="ctr" cap="flat" w="12700">
                      <a:solidFill>
                        <a:srgbClr val="CBD4CE"/>
                      </a:solidFill>
                      <a:prstDash val="solid"/>
                      <a:round/>
                      <a:headEnd type="none" w="med" len="med"/>
                      <a:tailEnd type="none" w="med" len="med"/>
                    </a:lnL>
                    <a:lnR cmpd="sng" algn="ctr" cap="flat" w="12700">
                      <a:solidFill>
                        <a:srgbClr val="CBD4CE"/>
                      </a:solidFill>
                      <a:prstDash val="solid"/>
                      <a:round/>
                      <a:headEnd type="none" w="med" len="med"/>
                      <a:tailEnd type="none" w="med" len="med"/>
                    </a:lnR>
                    <a:lnT cmpd="sng" algn="ctr" cap="flat" w="12700">
                      <a:solidFill>
                        <a:srgbClr val="CBD4CE"/>
                      </a:solidFill>
                      <a:prstDash val="solid"/>
                      <a:round/>
                      <a:headEnd type="none" w="med" len="med"/>
                      <a:tailEnd type="none" w="med" len="med"/>
                    </a:lnT>
                    <a:lnB cmpd="sng" algn="ctr" cap="flat" w="12700">
                      <a:solidFill>
                        <a:srgbClr val="CBD4CE"/>
                      </a:solidFill>
                      <a:prstDash val="solid"/>
                      <a:round/>
                      <a:headEnd type="none" w="med" len="med"/>
                      <a:tailEnd type="none" w="med" len="med"/>
                    </a:lnB>
                    <a:solidFill>
                      <a:srgbClr val="0A7C78"/>
                    </a:solidFill>
                  </a:tcPr>
                </a:tc>
                <a:tc>
                  <a:txBody>
                    <a:bodyPr anchor="t" rtlCol="false"/>
                    <a:lstStyle/>
                    <a:p>
                      <a:pPr algn="l">
                        <a:lnSpc>
                          <a:spcPts val="2521"/>
                        </a:lnSpc>
                        <a:defRPr/>
                      </a:pPr>
                      <a:r>
                        <a:rPr lang="en-US" sz="2101" b="true">
                          <a:solidFill>
                            <a:srgbClr val="FFFFFF"/>
                          </a:solidFill>
                          <a:latin typeface="Inter Bold"/>
                          <a:ea typeface="Inter Bold"/>
                          <a:cs typeface="Inter Bold"/>
                          <a:sym typeface="Inter Bold"/>
                        </a:rPr>
                        <a:t>General discovery</a:t>
                      </a:r>
                      <a:endParaRPr lang="en-US" sz="1100"/>
                    </a:p>
                  </a:txBody>
                  <a:tcPr marL="50799" marR="50799" marT="50799" marB="50799" anchor="ctr">
                    <a:lnL cmpd="sng" algn="ctr" cap="flat" w="12700">
                      <a:solidFill>
                        <a:srgbClr val="CBD4CE"/>
                      </a:solidFill>
                      <a:prstDash val="solid"/>
                      <a:round/>
                      <a:headEnd type="none" w="med" len="med"/>
                      <a:tailEnd type="none" w="med" len="med"/>
                    </a:lnL>
                    <a:lnR cmpd="sng" algn="ctr" cap="flat" w="12700">
                      <a:solidFill>
                        <a:srgbClr val="CBD4CE"/>
                      </a:solidFill>
                      <a:prstDash val="solid"/>
                      <a:round/>
                      <a:headEnd type="none" w="med" len="med"/>
                      <a:tailEnd type="none" w="med" len="med"/>
                    </a:lnR>
                    <a:lnT cmpd="sng" algn="ctr" cap="flat" w="12700">
                      <a:solidFill>
                        <a:srgbClr val="CBD4CE"/>
                      </a:solidFill>
                      <a:prstDash val="solid"/>
                      <a:round/>
                      <a:headEnd type="none" w="med" len="med"/>
                      <a:tailEnd type="none" w="med" len="med"/>
                    </a:lnT>
                    <a:lnB cmpd="sng" algn="ctr" cap="flat" w="12700">
                      <a:solidFill>
                        <a:srgbClr val="CBD4CE"/>
                      </a:solidFill>
                      <a:prstDash val="solid"/>
                      <a:round/>
                      <a:headEnd type="none" w="med" len="med"/>
                      <a:tailEnd type="none" w="med" len="med"/>
                    </a:lnB>
                    <a:solidFill>
                      <a:srgbClr val="0A7C78"/>
                    </a:solidFill>
                  </a:tcPr>
                </a:tc>
                <a:tc>
                  <a:txBody>
                    <a:bodyPr anchor="t" rtlCol="false"/>
                    <a:lstStyle/>
                    <a:p>
                      <a:pPr algn="l">
                        <a:lnSpc>
                          <a:spcPts val="2521"/>
                        </a:lnSpc>
                        <a:defRPr/>
                      </a:pPr>
                      <a:r>
                        <a:rPr lang="en-US" sz="2101" b="true">
                          <a:solidFill>
                            <a:srgbClr val="FFFFFF"/>
                          </a:solidFill>
                          <a:latin typeface="Inter Bold"/>
                          <a:ea typeface="Inter Bold"/>
                          <a:cs typeface="Inter Bold"/>
                          <a:sym typeface="Inter Bold"/>
                        </a:rPr>
                        <a:t>Product rental</a:t>
                      </a:r>
                      <a:endParaRPr lang="en-US" sz="1100"/>
                    </a:p>
                  </a:txBody>
                  <a:tcPr marL="50799" marR="50799" marT="50799" marB="50799" anchor="ctr">
                    <a:lnL cmpd="sng" algn="ctr" cap="flat" w="12700">
                      <a:solidFill>
                        <a:srgbClr val="CBD4CE"/>
                      </a:solidFill>
                      <a:prstDash val="solid"/>
                      <a:round/>
                      <a:headEnd type="none" w="med" len="med"/>
                      <a:tailEnd type="none" w="med" len="med"/>
                    </a:lnL>
                    <a:lnR cmpd="sng" algn="ctr" cap="flat" w="12700">
                      <a:solidFill>
                        <a:srgbClr val="CBD4CE"/>
                      </a:solidFill>
                      <a:prstDash val="solid"/>
                      <a:round/>
                      <a:headEnd type="none" w="med" len="med"/>
                      <a:tailEnd type="none" w="med" len="med"/>
                    </a:lnR>
                    <a:lnT cmpd="sng" algn="ctr" cap="flat" w="12700">
                      <a:solidFill>
                        <a:srgbClr val="CBD4CE"/>
                      </a:solidFill>
                      <a:prstDash val="solid"/>
                      <a:round/>
                      <a:headEnd type="none" w="med" len="med"/>
                      <a:tailEnd type="none" w="med" len="med"/>
                    </a:lnT>
                    <a:lnB cmpd="sng" algn="ctr" cap="flat" w="12700">
                      <a:solidFill>
                        <a:srgbClr val="CBD4CE"/>
                      </a:solidFill>
                      <a:prstDash val="solid"/>
                      <a:round/>
                      <a:headEnd type="none" w="med" len="med"/>
                      <a:tailEnd type="none" w="med" len="med"/>
                    </a:lnB>
                    <a:solidFill>
                      <a:srgbClr val="0A7C78"/>
                    </a:solidFill>
                  </a:tcPr>
                </a:tc>
                <a:tc>
                  <a:txBody>
                    <a:bodyPr anchor="t" rtlCol="false"/>
                    <a:lstStyle/>
                    <a:p>
                      <a:pPr algn="l">
                        <a:lnSpc>
                          <a:spcPts val="2521"/>
                        </a:lnSpc>
                        <a:defRPr/>
                      </a:pPr>
                      <a:r>
                        <a:rPr lang="en-US" sz="2101" b="true">
                          <a:solidFill>
                            <a:srgbClr val="FFFFFF"/>
                          </a:solidFill>
                          <a:latin typeface="Inter Bold"/>
                          <a:ea typeface="Inter Bold"/>
                          <a:cs typeface="Inter Bold"/>
                          <a:sym typeface="Inter Bold"/>
                        </a:rPr>
                        <a:t>Storage management</a:t>
                      </a:r>
                      <a:endParaRPr lang="en-US" sz="1100"/>
                    </a:p>
                  </a:txBody>
                  <a:tcPr marL="50799" marR="50799" marT="50799" marB="50799" anchor="ctr">
                    <a:lnL cmpd="sng" algn="ctr" cap="flat" w="12700">
                      <a:solidFill>
                        <a:srgbClr val="CBD4CE"/>
                      </a:solidFill>
                      <a:prstDash val="solid"/>
                      <a:round/>
                      <a:headEnd type="none" w="med" len="med"/>
                      <a:tailEnd type="none" w="med" len="med"/>
                    </a:lnL>
                    <a:lnR cmpd="sng" algn="ctr" cap="flat" w="12700">
                      <a:solidFill>
                        <a:srgbClr val="CBD4CE"/>
                      </a:solidFill>
                      <a:prstDash val="solid"/>
                      <a:round/>
                      <a:headEnd type="none" w="med" len="med"/>
                      <a:tailEnd type="none" w="med" len="med"/>
                    </a:lnR>
                    <a:lnT cmpd="sng" algn="ctr" cap="flat" w="12700">
                      <a:solidFill>
                        <a:srgbClr val="CBD4CE"/>
                      </a:solidFill>
                      <a:prstDash val="solid"/>
                      <a:round/>
                      <a:headEnd type="none" w="med" len="med"/>
                      <a:tailEnd type="none" w="med" len="med"/>
                    </a:lnT>
                    <a:lnB cmpd="sng" algn="ctr" cap="flat" w="12700">
                      <a:solidFill>
                        <a:srgbClr val="CBD4CE"/>
                      </a:solidFill>
                      <a:prstDash val="solid"/>
                      <a:round/>
                      <a:headEnd type="none" w="med" len="med"/>
                      <a:tailEnd type="none" w="med" len="med"/>
                    </a:lnB>
                    <a:solidFill>
                      <a:srgbClr val="0A7C78"/>
                    </a:solidFill>
                  </a:tcPr>
                </a:tc>
                <a:tc>
                  <a:txBody>
                    <a:bodyPr anchor="t" rtlCol="false"/>
                    <a:lstStyle/>
                    <a:p>
                      <a:pPr algn="l">
                        <a:lnSpc>
                          <a:spcPts val="2521"/>
                        </a:lnSpc>
                        <a:defRPr/>
                      </a:pPr>
                      <a:r>
                        <a:rPr lang="en-US" sz="2101" b="true">
                          <a:solidFill>
                            <a:srgbClr val="FFFFFF"/>
                          </a:solidFill>
                          <a:latin typeface="Inter Bold"/>
                          <a:ea typeface="Inter Bold"/>
                          <a:cs typeface="Inter Bold"/>
                          <a:sym typeface="Inter Bold"/>
                        </a:rPr>
                        <a:t>Explicit lifecycle tracking</a:t>
                      </a:r>
                      <a:endParaRPr lang="en-US" sz="1100"/>
                    </a:p>
                  </a:txBody>
                  <a:tcPr marL="50799" marR="50799" marT="50799" marB="50799" anchor="ctr">
                    <a:lnL cmpd="sng" algn="ctr" cap="flat" w="12700">
                      <a:solidFill>
                        <a:srgbClr val="CBD4CE"/>
                      </a:solidFill>
                      <a:prstDash val="solid"/>
                      <a:round/>
                      <a:headEnd type="none" w="med" len="med"/>
                      <a:tailEnd type="none" w="med" len="med"/>
                    </a:lnL>
                    <a:lnR cmpd="sng" algn="ctr" cap="flat" w="12700">
                      <a:solidFill>
                        <a:srgbClr val="CBD4CE"/>
                      </a:solidFill>
                      <a:prstDash val="solid"/>
                      <a:round/>
                      <a:headEnd type="none" w="med" len="med"/>
                      <a:tailEnd type="none" w="med" len="med"/>
                    </a:lnR>
                    <a:lnT cmpd="sng" algn="ctr" cap="flat" w="12700">
                      <a:solidFill>
                        <a:srgbClr val="CBD4CE"/>
                      </a:solidFill>
                      <a:prstDash val="solid"/>
                      <a:round/>
                      <a:headEnd type="none" w="med" len="med"/>
                      <a:tailEnd type="none" w="med" len="med"/>
                    </a:lnT>
                    <a:lnB cmpd="sng" algn="ctr" cap="flat" w="12700">
                      <a:solidFill>
                        <a:srgbClr val="CBD4CE"/>
                      </a:solidFill>
                      <a:prstDash val="solid"/>
                      <a:round/>
                      <a:headEnd type="none" w="med" len="med"/>
                      <a:tailEnd type="none" w="med" len="med"/>
                    </a:lnB>
                    <a:solidFill>
                      <a:srgbClr val="0A7C78"/>
                    </a:solidFill>
                  </a:tcPr>
                </a:tc>
                <a:tc>
                  <a:txBody>
                    <a:bodyPr anchor="t" rtlCol="false"/>
                    <a:lstStyle/>
                    <a:p>
                      <a:pPr algn="l">
                        <a:lnSpc>
                          <a:spcPts val="2521"/>
                        </a:lnSpc>
                        <a:defRPr/>
                      </a:pPr>
                      <a:endParaRPr lang="en-US" sz="1100"/>
                    </a:p>
                  </a:txBody>
                  <a:tcPr marL="50799" marR="50799" marT="50799" marB="50799" anchor="ctr">
                    <a:lnL cmpd="sng" algn="ctr" cap="flat" w="12700">
                      <a:solidFill>
                        <a:srgbClr val="CBD4CE"/>
                      </a:solidFill>
                      <a:prstDash val="solid"/>
                      <a:round/>
                      <a:headEnd type="none" w="med" len="med"/>
                      <a:tailEnd type="none" w="med" len="med"/>
                    </a:lnL>
                    <a:lnR cmpd="sng" algn="ctr" cap="flat" w="12700">
                      <a:solidFill>
                        <a:srgbClr val="CBD4CE"/>
                      </a:solidFill>
                      <a:prstDash val="solid"/>
                      <a:round/>
                      <a:headEnd type="none" w="med" len="med"/>
                      <a:tailEnd type="none" w="med" len="med"/>
                    </a:lnR>
                    <a:lnT cmpd="sng" algn="ctr" cap="flat" w="12700">
                      <a:solidFill>
                        <a:srgbClr val="CBD4CE"/>
                      </a:solidFill>
                      <a:prstDash val="solid"/>
                      <a:round/>
                      <a:headEnd type="none" w="med" len="med"/>
                      <a:tailEnd type="none" w="med" len="med"/>
                    </a:lnT>
                    <a:lnB cmpd="sng" algn="ctr" cap="flat" w="12700">
                      <a:solidFill>
                        <a:srgbClr val="CBD4CE"/>
                      </a:solidFill>
                      <a:prstDash val="solid"/>
                      <a:round/>
                      <a:headEnd type="none" w="med" len="med"/>
                      <a:tailEnd type="none" w="med" len="med"/>
                    </a:lnB>
                    <a:solidFill>
                      <a:srgbClr val="0A7C78"/>
                    </a:solidFill>
                  </a:tcPr>
                </a:tc>
              </a:tr>
              <a:tr h="1507868">
                <a:tc>
                  <a:txBody>
                    <a:bodyPr anchor="t" rtlCol="false"/>
                    <a:lstStyle/>
                    <a:p>
                      <a:pPr algn="l">
                        <a:lnSpc>
                          <a:spcPts val="2521"/>
                        </a:lnSpc>
                        <a:defRPr/>
                      </a:pPr>
                      <a:r>
                        <a:rPr lang="en-US" sz="2101" b="true">
                          <a:solidFill>
                            <a:srgbClr val="10201D"/>
                          </a:solidFill>
                          <a:latin typeface="Inter Bold"/>
                          <a:ea typeface="Inter Bold"/>
                          <a:cs typeface="Inter Bold"/>
                          <a:sym typeface="Inter Bold"/>
                        </a:rPr>
                        <a:t>OLX</a:t>
                      </a:r>
                      <a:endParaRPr lang="en-US" sz="1100"/>
                    </a:p>
                  </a:txBody>
                  <a:tcPr marL="50799" marR="50799" marT="50799" marB="50799" anchor="ctr">
                    <a:lnL cmpd="sng" algn="ctr" cap="flat" w="12700">
                      <a:solidFill>
                        <a:srgbClr val="CBD4CE"/>
                      </a:solidFill>
                      <a:prstDash val="solid"/>
                      <a:round/>
                      <a:headEnd type="none" w="med" len="med"/>
                      <a:tailEnd type="none" w="med" len="med"/>
                    </a:lnL>
                    <a:lnR cmpd="sng" algn="ctr" cap="flat" w="12700">
                      <a:solidFill>
                        <a:srgbClr val="CBD4CE"/>
                      </a:solidFill>
                      <a:prstDash val="solid"/>
                      <a:round/>
                      <a:headEnd type="none" w="med" len="med"/>
                      <a:tailEnd type="none" w="med" len="med"/>
                    </a:lnR>
                    <a:lnT cmpd="sng" algn="ctr" cap="flat" w="12700">
                      <a:solidFill>
                        <a:srgbClr val="CBD4CE"/>
                      </a:solidFill>
                      <a:prstDash val="solid"/>
                      <a:round/>
                      <a:headEnd type="none" w="med" len="med"/>
                      <a:tailEnd type="none" w="med" len="med"/>
                    </a:lnT>
                    <a:lnB cmpd="sng" algn="ctr" cap="flat" w="12700">
                      <a:solidFill>
                        <a:srgbClr val="CBD4CE"/>
                      </a:solidFill>
                      <a:prstDash val="solid"/>
                      <a:round/>
                      <a:headEnd type="none" w="med" len="med"/>
                      <a:tailEnd type="none" w="med" len="med"/>
                    </a:lnB>
                  </a:tcPr>
                </a:tc>
                <a:tc>
                  <a:txBody>
                    <a:bodyPr anchor="t" rtlCol="false"/>
                    <a:lstStyle/>
                    <a:p>
                      <a:pPr algn="l">
                        <a:lnSpc>
                          <a:spcPts val="2521"/>
                        </a:lnSpc>
                        <a:defRPr/>
                      </a:pPr>
                      <a:r>
                        <a:rPr lang="en-US" sz="2101">
                          <a:solidFill>
                            <a:srgbClr val="10201D"/>
                          </a:solidFill>
                          <a:latin typeface="Inter"/>
                          <a:ea typeface="Inter"/>
                          <a:cs typeface="Inter"/>
                          <a:sym typeface="Inter"/>
                        </a:rPr>
                        <a:t>Yes, local classifieds to buy, sell and rent used goods</a:t>
                      </a:r>
                      <a:endParaRPr lang="en-US" sz="1100"/>
                    </a:p>
                  </a:txBody>
                  <a:tcPr marL="50799" marR="50799" marT="50799" marB="50799" anchor="ctr">
                    <a:lnL cmpd="sng" algn="ctr" cap="flat" w="12700">
                      <a:solidFill>
                        <a:srgbClr val="CBD4CE"/>
                      </a:solidFill>
                      <a:prstDash val="solid"/>
                      <a:round/>
                      <a:headEnd type="none" w="med" len="med"/>
                      <a:tailEnd type="none" w="med" len="med"/>
                    </a:lnL>
                    <a:lnR cmpd="sng" algn="ctr" cap="flat" w="12700">
                      <a:solidFill>
                        <a:srgbClr val="CBD4CE"/>
                      </a:solidFill>
                      <a:prstDash val="solid"/>
                      <a:round/>
                      <a:headEnd type="none" w="med" len="med"/>
                      <a:tailEnd type="none" w="med" len="med"/>
                    </a:lnR>
                    <a:lnT cmpd="sng" algn="ctr" cap="flat" w="12700">
                      <a:solidFill>
                        <a:srgbClr val="CBD4CE"/>
                      </a:solidFill>
                      <a:prstDash val="solid"/>
                      <a:round/>
                      <a:headEnd type="none" w="med" len="med"/>
                      <a:tailEnd type="none" w="med" len="med"/>
                    </a:lnT>
                    <a:lnB cmpd="sng" algn="ctr" cap="flat" w="12700">
                      <a:solidFill>
                        <a:srgbClr val="CBD4CE"/>
                      </a:solidFill>
                      <a:prstDash val="solid"/>
                      <a:round/>
                      <a:headEnd type="none" w="med" len="med"/>
                      <a:tailEnd type="none" w="med" len="med"/>
                    </a:lnB>
                  </a:tcPr>
                </a:tc>
                <a:tc>
                  <a:txBody>
                    <a:bodyPr anchor="t" rtlCol="false"/>
                    <a:lstStyle/>
                    <a:p>
                      <a:pPr algn="l">
                        <a:lnSpc>
                          <a:spcPts val="2521"/>
                        </a:lnSpc>
                        <a:defRPr/>
                      </a:pPr>
                      <a:r>
                        <a:rPr lang="en-US" sz="2101">
                          <a:solidFill>
                            <a:srgbClr val="10201D"/>
                          </a:solidFill>
                          <a:latin typeface="Inter"/>
                          <a:ea typeface="Inter"/>
                          <a:cs typeface="Inter"/>
                          <a:sym typeface="Inter"/>
                        </a:rPr>
                        <a:t>Limited: rent ads exist, mainly property</a:t>
                      </a:r>
                      <a:endParaRPr lang="en-US" sz="1100"/>
                    </a:p>
                  </a:txBody>
                  <a:tcPr marL="50799" marR="50799" marT="50799" marB="50799" anchor="ctr">
                    <a:lnL cmpd="sng" algn="ctr" cap="flat" w="12700">
                      <a:solidFill>
                        <a:srgbClr val="CBD4CE"/>
                      </a:solidFill>
                      <a:prstDash val="solid"/>
                      <a:round/>
                      <a:headEnd type="none" w="med" len="med"/>
                      <a:tailEnd type="none" w="med" len="med"/>
                    </a:lnL>
                    <a:lnR cmpd="sng" algn="ctr" cap="flat" w="12700">
                      <a:solidFill>
                        <a:srgbClr val="CBD4CE"/>
                      </a:solidFill>
                      <a:prstDash val="solid"/>
                      <a:round/>
                      <a:headEnd type="none" w="med" len="med"/>
                      <a:tailEnd type="none" w="med" len="med"/>
                    </a:lnR>
                    <a:lnT cmpd="sng" algn="ctr" cap="flat" w="12700">
                      <a:solidFill>
                        <a:srgbClr val="CBD4CE"/>
                      </a:solidFill>
                      <a:prstDash val="solid"/>
                      <a:round/>
                      <a:headEnd type="none" w="med" len="med"/>
                      <a:tailEnd type="none" w="med" len="med"/>
                    </a:lnT>
                    <a:lnB cmpd="sng" algn="ctr" cap="flat" w="12700">
                      <a:solidFill>
                        <a:srgbClr val="CBD4CE"/>
                      </a:solidFill>
                      <a:prstDash val="solid"/>
                      <a:round/>
                      <a:headEnd type="none" w="med" len="med"/>
                      <a:tailEnd type="none" w="med" len="med"/>
                    </a:lnB>
                  </a:tcPr>
                </a:tc>
                <a:tc>
                  <a:txBody>
                    <a:bodyPr anchor="t" rtlCol="false"/>
                    <a:lstStyle/>
                    <a:p>
                      <a:pPr algn="l">
                        <a:lnSpc>
                          <a:spcPts val="2521"/>
                        </a:lnSpc>
                        <a:defRPr/>
                      </a:pPr>
                      <a:r>
                        <a:rPr lang="en-US" sz="2101">
                          <a:solidFill>
                            <a:srgbClr val="10201D"/>
                          </a:solidFill>
                          <a:latin typeface="Inter"/>
                          <a:ea typeface="Inter"/>
                          <a:cs typeface="Inter"/>
                          <a:sym typeface="Inter"/>
                        </a:rPr>
                        <a:t>Not offered</a:t>
                      </a:r>
                      <a:endParaRPr lang="en-US" sz="1100"/>
                    </a:p>
                  </a:txBody>
                  <a:tcPr marL="50799" marR="50799" marT="50799" marB="50799" anchor="ctr">
                    <a:lnL cmpd="sng" algn="ctr" cap="flat" w="12700">
                      <a:solidFill>
                        <a:srgbClr val="CBD4CE"/>
                      </a:solidFill>
                      <a:prstDash val="solid"/>
                      <a:round/>
                      <a:headEnd type="none" w="med" len="med"/>
                      <a:tailEnd type="none" w="med" len="med"/>
                    </a:lnL>
                    <a:lnR cmpd="sng" algn="ctr" cap="flat" w="12700">
                      <a:solidFill>
                        <a:srgbClr val="CBD4CE"/>
                      </a:solidFill>
                      <a:prstDash val="solid"/>
                      <a:round/>
                      <a:headEnd type="none" w="med" len="med"/>
                      <a:tailEnd type="none" w="med" len="med"/>
                    </a:lnR>
                    <a:lnT cmpd="sng" algn="ctr" cap="flat" w="12700">
                      <a:solidFill>
                        <a:srgbClr val="CBD4CE"/>
                      </a:solidFill>
                      <a:prstDash val="solid"/>
                      <a:round/>
                      <a:headEnd type="none" w="med" len="med"/>
                      <a:tailEnd type="none" w="med" len="med"/>
                    </a:lnT>
                    <a:lnB cmpd="sng" algn="ctr" cap="flat" w="12700">
                      <a:solidFill>
                        <a:srgbClr val="CBD4CE"/>
                      </a:solidFill>
                      <a:prstDash val="solid"/>
                      <a:round/>
                      <a:headEnd type="none" w="med" len="med"/>
                      <a:tailEnd type="none" w="med" len="med"/>
                    </a:lnB>
                  </a:tcPr>
                </a:tc>
                <a:tc>
                  <a:txBody>
                    <a:bodyPr anchor="t" rtlCol="false"/>
                    <a:lstStyle/>
                    <a:p>
                      <a:pPr algn="l">
                        <a:lnSpc>
                          <a:spcPts val="2521"/>
                        </a:lnSpc>
                        <a:defRPr/>
                      </a:pPr>
                      <a:r>
                        <a:rPr lang="en-US" sz="2101">
                          <a:solidFill>
                            <a:srgbClr val="10201D"/>
                          </a:solidFill>
                          <a:latin typeface="Inter"/>
                          <a:ea typeface="Inter"/>
                          <a:cs typeface="Inter"/>
                          <a:sym typeface="Inter"/>
                        </a:rPr>
                        <a:t>No rental lifecycle (ad listings only)</a:t>
                      </a:r>
                      <a:endParaRPr lang="en-US" sz="1100"/>
                    </a:p>
                  </a:txBody>
                  <a:tcPr marL="50799" marR="50799" marT="50799" marB="50799" anchor="ctr">
                    <a:lnL cmpd="sng" algn="ctr" cap="flat" w="12700">
                      <a:solidFill>
                        <a:srgbClr val="CBD4CE"/>
                      </a:solidFill>
                      <a:prstDash val="solid"/>
                      <a:round/>
                      <a:headEnd type="none" w="med" len="med"/>
                      <a:tailEnd type="none" w="med" len="med"/>
                    </a:lnL>
                    <a:lnR cmpd="sng" algn="ctr" cap="flat" w="12700">
                      <a:solidFill>
                        <a:srgbClr val="CBD4CE"/>
                      </a:solidFill>
                      <a:prstDash val="solid"/>
                      <a:round/>
                      <a:headEnd type="none" w="med" len="med"/>
                      <a:tailEnd type="none" w="med" len="med"/>
                    </a:lnR>
                    <a:lnT cmpd="sng" algn="ctr" cap="flat" w="12700">
                      <a:solidFill>
                        <a:srgbClr val="CBD4CE"/>
                      </a:solidFill>
                      <a:prstDash val="solid"/>
                      <a:round/>
                      <a:headEnd type="none" w="med" len="med"/>
                      <a:tailEnd type="none" w="med" len="med"/>
                    </a:lnT>
                    <a:lnB cmpd="sng" algn="ctr" cap="flat" w="12700">
                      <a:solidFill>
                        <a:srgbClr val="CBD4CE"/>
                      </a:solidFill>
                      <a:prstDash val="solid"/>
                      <a:round/>
                      <a:headEnd type="none" w="med" len="med"/>
                      <a:tailEnd type="none" w="med" len="med"/>
                    </a:lnB>
                  </a:tcPr>
                </a:tc>
                <a:tc>
                  <a:txBody>
                    <a:bodyPr anchor="t" rtlCol="false"/>
                    <a:lstStyle/>
                    <a:p>
                      <a:pPr algn="l">
                        <a:lnSpc>
                          <a:spcPts val="2521"/>
                        </a:lnSpc>
                        <a:defRPr/>
                      </a:pPr>
                      <a:endParaRPr lang="en-US" sz="1100"/>
                    </a:p>
                  </a:txBody>
                  <a:tcPr marL="50799" marR="50799" marT="50799" marB="50799" anchor="ctr">
                    <a:lnL cmpd="sng" algn="ctr" cap="flat" w="12700">
                      <a:solidFill>
                        <a:srgbClr val="CBD4CE"/>
                      </a:solidFill>
                      <a:prstDash val="solid"/>
                      <a:round/>
                      <a:headEnd type="none" w="med" len="med"/>
                      <a:tailEnd type="none" w="med" len="med"/>
                    </a:lnL>
                    <a:lnR cmpd="sng" algn="ctr" cap="flat" w="12700">
                      <a:solidFill>
                        <a:srgbClr val="CBD4CE"/>
                      </a:solidFill>
                      <a:prstDash val="solid"/>
                      <a:round/>
                      <a:headEnd type="none" w="med" len="med"/>
                      <a:tailEnd type="none" w="med" len="med"/>
                    </a:lnR>
                    <a:lnT cmpd="sng" algn="ctr" cap="flat" w="12700">
                      <a:solidFill>
                        <a:srgbClr val="CBD4CE"/>
                      </a:solidFill>
                      <a:prstDash val="solid"/>
                      <a:round/>
                      <a:headEnd type="none" w="med" len="med"/>
                      <a:tailEnd type="none" w="med" len="med"/>
                    </a:lnT>
                    <a:lnB cmpd="sng" algn="ctr" cap="flat" w="12700">
                      <a:solidFill>
                        <a:srgbClr val="CBD4CE"/>
                      </a:solidFill>
                      <a:prstDash val="solid"/>
                      <a:round/>
                      <a:headEnd type="none" w="med" len="med"/>
                      <a:tailEnd type="none" w="med" len="med"/>
                    </a:lnB>
                  </a:tcPr>
                </a:tc>
              </a:tr>
              <a:tr h="1645738">
                <a:tc>
                  <a:txBody>
                    <a:bodyPr anchor="t" rtlCol="false"/>
                    <a:lstStyle/>
                    <a:p>
                      <a:pPr algn="l">
                        <a:lnSpc>
                          <a:spcPts val="2521"/>
                        </a:lnSpc>
                        <a:defRPr/>
                      </a:pPr>
                      <a:r>
                        <a:rPr lang="en-US" sz="2101" b="true">
                          <a:solidFill>
                            <a:srgbClr val="10201D"/>
                          </a:solidFill>
                          <a:latin typeface="Inter Bold"/>
                          <a:ea typeface="Inter Bold"/>
                          <a:cs typeface="Inter Bold"/>
                          <a:sym typeface="Inter Bold"/>
                        </a:rPr>
                        <a:t>SharePal</a:t>
                      </a:r>
                      <a:endParaRPr lang="en-US" sz="1100"/>
                    </a:p>
                  </a:txBody>
                  <a:tcPr marL="50799" marR="50799" marT="50799" marB="50799" anchor="ctr">
                    <a:lnL cmpd="sng" algn="ctr" cap="flat" w="12700">
                      <a:solidFill>
                        <a:srgbClr val="CBD4CE"/>
                      </a:solidFill>
                      <a:prstDash val="solid"/>
                      <a:round/>
                      <a:headEnd type="none" w="med" len="med"/>
                      <a:tailEnd type="none" w="med" len="med"/>
                    </a:lnL>
                    <a:lnR cmpd="sng" algn="ctr" cap="flat" w="12700">
                      <a:solidFill>
                        <a:srgbClr val="CBD4CE"/>
                      </a:solidFill>
                      <a:prstDash val="solid"/>
                      <a:round/>
                      <a:headEnd type="none" w="med" len="med"/>
                      <a:tailEnd type="none" w="med" len="med"/>
                    </a:lnR>
                    <a:lnT cmpd="sng" algn="ctr" cap="flat" w="12700">
                      <a:solidFill>
                        <a:srgbClr val="CBD4CE"/>
                      </a:solidFill>
                      <a:prstDash val="solid"/>
                      <a:round/>
                      <a:headEnd type="none" w="med" len="med"/>
                      <a:tailEnd type="none" w="med" len="med"/>
                    </a:lnT>
                    <a:lnB cmpd="sng" algn="ctr" cap="flat" w="12700">
                      <a:solidFill>
                        <a:srgbClr val="CBD4CE"/>
                      </a:solidFill>
                      <a:prstDash val="solid"/>
                      <a:round/>
                      <a:headEnd type="none" w="med" len="med"/>
                      <a:tailEnd type="none" w="med" len="med"/>
                    </a:lnB>
                  </a:tcPr>
                </a:tc>
                <a:tc>
                  <a:txBody>
                    <a:bodyPr anchor="t" rtlCol="false"/>
                    <a:lstStyle/>
                    <a:p>
                      <a:pPr algn="l">
                        <a:lnSpc>
                          <a:spcPts val="2521"/>
                        </a:lnSpc>
                        <a:defRPr/>
                      </a:pPr>
                      <a:r>
                        <a:rPr lang="en-US" sz="2101">
                          <a:solidFill>
                            <a:srgbClr val="10201D"/>
                          </a:solidFill>
                          <a:latin typeface="Inter"/>
                          <a:ea typeface="Inter"/>
                          <a:cs typeface="Inter"/>
                          <a:sym typeface="Inter"/>
                        </a:rPr>
                        <a:t>Browse by category and city</a:t>
                      </a:r>
                      <a:endParaRPr lang="en-US" sz="1100"/>
                    </a:p>
                  </a:txBody>
                  <a:tcPr marL="50799" marR="50799" marT="50799" marB="50799" anchor="ctr">
                    <a:lnL cmpd="sng" algn="ctr" cap="flat" w="12700">
                      <a:solidFill>
                        <a:srgbClr val="CBD4CE"/>
                      </a:solidFill>
                      <a:prstDash val="solid"/>
                      <a:round/>
                      <a:headEnd type="none" w="med" len="med"/>
                      <a:tailEnd type="none" w="med" len="med"/>
                    </a:lnL>
                    <a:lnR cmpd="sng" algn="ctr" cap="flat" w="12700">
                      <a:solidFill>
                        <a:srgbClr val="CBD4CE"/>
                      </a:solidFill>
                      <a:prstDash val="solid"/>
                      <a:round/>
                      <a:headEnd type="none" w="med" len="med"/>
                      <a:tailEnd type="none" w="med" len="med"/>
                    </a:lnR>
                    <a:lnT cmpd="sng" algn="ctr" cap="flat" w="12700">
                      <a:solidFill>
                        <a:srgbClr val="CBD4CE"/>
                      </a:solidFill>
                      <a:prstDash val="solid"/>
                      <a:round/>
                      <a:headEnd type="none" w="med" len="med"/>
                      <a:tailEnd type="none" w="med" len="med"/>
                    </a:lnT>
                    <a:lnB cmpd="sng" algn="ctr" cap="flat" w="12700">
                      <a:solidFill>
                        <a:srgbClr val="CBD4CE"/>
                      </a:solidFill>
                      <a:prstDash val="solid"/>
                      <a:round/>
                      <a:headEnd type="none" w="med" len="med"/>
                      <a:tailEnd type="none" w="med" len="med"/>
                    </a:lnB>
                  </a:tcPr>
                </a:tc>
                <a:tc>
                  <a:txBody>
                    <a:bodyPr anchor="t" rtlCol="false"/>
                    <a:lstStyle/>
                    <a:p>
                      <a:pPr algn="l">
                        <a:lnSpc>
                          <a:spcPts val="2521"/>
                        </a:lnSpc>
                        <a:defRPr/>
                      </a:pPr>
                      <a:r>
                        <a:rPr lang="en-US" sz="2101">
                          <a:solidFill>
                            <a:srgbClr val="10201D"/>
                          </a:solidFill>
                          <a:latin typeface="Inter"/>
                          <a:ea typeface="Inter"/>
                          <a:cs typeface="Inter"/>
                          <a:sym typeface="Inter"/>
                        </a:rPr>
                        <a:t>Yes: trekking and riding gear, cameras, consoles</a:t>
                      </a:r>
                      <a:endParaRPr lang="en-US" sz="1100"/>
                    </a:p>
                  </a:txBody>
                  <a:tcPr marL="50799" marR="50799" marT="50799" marB="50799" anchor="ctr">
                    <a:lnL cmpd="sng" algn="ctr" cap="flat" w="12700">
                      <a:solidFill>
                        <a:srgbClr val="CBD4CE"/>
                      </a:solidFill>
                      <a:prstDash val="solid"/>
                      <a:round/>
                      <a:headEnd type="none" w="med" len="med"/>
                      <a:tailEnd type="none" w="med" len="med"/>
                    </a:lnL>
                    <a:lnR cmpd="sng" algn="ctr" cap="flat" w="12700">
                      <a:solidFill>
                        <a:srgbClr val="CBD4CE"/>
                      </a:solidFill>
                      <a:prstDash val="solid"/>
                      <a:round/>
                      <a:headEnd type="none" w="med" len="med"/>
                      <a:tailEnd type="none" w="med" len="med"/>
                    </a:lnR>
                    <a:lnT cmpd="sng" algn="ctr" cap="flat" w="12700">
                      <a:solidFill>
                        <a:srgbClr val="CBD4CE"/>
                      </a:solidFill>
                      <a:prstDash val="solid"/>
                      <a:round/>
                      <a:headEnd type="none" w="med" len="med"/>
                      <a:tailEnd type="none" w="med" len="med"/>
                    </a:lnT>
                    <a:lnB cmpd="sng" algn="ctr" cap="flat" w="12700">
                      <a:solidFill>
                        <a:srgbClr val="CBD4CE"/>
                      </a:solidFill>
                      <a:prstDash val="solid"/>
                      <a:round/>
                      <a:headEnd type="none" w="med" len="med"/>
                      <a:tailEnd type="none" w="med" len="med"/>
                    </a:lnB>
                  </a:tcPr>
                </a:tc>
                <a:tc>
                  <a:txBody>
                    <a:bodyPr anchor="t" rtlCol="false"/>
                    <a:lstStyle/>
                    <a:p>
                      <a:pPr algn="l">
                        <a:lnSpc>
                          <a:spcPts val="2521"/>
                        </a:lnSpc>
                        <a:defRPr/>
                      </a:pPr>
                      <a:r>
                        <a:rPr lang="en-US" sz="2101">
                          <a:solidFill>
                            <a:srgbClr val="10201D"/>
                          </a:solidFill>
                          <a:latin typeface="Inter"/>
                          <a:ea typeface="Inter"/>
                          <a:cs typeface="Inter"/>
                          <a:sym typeface="Inter"/>
                        </a:rPr>
                        <a:t>Not offered (delivery and return model)</a:t>
                      </a:r>
                      <a:endParaRPr lang="en-US" sz="1100"/>
                    </a:p>
                  </a:txBody>
                  <a:tcPr marL="50799" marR="50799" marT="50799" marB="50799" anchor="ctr">
                    <a:lnL cmpd="sng" algn="ctr" cap="flat" w="12700">
                      <a:solidFill>
                        <a:srgbClr val="CBD4CE"/>
                      </a:solidFill>
                      <a:prstDash val="solid"/>
                      <a:round/>
                      <a:headEnd type="none" w="med" len="med"/>
                      <a:tailEnd type="none" w="med" len="med"/>
                    </a:lnL>
                    <a:lnR cmpd="sng" algn="ctr" cap="flat" w="12700">
                      <a:solidFill>
                        <a:srgbClr val="CBD4CE"/>
                      </a:solidFill>
                      <a:prstDash val="solid"/>
                      <a:round/>
                      <a:headEnd type="none" w="med" len="med"/>
                      <a:tailEnd type="none" w="med" len="med"/>
                    </a:lnR>
                    <a:lnT cmpd="sng" algn="ctr" cap="flat" w="12700">
                      <a:solidFill>
                        <a:srgbClr val="CBD4CE"/>
                      </a:solidFill>
                      <a:prstDash val="solid"/>
                      <a:round/>
                      <a:headEnd type="none" w="med" len="med"/>
                      <a:tailEnd type="none" w="med" len="med"/>
                    </a:lnT>
                    <a:lnB cmpd="sng" algn="ctr" cap="flat" w="12700">
                      <a:solidFill>
                        <a:srgbClr val="CBD4CE"/>
                      </a:solidFill>
                      <a:prstDash val="solid"/>
                      <a:round/>
                      <a:headEnd type="none" w="med" len="med"/>
                      <a:tailEnd type="none" w="med" len="med"/>
                    </a:lnB>
                  </a:tcPr>
                </a:tc>
                <a:tc>
                  <a:txBody>
                    <a:bodyPr anchor="t" rtlCol="false"/>
                    <a:lstStyle/>
                    <a:p>
                      <a:pPr algn="l">
                        <a:lnSpc>
                          <a:spcPts val="2521"/>
                        </a:lnSpc>
                        <a:defRPr/>
                      </a:pPr>
                      <a:r>
                        <a:rPr lang="en-US" sz="2101">
                          <a:solidFill>
                            <a:srgbClr val="10201D"/>
                          </a:solidFill>
                          <a:latin typeface="Inter"/>
                          <a:ea typeface="Inter"/>
                          <a:cs typeface="Inter"/>
                          <a:sym typeface="Inter"/>
                        </a:rPr>
                        <a:t>Not publicly documented</a:t>
                      </a:r>
                      <a:endParaRPr lang="en-US" sz="1100"/>
                    </a:p>
                  </a:txBody>
                  <a:tcPr marL="50799" marR="50799" marT="50799" marB="50799" anchor="ctr">
                    <a:lnL cmpd="sng" algn="ctr" cap="flat" w="12700">
                      <a:solidFill>
                        <a:srgbClr val="CBD4CE"/>
                      </a:solidFill>
                      <a:prstDash val="solid"/>
                      <a:round/>
                      <a:headEnd type="none" w="med" len="med"/>
                      <a:tailEnd type="none" w="med" len="med"/>
                    </a:lnL>
                    <a:lnR cmpd="sng" algn="ctr" cap="flat" w="12700">
                      <a:solidFill>
                        <a:srgbClr val="CBD4CE"/>
                      </a:solidFill>
                      <a:prstDash val="solid"/>
                      <a:round/>
                      <a:headEnd type="none" w="med" len="med"/>
                      <a:tailEnd type="none" w="med" len="med"/>
                    </a:lnR>
                    <a:lnT cmpd="sng" algn="ctr" cap="flat" w="12700">
                      <a:solidFill>
                        <a:srgbClr val="CBD4CE"/>
                      </a:solidFill>
                      <a:prstDash val="solid"/>
                      <a:round/>
                      <a:headEnd type="none" w="med" len="med"/>
                      <a:tailEnd type="none" w="med" len="med"/>
                    </a:lnT>
                    <a:lnB cmpd="sng" algn="ctr" cap="flat" w="12700">
                      <a:solidFill>
                        <a:srgbClr val="CBD4CE"/>
                      </a:solidFill>
                      <a:prstDash val="solid"/>
                      <a:round/>
                      <a:headEnd type="none" w="med" len="med"/>
                      <a:tailEnd type="none" w="med" len="med"/>
                    </a:lnB>
                  </a:tcPr>
                </a:tc>
                <a:tc>
                  <a:txBody>
                    <a:bodyPr anchor="t" rtlCol="false"/>
                    <a:lstStyle/>
                    <a:p>
                      <a:pPr algn="l">
                        <a:lnSpc>
                          <a:spcPts val="2521"/>
                        </a:lnSpc>
                        <a:defRPr/>
                      </a:pPr>
                      <a:endParaRPr lang="en-US" sz="1100"/>
                    </a:p>
                  </a:txBody>
                  <a:tcPr marL="50799" marR="50799" marT="50799" marB="50799" anchor="ctr">
                    <a:lnL cmpd="sng" algn="ctr" cap="flat" w="12700">
                      <a:solidFill>
                        <a:srgbClr val="CBD4CE"/>
                      </a:solidFill>
                      <a:prstDash val="solid"/>
                      <a:round/>
                      <a:headEnd type="none" w="med" len="med"/>
                      <a:tailEnd type="none" w="med" len="med"/>
                    </a:lnL>
                    <a:lnR cmpd="sng" algn="ctr" cap="flat" w="12700">
                      <a:solidFill>
                        <a:srgbClr val="CBD4CE"/>
                      </a:solidFill>
                      <a:prstDash val="solid"/>
                      <a:round/>
                      <a:headEnd type="none" w="med" len="med"/>
                      <a:tailEnd type="none" w="med" len="med"/>
                    </a:lnR>
                    <a:lnT cmpd="sng" algn="ctr" cap="flat" w="12700">
                      <a:solidFill>
                        <a:srgbClr val="CBD4CE"/>
                      </a:solidFill>
                      <a:prstDash val="solid"/>
                      <a:round/>
                      <a:headEnd type="none" w="med" len="med"/>
                      <a:tailEnd type="none" w="med" len="med"/>
                    </a:lnT>
                    <a:lnB cmpd="sng" algn="ctr" cap="flat" w="12700">
                      <a:solidFill>
                        <a:srgbClr val="CBD4CE"/>
                      </a:solidFill>
                      <a:prstDash val="solid"/>
                      <a:round/>
                      <a:headEnd type="none" w="med" len="med"/>
                      <a:tailEnd type="none" w="med" len="med"/>
                    </a:lnB>
                  </a:tcPr>
                </a:tc>
              </a:tr>
              <a:tr h="1192933">
                <a:tc>
                  <a:txBody>
                    <a:bodyPr anchor="t" rtlCol="false"/>
                    <a:lstStyle/>
                    <a:p>
                      <a:pPr algn="l">
                        <a:lnSpc>
                          <a:spcPts val="2521"/>
                        </a:lnSpc>
                        <a:defRPr/>
                      </a:pPr>
                      <a:r>
                        <a:rPr lang="en-US" sz="2101" b="true">
                          <a:solidFill>
                            <a:srgbClr val="10201D"/>
                          </a:solidFill>
                          <a:latin typeface="Inter Bold"/>
                          <a:ea typeface="Inter Bold"/>
                          <a:cs typeface="Inter Bold"/>
                          <a:sym typeface="Inter Bold"/>
                        </a:rPr>
                        <a:t>StoreSpace</a:t>
                      </a:r>
                      <a:endParaRPr lang="en-US" sz="1100"/>
                    </a:p>
                  </a:txBody>
                  <a:tcPr marL="50799" marR="50799" marT="50799" marB="50799" anchor="ctr">
                    <a:lnL cmpd="sng" algn="ctr" cap="flat" w="12700">
                      <a:solidFill>
                        <a:srgbClr val="CBD4CE"/>
                      </a:solidFill>
                      <a:prstDash val="solid"/>
                      <a:round/>
                      <a:headEnd type="none" w="med" len="med"/>
                      <a:tailEnd type="none" w="med" len="med"/>
                    </a:lnL>
                    <a:lnR cmpd="sng" algn="ctr" cap="flat" w="12700">
                      <a:solidFill>
                        <a:srgbClr val="CBD4CE"/>
                      </a:solidFill>
                      <a:prstDash val="solid"/>
                      <a:round/>
                      <a:headEnd type="none" w="med" len="med"/>
                      <a:tailEnd type="none" w="med" len="med"/>
                    </a:lnR>
                    <a:lnT cmpd="sng" algn="ctr" cap="flat" w="12700">
                      <a:solidFill>
                        <a:srgbClr val="CBD4CE"/>
                      </a:solidFill>
                      <a:prstDash val="solid"/>
                      <a:round/>
                      <a:headEnd type="none" w="med" len="med"/>
                      <a:tailEnd type="none" w="med" len="med"/>
                    </a:lnT>
                    <a:lnB cmpd="sng" algn="ctr" cap="flat" w="12700">
                      <a:solidFill>
                        <a:srgbClr val="CBD4CE"/>
                      </a:solidFill>
                      <a:prstDash val="solid"/>
                      <a:round/>
                      <a:headEnd type="none" w="med" len="med"/>
                      <a:tailEnd type="none" w="med" len="med"/>
                    </a:lnB>
                  </a:tcPr>
                </a:tc>
                <a:tc>
                  <a:txBody>
                    <a:bodyPr anchor="t" rtlCol="false"/>
                    <a:lstStyle/>
                    <a:p>
                      <a:pPr algn="l">
                        <a:lnSpc>
                          <a:spcPts val="2521"/>
                        </a:lnSpc>
                        <a:defRPr/>
                      </a:pPr>
                      <a:r>
                        <a:rPr lang="en-US" sz="2101">
                          <a:solidFill>
                            <a:srgbClr val="10201D"/>
                          </a:solidFill>
                          <a:latin typeface="Inter"/>
                          <a:ea typeface="Inter"/>
                          <a:cs typeface="Inter"/>
                          <a:sym typeface="Inter"/>
                        </a:rPr>
                        <a:t>No, it’s a B2B warehouse service</a:t>
                      </a:r>
                      <a:endParaRPr lang="en-US" sz="1100"/>
                    </a:p>
                  </a:txBody>
                  <a:tcPr marL="50799" marR="50799" marT="50799" marB="50799" anchor="ctr">
                    <a:lnL cmpd="sng" algn="ctr" cap="flat" w="12700">
                      <a:solidFill>
                        <a:srgbClr val="CBD4CE"/>
                      </a:solidFill>
                      <a:prstDash val="solid"/>
                      <a:round/>
                      <a:headEnd type="none" w="med" len="med"/>
                      <a:tailEnd type="none" w="med" len="med"/>
                    </a:lnL>
                    <a:lnR cmpd="sng" algn="ctr" cap="flat" w="12700">
                      <a:solidFill>
                        <a:srgbClr val="CBD4CE"/>
                      </a:solidFill>
                      <a:prstDash val="solid"/>
                      <a:round/>
                      <a:headEnd type="none" w="med" len="med"/>
                      <a:tailEnd type="none" w="med" len="med"/>
                    </a:lnR>
                    <a:lnT cmpd="sng" algn="ctr" cap="flat" w="12700">
                      <a:solidFill>
                        <a:srgbClr val="CBD4CE"/>
                      </a:solidFill>
                      <a:prstDash val="solid"/>
                      <a:round/>
                      <a:headEnd type="none" w="med" len="med"/>
                      <a:tailEnd type="none" w="med" len="med"/>
                    </a:lnT>
                    <a:lnB cmpd="sng" algn="ctr" cap="flat" w="12700">
                      <a:solidFill>
                        <a:srgbClr val="CBD4CE"/>
                      </a:solidFill>
                      <a:prstDash val="solid"/>
                      <a:round/>
                      <a:headEnd type="none" w="med" len="med"/>
                      <a:tailEnd type="none" w="med" len="med"/>
                    </a:lnB>
                  </a:tcPr>
                </a:tc>
                <a:tc>
                  <a:txBody>
                    <a:bodyPr anchor="t" rtlCol="false"/>
                    <a:lstStyle/>
                    <a:p>
                      <a:pPr algn="l">
                        <a:lnSpc>
                          <a:spcPts val="2521"/>
                        </a:lnSpc>
                        <a:defRPr/>
                      </a:pPr>
                      <a:r>
                        <a:rPr lang="en-US" sz="2101">
                          <a:solidFill>
                            <a:srgbClr val="10201D"/>
                          </a:solidFill>
                          <a:latin typeface="Inter"/>
                          <a:ea typeface="Inter"/>
                          <a:cs typeface="Inter"/>
                          <a:sym typeface="Inter"/>
                        </a:rPr>
                        <a:t>No</a:t>
                      </a:r>
                      <a:endParaRPr lang="en-US" sz="1100"/>
                    </a:p>
                  </a:txBody>
                  <a:tcPr marL="50799" marR="50799" marT="50799" marB="50799" anchor="ctr">
                    <a:lnL cmpd="sng" algn="ctr" cap="flat" w="12700">
                      <a:solidFill>
                        <a:srgbClr val="CBD4CE"/>
                      </a:solidFill>
                      <a:prstDash val="solid"/>
                      <a:round/>
                      <a:headEnd type="none" w="med" len="med"/>
                      <a:tailEnd type="none" w="med" len="med"/>
                    </a:lnL>
                    <a:lnR cmpd="sng" algn="ctr" cap="flat" w="12700">
                      <a:solidFill>
                        <a:srgbClr val="CBD4CE"/>
                      </a:solidFill>
                      <a:prstDash val="solid"/>
                      <a:round/>
                      <a:headEnd type="none" w="med" len="med"/>
                      <a:tailEnd type="none" w="med" len="med"/>
                    </a:lnR>
                    <a:lnT cmpd="sng" algn="ctr" cap="flat" w="12700">
                      <a:solidFill>
                        <a:srgbClr val="CBD4CE"/>
                      </a:solidFill>
                      <a:prstDash val="solid"/>
                      <a:round/>
                      <a:headEnd type="none" w="med" len="med"/>
                      <a:tailEnd type="none" w="med" len="med"/>
                    </a:lnT>
                    <a:lnB cmpd="sng" algn="ctr" cap="flat" w="12700">
                      <a:solidFill>
                        <a:srgbClr val="CBD4CE"/>
                      </a:solidFill>
                      <a:prstDash val="solid"/>
                      <a:round/>
                      <a:headEnd type="none" w="med" len="med"/>
                      <a:tailEnd type="none" w="med" len="med"/>
                    </a:lnB>
                  </a:tcPr>
                </a:tc>
                <a:tc>
                  <a:txBody>
                    <a:bodyPr anchor="t" rtlCol="false"/>
                    <a:lstStyle/>
                    <a:p>
                      <a:pPr algn="l">
                        <a:lnSpc>
                          <a:spcPts val="2521"/>
                        </a:lnSpc>
                        <a:defRPr/>
                      </a:pPr>
                      <a:r>
                        <a:rPr lang="en-US" sz="2101">
                          <a:solidFill>
                            <a:srgbClr val="10201D"/>
                          </a:solidFill>
                          <a:latin typeface="Inter"/>
                          <a:ea typeface="Inter"/>
                          <a:cs typeface="Inter"/>
                          <a:sym typeface="Inter"/>
                        </a:rPr>
                        <a:t>Yes: pay-as-you-go warehousing</a:t>
                      </a:r>
                      <a:endParaRPr lang="en-US" sz="1100"/>
                    </a:p>
                  </a:txBody>
                  <a:tcPr marL="50799" marR="50799" marT="50799" marB="50799" anchor="ctr">
                    <a:lnL cmpd="sng" algn="ctr" cap="flat" w="12700">
                      <a:solidFill>
                        <a:srgbClr val="CBD4CE"/>
                      </a:solidFill>
                      <a:prstDash val="solid"/>
                      <a:round/>
                      <a:headEnd type="none" w="med" len="med"/>
                      <a:tailEnd type="none" w="med" len="med"/>
                    </a:lnL>
                    <a:lnR cmpd="sng" algn="ctr" cap="flat" w="12700">
                      <a:solidFill>
                        <a:srgbClr val="CBD4CE"/>
                      </a:solidFill>
                      <a:prstDash val="solid"/>
                      <a:round/>
                      <a:headEnd type="none" w="med" len="med"/>
                      <a:tailEnd type="none" w="med" len="med"/>
                    </a:lnR>
                    <a:lnT cmpd="sng" algn="ctr" cap="flat" w="12700">
                      <a:solidFill>
                        <a:srgbClr val="CBD4CE"/>
                      </a:solidFill>
                      <a:prstDash val="solid"/>
                      <a:round/>
                      <a:headEnd type="none" w="med" len="med"/>
                      <a:tailEnd type="none" w="med" len="med"/>
                    </a:lnT>
                    <a:lnB cmpd="sng" algn="ctr" cap="flat" w="12700">
                      <a:solidFill>
                        <a:srgbClr val="CBD4CE"/>
                      </a:solidFill>
                      <a:prstDash val="solid"/>
                      <a:round/>
                      <a:headEnd type="none" w="med" len="med"/>
                      <a:tailEnd type="none" w="med" len="med"/>
                    </a:lnB>
                  </a:tcPr>
                </a:tc>
                <a:tc>
                  <a:txBody>
                    <a:bodyPr anchor="t" rtlCol="false"/>
                    <a:lstStyle/>
                    <a:p>
                      <a:pPr algn="l">
                        <a:lnSpc>
                          <a:spcPts val="2521"/>
                        </a:lnSpc>
                        <a:defRPr/>
                      </a:pPr>
                      <a:r>
                        <a:rPr lang="en-US" sz="2101">
                          <a:solidFill>
                            <a:srgbClr val="10201D"/>
                          </a:solidFill>
                          <a:latin typeface="Inter"/>
                          <a:ea typeface="Inter"/>
                          <a:cs typeface="Inter"/>
                          <a:sym typeface="Inter"/>
                        </a:rPr>
                        <a:t>Inventory tracking only (WMS), not a rental lifecycle</a:t>
                      </a:r>
                      <a:endParaRPr lang="en-US" sz="1100"/>
                    </a:p>
                  </a:txBody>
                  <a:tcPr marL="50799" marR="50799" marT="50799" marB="50799" anchor="ctr">
                    <a:lnL cmpd="sng" algn="ctr" cap="flat" w="12700">
                      <a:solidFill>
                        <a:srgbClr val="CBD4CE"/>
                      </a:solidFill>
                      <a:prstDash val="solid"/>
                      <a:round/>
                      <a:headEnd type="none" w="med" len="med"/>
                      <a:tailEnd type="none" w="med" len="med"/>
                    </a:lnL>
                    <a:lnR cmpd="sng" algn="ctr" cap="flat" w="12700">
                      <a:solidFill>
                        <a:srgbClr val="CBD4CE"/>
                      </a:solidFill>
                      <a:prstDash val="solid"/>
                      <a:round/>
                      <a:headEnd type="none" w="med" len="med"/>
                      <a:tailEnd type="none" w="med" len="med"/>
                    </a:lnR>
                    <a:lnT cmpd="sng" algn="ctr" cap="flat" w="12700">
                      <a:solidFill>
                        <a:srgbClr val="CBD4CE"/>
                      </a:solidFill>
                      <a:prstDash val="solid"/>
                      <a:round/>
                      <a:headEnd type="none" w="med" len="med"/>
                      <a:tailEnd type="none" w="med" len="med"/>
                    </a:lnT>
                    <a:lnB cmpd="sng" algn="ctr" cap="flat" w="12700">
                      <a:solidFill>
                        <a:srgbClr val="CBD4CE"/>
                      </a:solidFill>
                      <a:prstDash val="solid"/>
                      <a:round/>
                      <a:headEnd type="none" w="med" len="med"/>
                      <a:tailEnd type="none" w="med" len="med"/>
                    </a:lnB>
                  </a:tcPr>
                </a:tc>
                <a:tc>
                  <a:txBody>
                    <a:bodyPr anchor="t" rtlCol="false"/>
                    <a:lstStyle/>
                    <a:p>
                      <a:pPr algn="l">
                        <a:lnSpc>
                          <a:spcPts val="2521"/>
                        </a:lnSpc>
                        <a:defRPr/>
                      </a:pPr>
                      <a:endParaRPr lang="en-US" sz="1100"/>
                    </a:p>
                  </a:txBody>
                  <a:tcPr marL="50799" marR="50799" marT="50799" marB="50799" anchor="ctr">
                    <a:lnL cmpd="sng" algn="ctr" cap="flat" w="12700">
                      <a:solidFill>
                        <a:srgbClr val="CBD4CE"/>
                      </a:solidFill>
                      <a:prstDash val="solid"/>
                      <a:round/>
                      <a:headEnd type="none" w="med" len="med"/>
                      <a:tailEnd type="none" w="med" len="med"/>
                    </a:lnL>
                    <a:lnR cmpd="sng" algn="ctr" cap="flat" w="12700">
                      <a:solidFill>
                        <a:srgbClr val="CBD4CE"/>
                      </a:solidFill>
                      <a:prstDash val="solid"/>
                      <a:round/>
                      <a:headEnd type="none" w="med" len="med"/>
                      <a:tailEnd type="none" w="med" len="med"/>
                    </a:lnR>
                    <a:lnT cmpd="sng" algn="ctr" cap="flat" w="12700">
                      <a:solidFill>
                        <a:srgbClr val="CBD4CE"/>
                      </a:solidFill>
                      <a:prstDash val="solid"/>
                      <a:round/>
                      <a:headEnd type="none" w="med" len="med"/>
                      <a:tailEnd type="none" w="med" len="med"/>
                    </a:lnT>
                    <a:lnB cmpd="sng" algn="ctr" cap="flat" w="12700">
                      <a:solidFill>
                        <a:srgbClr val="CBD4CE"/>
                      </a:solidFill>
                      <a:prstDash val="solid"/>
                      <a:round/>
                      <a:headEnd type="none" w="med" len="med"/>
                      <a:tailEnd type="none" w="med" len="med"/>
                    </a:lnB>
                  </a:tcPr>
                </a:tc>
              </a:tr>
              <a:tr h="1275334">
                <a:tc>
                  <a:txBody>
                    <a:bodyPr anchor="t" rtlCol="false"/>
                    <a:lstStyle/>
                    <a:p>
                      <a:pPr algn="l">
                        <a:lnSpc>
                          <a:spcPts val="2521"/>
                        </a:lnSpc>
                        <a:defRPr/>
                      </a:pPr>
                      <a:r>
                        <a:rPr lang="en-US" sz="2101" b="true">
                          <a:solidFill>
                            <a:srgbClr val="FFFFFF"/>
                          </a:solidFill>
                          <a:latin typeface="Inter Bold"/>
                          <a:ea typeface="Inter Bold"/>
                          <a:cs typeface="Inter Bold"/>
                          <a:sym typeface="Inter Bold"/>
                        </a:rPr>
                        <a:t>RentSphere (Proposed)</a:t>
                      </a:r>
                      <a:endParaRPr lang="en-US" sz="1100"/>
                    </a:p>
                  </a:txBody>
                  <a:tcPr marL="50799" marR="50799" marT="50799" marB="50799" anchor="ctr">
                    <a:lnL cmpd="sng" algn="ctr" cap="flat" w="12700">
                      <a:solidFill>
                        <a:srgbClr val="CBD4CE"/>
                      </a:solidFill>
                      <a:prstDash val="solid"/>
                      <a:round/>
                      <a:headEnd type="none" w="med" len="med"/>
                      <a:tailEnd type="none" w="med" len="med"/>
                    </a:lnL>
                    <a:lnR cmpd="sng" algn="ctr" cap="flat" w="12700">
                      <a:solidFill>
                        <a:srgbClr val="CBD4CE"/>
                      </a:solidFill>
                      <a:prstDash val="solid"/>
                      <a:round/>
                      <a:headEnd type="none" w="med" len="med"/>
                      <a:tailEnd type="none" w="med" len="med"/>
                    </a:lnR>
                    <a:lnT cmpd="sng" algn="ctr" cap="flat" w="12700">
                      <a:solidFill>
                        <a:srgbClr val="CBD4CE"/>
                      </a:solidFill>
                      <a:prstDash val="solid"/>
                      <a:round/>
                      <a:headEnd type="none" w="med" len="med"/>
                      <a:tailEnd type="none" w="med" len="med"/>
                    </a:lnT>
                    <a:lnB cmpd="sng" algn="ctr" cap="flat" w="12700">
                      <a:solidFill>
                        <a:srgbClr val="CBD4CE"/>
                      </a:solidFill>
                      <a:prstDash val="solid"/>
                      <a:round/>
                      <a:headEnd type="none" w="med" len="med"/>
                      <a:tailEnd type="none" w="med" len="med"/>
                    </a:lnB>
                    <a:solidFill>
                      <a:srgbClr val="0A7C78"/>
                    </a:solidFill>
                  </a:tcPr>
                </a:tc>
                <a:tc>
                  <a:txBody>
                    <a:bodyPr anchor="t" rtlCol="false"/>
                    <a:lstStyle/>
                    <a:p>
                      <a:pPr algn="l">
                        <a:lnSpc>
                          <a:spcPts val="2521"/>
                        </a:lnSpc>
                        <a:defRPr/>
                      </a:pPr>
                      <a:r>
                        <a:rPr lang="en-US" sz="2101">
                          <a:solidFill>
                            <a:srgbClr val="FFFFFF"/>
                          </a:solidFill>
                          <a:latin typeface="Inter"/>
                          <a:ea typeface="Inter"/>
                          <a:cs typeface="Inter"/>
                          <a:sym typeface="Inter"/>
                        </a:rPr>
                        <a:t>Peer-to-peer asset discovery</a:t>
                      </a:r>
                      <a:endParaRPr lang="en-US" sz="1100"/>
                    </a:p>
                  </a:txBody>
                  <a:tcPr marL="50799" marR="50799" marT="50799" marB="50799" anchor="ctr">
                    <a:lnL cmpd="sng" algn="ctr" cap="flat" w="12700">
                      <a:solidFill>
                        <a:srgbClr val="CBD4CE"/>
                      </a:solidFill>
                      <a:prstDash val="solid"/>
                      <a:round/>
                      <a:headEnd type="none" w="med" len="med"/>
                      <a:tailEnd type="none" w="med" len="med"/>
                    </a:lnL>
                    <a:lnR cmpd="sng" algn="ctr" cap="flat" w="12700">
                      <a:solidFill>
                        <a:srgbClr val="CBD4CE"/>
                      </a:solidFill>
                      <a:prstDash val="solid"/>
                      <a:round/>
                      <a:headEnd type="none" w="med" len="med"/>
                      <a:tailEnd type="none" w="med" len="med"/>
                    </a:lnR>
                    <a:lnT cmpd="sng" algn="ctr" cap="flat" w="12700">
                      <a:solidFill>
                        <a:srgbClr val="CBD4CE"/>
                      </a:solidFill>
                      <a:prstDash val="solid"/>
                      <a:round/>
                      <a:headEnd type="none" w="med" len="med"/>
                      <a:tailEnd type="none" w="med" len="med"/>
                    </a:lnT>
                    <a:lnB cmpd="sng" algn="ctr" cap="flat" w="12700">
                      <a:solidFill>
                        <a:srgbClr val="CBD4CE"/>
                      </a:solidFill>
                      <a:prstDash val="solid"/>
                      <a:round/>
                      <a:headEnd type="none" w="med" len="med"/>
                      <a:tailEnd type="none" w="med" len="med"/>
                    </a:lnB>
                    <a:solidFill>
                      <a:srgbClr val="0A7C78"/>
                    </a:solidFill>
                  </a:tcPr>
                </a:tc>
                <a:tc>
                  <a:txBody>
                    <a:bodyPr anchor="t" rtlCol="false"/>
                    <a:lstStyle/>
                    <a:p>
                      <a:pPr algn="l">
                        <a:lnSpc>
                          <a:spcPts val="2521"/>
                        </a:lnSpc>
                        <a:defRPr/>
                      </a:pPr>
                      <a:r>
                        <a:rPr lang="en-US" sz="2101">
                          <a:solidFill>
                            <a:srgbClr val="FFFFFF"/>
                          </a:solidFill>
                          <a:latin typeface="Inter"/>
                          <a:ea typeface="Inter"/>
                          <a:cs typeface="Inter"/>
                          <a:sym typeface="Inter"/>
                        </a:rPr>
                        <a:t>Product rental</a:t>
                      </a:r>
                      <a:endParaRPr lang="en-US" sz="1100"/>
                    </a:p>
                  </a:txBody>
                  <a:tcPr marL="50799" marR="50799" marT="50799" marB="50799" anchor="ctr">
                    <a:lnL cmpd="sng" algn="ctr" cap="flat" w="12700">
                      <a:solidFill>
                        <a:srgbClr val="CBD4CE"/>
                      </a:solidFill>
                      <a:prstDash val="solid"/>
                      <a:round/>
                      <a:headEnd type="none" w="med" len="med"/>
                      <a:tailEnd type="none" w="med" len="med"/>
                    </a:lnL>
                    <a:lnR cmpd="sng" algn="ctr" cap="flat" w="12700">
                      <a:solidFill>
                        <a:srgbClr val="CBD4CE"/>
                      </a:solidFill>
                      <a:prstDash val="solid"/>
                      <a:round/>
                      <a:headEnd type="none" w="med" len="med"/>
                      <a:tailEnd type="none" w="med" len="med"/>
                    </a:lnR>
                    <a:lnT cmpd="sng" algn="ctr" cap="flat" w="12700">
                      <a:solidFill>
                        <a:srgbClr val="CBD4CE"/>
                      </a:solidFill>
                      <a:prstDash val="solid"/>
                      <a:round/>
                      <a:headEnd type="none" w="med" len="med"/>
                      <a:tailEnd type="none" w="med" len="med"/>
                    </a:lnT>
                    <a:lnB cmpd="sng" algn="ctr" cap="flat" w="12700">
                      <a:solidFill>
                        <a:srgbClr val="CBD4CE"/>
                      </a:solidFill>
                      <a:prstDash val="solid"/>
                      <a:round/>
                      <a:headEnd type="none" w="med" len="med"/>
                      <a:tailEnd type="none" w="med" len="med"/>
                    </a:lnB>
                    <a:solidFill>
                      <a:srgbClr val="0A7C78"/>
                    </a:solidFill>
                  </a:tcPr>
                </a:tc>
                <a:tc>
                  <a:txBody>
                    <a:bodyPr anchor="t" rtlCol="false"/>
                    <a:lstStyle/>
                    <a:p>
                      <a:pPr algn="l">
                        <a:lnSpc>
                          <a:spcPts val="2521"/>
                        </a:lnSpc>
                        <a:defRPr/>
                      </a:pPr>
                      <a:r>
                        <a:rPr lang="en-US" sz="2101">
                          <a:solidFill>
                            <a:srgbClr val="FFFFFF"/>
                          </a:solidFill>
                          <a:latin typeface="Inter"/>
                          <a:ea typeface="Inter"/>
                          <a:cs typeface="Inter"/>
                          <a:sym typeface="Inter"/>
                        </a:rPr>
                        <a:t>Micro-storage management</a:t>
                      </a:r>
                      <a:endParaRPr lang="en-US" sz="1100"/>
                    </a:p>
                  </a:txBody>
                  <a:tcPr marL="50799" marR="50799" marT="50799" marB="50799" anchor="ctr">
                    <a:lnL cmpd="sng" algn="ctr" cap="flat" w="12700">
                      <a:solidFill>
                        <a:srgbClr val="CBD4CE"/>
                      </a:solidFill>
                      <a:prstDash val="solid"/>
                      <a:round/>
                      <a:headEnd type="none" w="med" len="med"/>
                      <a:tailEnd type="none" w="med" len="med"/>
                    </a:lnL>
                    <a:lnR cmpd="sng" algn="ctr" cap="flat" w="12700">
                      <a:solidFill>
                        <a:srgbClr val="CBD4CE"/>
                      </a:solidFill>
                      <a:prstDash val="solid"/>
                      <a:round/>
                      <a:headEnd type="none" w="med" len="med"/>
                      <a:tailEnd type="none" w="med" len="med"/>
                    </a:lnR>
                    <a:lnT cmpd="sng" algn="ctr" cap="flat" w="12700">
                      <a:solidFill>
                        <a:srgbClr val="CBD4CE"/>
                      </a:solidFill>
                      <a:prstDash val="solid"/>
                      <a:round/>
                      <a:headEnd type="none" w="med" len="med"/>
                      <a:tailEnd type="none" w="med" len="med"/>
                    </a:lnT>
                    <a:lnB cmpd="sng" algn="ctr" cap="flat" w="12700">
                      <a:solidFill>
                        <a:srgbClr val="CBD4CE"/>
                      </a:solidFill>
                      <a:prstDash val="solid"/>
                      <a:round/>
                      <a:headEnd type="none" w="med" len="med"/>
                      <a:tailEnd type="none" w="med" len="med"/>
                    </a:lnB>
                    <a:solidFill>
                      <a:srgbClr val="0A7C78"/>
                    </a:solidFill>
                  </a:tcPr>
                </a:tc>
                <a:tc>
                  <a:txBody>
                    <a:bodyPr anchor="t" rtlCol="false"/>
                    <a:lstStyle/>
                    <a:p>
                      <a:pPr algn="l">
                        <a:lnSpc>
                          <a:spcPts val="2521"/>
                        </a:lnSpc>
                        <a:defRPr/>
                      </a:pPr>
                      <a:r>
                        <a:rPr lang="en-US" sz="2101">
                          <a:solidFill>
                            <a:srgbClr val="FFFFFF"/>
                          </a:solidFill>
                          <a:latin typeface="Inter"/>
                          <a:ea typeface="Inter"/>
                          <a:cs typeface="Inter"/>
                          <a:sym typeface="Inter"/>
                        </a:rPr>
                        <a:t>5 explicit states with validated transitions</a:t>
                      </a:r>
                      <a:endParaRPr lang="en-US" sz="1100"/>
                    </a:p>
                  </a:txBody>
                  <a:tcPr marL="50799" marR="50799" marT="50799" marB="50799" anchor="ctr">
                    <a:lnL cmpd="sng" algn="ctr" cap="flat" w="12700">
                      <a:solidFill>
                        <a:srgbClr val="CBD4CE"/>
                      </a:solidFill>
                      <a:prstDash val="solid"/>
                      <a:round/>
                      <a:headEnd type="none" w="med" len="med"/>
                      <a:tailEnd type="none" w="med" len="med"/>
                    </a:lnL>
                    <a:lnR cmpd="sng" algn="ctr" cap="flat" w="12700">
                      <a:solidFill>
                        <a:srgbClr val="CBD4CE"/>
                      </a:solidFill>
                      <a:prstDash val="solid"/>
                      <a:round/>
                      <a:headEnd type="none" w="med" len="med"/>
                      <a:tailEnd type="none" w="med" len="med"/>
                    </a:lnR>
                    <a:lnT cmpd="sng" algn="ctr" cap="flat" w="12700">
                      <a:solidFill>
                        <a:srgbClr val="CBD4CE"/>
                      </a:solidFill>
                      <a:prstDash val="solid"/>
                      <a:round/>
                      <a:headEnd type="none" w="med" len="med"/>
                      <a:tailEnd type="none" w="med" len="med"/>
                    </a:lnT>
                    <a:lnB cmpd="sng" algn="ctr" cap="flat" w="12700">
                      <a:solidFill>
                        <a:srgbClr val="CBD4CE"/>
                      </a:solidFill>
                      <a:prstDash val="solid"/>
                      <a:round/>
                      <a:headEnd type="none" w="med" len="med"/>
                      <a:tailEnd type="none" w="med" len="med"/>
                    </a:lnB>
                    <a:solidFill>
                      <a:srgbClr val="0A7C78"/>
                    </a:solidFill>
                  </a:tcPr>
                </a:tc>
                <a:tc>
                  <a:txBody>
                    <a:bodyPr anchor="t" rtlCol="false"/>
                    <a:lstStyle/>
                    <a:p>
                      <a:pPr algn="l">
                        <a:lnSpc>
                          <a:spcPts val="2521"/>
                        </a:lnSpc>
                        <a:defRPr/>
                      </a:pPr>
                      <a:endParaRPr lang="en-US" sz="1100"/>
                    </a:p>
                  </a:txBody>
                  <a:tcPr marL="50799" marR="50799" marT="50799" marB="50799" anchor="ctr">
                    <a:lnL cmpd="sng" algn="ctr" cap="flat" w="12700">
                      <a:solidFill>
                        <a:srgbClr val="CBD4CE"/>
                      </a:solidFill>
                      <a:prstDash val="solid"/>
                      <a:round/>
                      <a:headEnd type="none" w="med" len="med"/>
                      <a:tailEnd type="none" w="med" len="med"/>
                    </a:lnL>
                    <a:lnR cmpd="sng" algn="ctr" cap="flat" w="12700">
                      <a:solidFill>
                        <a:srgbClr val="CBD4CE"/>
                      </a:solidFill>
                      <a:prstDash val="solid"/>
                      <a:round/>
                      <a:headEnd type="none" w="med" len="med"/>
                      <a:tailEnd type="none" w="med" len="med"/>
                    </a:lnR>
                    <a:lnT cmpd="sng" algn="ctr" cap="flat" w="12700">
                      <a:solidFill>
                        <a:srgbClr val="CBD4CE"/>
                      </a:solidFill>
                      <a:prstDash val="solid"/>
                      <a:round/>
                      <a:headEnd type="none" w="med" len="med"/>
                      <a:tailEnd type="none" w="med" len="med"/>
                    </a:lnT>
                    <a:lnB cmpd="sng" algn="ctr" cap="flat" w="12700">
                      <a:solidFill>
                        <a:srgbClr val="CBD4CE"/>
                      </a:solidFill>
                      <a:prstDash val="solid"/>
                      <a:round/>
                      <a:headEnd type="none" w="med" len="med"/>
                      <a:tailEnd type="none" w="med" len="med"/>
                    </a:lnB>
                    <a:solidFill>
                      <a:srgbClr val="0A7C78"/>
                    </a:solidFill>
                  </a:tcPr>
                </a:tc>
              </a:tr>
            </a:tbl>
          </a:graphicData>
        </a:graphic>
      </p:graphicFrame>
    </p:spTree>
  </p:cSld>
  <p:clrMapOvr>
    <a:masterClrMapping/>
  </p:clrMapOvr>
</p:sld>
</file>

<file path=ppt/slides/slide6.xml><?xml version="1.0" encoding="utf-8"?>
<p:sld xmlns:p="http://schemas.openxmlformats.org/presentationml/2006/main" xmlns:a="http://schemas.openxmlformats.org/drawingml/2006/main">
  <p:cSld>
    <p:bg>
      <p:bgPr>
        <a:solidFill>
          <a:srgbClr val="F2F4ED"/>
        </a:solidFill>
      </p:bgPr>
    </p:bg>
    <p:spTree>
      <p:nvGrpSpPr>
        <p:cNvPr id="1" name=""/>
        <p:cNvGrpSpPr/>
        <p:nvPr/>
      </p:nvGrpSpPr>
      <p:grpSpPr>
        <a:xfrm>
          <a:off x="0" y="0"/>
          <a:ext cx="0" cy="0"/>
          <a:chOff x="0" y="0"/>
          <a:chExt cx="0" cy="0"/>
        </a:xfrm>
      </p:grpSpPr>
      <p:sp>
        <p:nvSpPr>
          <p:cNvPr name="TextBox 2" id="2"/>
          <p:cNvSpPr txBox="true"/>
          <p:nvPr/>
        </p:nvSpPr>
        <p:spPr>
          <a:xfrm rot="0">
            <a:off x="762581" y="690439"/>
            <a:ext cx="17539268" cy="269434"/>
          </a:xfrm>
          <a:prstGeom prst="rect">
            <a:avLst/>
          </a:prstGeom>
        </p:spPr>
        <p:txBody>
          <a:bodyPr anchor="t" rtlCol="false" tIns="0" lIns="0" bIns="0" rIns="0">
            <a:spAutoFit/>
          </a:bodyPr>
          <a:lstStyle/>
          <a:p>
            <a:pPr algn="l">
              <a:lnSpc>
                <a:spcPts val="2040"/>
              </a:lnSpc>
            </a:pPr>
            <a:r>
              <a:rPr lang="en-US" sz="1651" spc="90">
                <a:solidFill>
                  <a:srgbClr val="0A7C78"/>
                </a:solidFill>
                <a:latin typeface="IBM Plex Sans"/>
                <a:ea typeface="IBM Plex Sans"/>
                <a:cs typeface="IBM Plex Sans"/>
                <a:sym typeface="IBM Plex Sans"/>
              </a:rPr>
              <a:t>FINANCIAL SUSTAINABILITY</a:t>
            </a:r>
          </a:p>
        </p:txBody>
      </p:sp>
      <p:sp>
        <p:nvSpPr>
          <p:cNvPr name="TextBox 3" id="3"/>
          <p:cNvSpPr txBox="true"/>
          <p:nvPr/>
        </p:nvSpPr>
        <p:spPr>
          <a:xfrm rot="0">
            <a:off x="762581" y="1232402"/>
            <a:ext cx="16776687" cy="610876"/>
          </a:xfrm>
          <a:prstGeom prst="rect">
            <a:avLst/>
          </a:prstGeom>
        </p:spPr>
        <p:txBody>
          <a:bodyPr anchor="t" rtlCol="false" tIns="0" lIns="0" bIns="0" rIns="0">
            <a:spAutoFit/>
          </a:bodyPr>
          <a:lstStyle/>
          <a:p>
            <a:pPr algn="l">
              <a:lnSpc>
                <a:spcPts val="5389"/>
              </a:lnSpc>
            </a:pPr>
            <a:r>
              <a:rPr lang="en-US" b="true" sz="5103" spc="-102">
                <a:solidFill>
                  <a:srgbClr val="0D9488"/>
                </a:solidFill>
                <a:latin typeface="Inter Bold"/>
                <a:ea typeface="Inter Bold"/>
                <a:cs typeface="Inter Bold"/>
                <a:sym typeface="Inter Bold"/>
              </a:rPr>
              <a:t>How RentSphere Could Generate Revenue</a:t>
            </a:r>
          </a:p>
        </p:txBody>
      </p:sp>
      <p:sp>
        <p:nvSpPr>
          <p:cNvPr name="TextBox 4" id="4"/>
          <p:cNvSpPr txBox="true"/>
          <p:nvPr/>
        </p:nvSpPr>
        <p:spPr>
          <a:xfrm rot="0">
            <a:off x="762581" y="2129238"/>
            <a:ext cx="17539268" cy="494757"/>
          </a:xfrm>
          <a:prstGeom prst="rect">
            <a:avLst/>
          </a:prstGeom>
        </p:spPr>
        <p:txBody>
          <a:bodyPr anchor="t" rtlCol="false" tIns="0" lIns="0" bIns="0" rIns="0">
            <a:spAutoFit/>
          </a:bodyPr>
          <a:lstStyle/>
          <a:p>
            <a:pPr algn="l">
              <a:lnSpc>
                <a:spcPts val="3521"/>
              </a:lnSpc>
            </a:pPr>
            <a:r>
              <a:rPr lang="en-US" sz="2551">
                <a:solidFill>
                  <a:srgbClr val="10201D"/>
                </a:solidFill>
                <a:latin typeface="Inter"/>
                <a:ea typeface="Inter"/>
                <a:cs typeface="Inter"/>
                <a:sym typeface="Inter"/>
              </a:rPr>
              <a:t>Theoretical monetization avenues for platform self-sufficiency.</a:t>
            </a:r>
          </a:p>
        </p:txBody>
      </p:sp>
      <p:grpSp>
        <p:nvGrpSpPr>
          <p:cNvPr name="Group 5" id="5"/>
          <p:cNvGrpSpPr/>
          <p:nvPr/>
        </p:nvGrpSpPr>
        <p:grpSpPr>
          <a:xfrm rot="0">
            <a:off x="757809" y="2838288"/>
            <a:ext cx="4032123" cy="3470853"/>
            <a:chOff x="0" y="0"/>
            <a:chExt cx="5376164" cy="4627804"/>
          </a:xfrm>
        </p:grpSpPr>
        <p:sp>
          <p:nvSpPr>
            <p:cNvPr name="Freeform 6" id="6"/>
            <p:cNvSpPr/>
            <p:nvPr/>
          </p:nvSpPr>
          <p:spPr>
            <a:xfrm flipH="false" flipV="false" rot="0">
              <a:off x="0" y="0"/>
              <a:ext cx="5376164" cy="4627753"/>
            </a:xfrm>
            <a:custGeom>
              <a:avLst/>
              <a:gdLst/>
              <a:ahLst/>
              <a:cxnLst/>
              <a:rect r="r" b="b" t="t" l="l"/>
              <a:pathLst>
                <a:path h="4627753" w="5376164">
                  <a:moveTo>
                    <a:pt x="0" y="0"/>
                  </a:moveTo>
                  <a:lnTo>
                    <a:pt x="5376164" y="0"/>
                  </a:lnTo>
                  <a:lnTo>
                    <a:pt x="5376164" y="4627753"/>
                  </a:lnTo>
                  <a:lnTo>
                    <a:pt x="0" y="4627753"/>
                  </a:lnTo>
                  <a:close/>
                </a:path>
              </a:pathLst>
            </a:custGeom>
            <a:solidFill>
              <a:srgbClr val="FFFFFF"/>
            </a:solidFill>
            <a:ln w="9532" cap="sq">
              <a:solidFill>
                <a:srgbClr val="CBD4CE"/>
              </a:solidFill>
              <a:prstDash val="solid"/>
              <a:miter/>
            </a:ln>
          </p:spPr>
        </p:sp>
      </p:grpSp>
      <p:grpSp>
        <p:nvGrpSpPr>
          <p:cNvPr name="Group 7" id="7"/>
          <p:cNvGrpSpPr/>
          <p:nvPr/>
        </p:nvGrpSpPr>
        <p:grpSpPr>
          <a:xfrm rot="0">
            <a:off x="1039016" y="3119495"/>
            <a:ext cx="2328396" cy="515645"/>
            <a:chOff x="0" y="0"/>
            <a:chExt cx="3104528" cy="687527"/>
          </a:xfrm>
        </p:grpSpPr>
        <p:sp>
          <p:nvSpPr>
            <p:cNvPr name="Freeform 8" id="8"/>
            <p:cNvSpPr/>
            <p:nvPr/>
          </p:nvSpPr>
          <p:spPr>
            <a:xfrm flipH="false" flipV="false" rot="0">
              <a:off x="0" y="0"/>
              <a:ext cx="3104515" cy="687451"/>
            </a:xfrm>
            <a:custGeom>
              <a:avLst/>
              <a:gdLst/>
              <a:ahLst/>
              <a:cxnLst/>
              <a:rect r="r" b="b" t="t" l="l"/>
              <a:pathLst>
                <a:path h="687451" w="3104515">
                  <a:moveTo>
                    <a:pt x="0" y="145161"/>
                  </a:moveTo>
                  <a:cubicBezTo>
                    <a:pt x="0" y="65024"/>
                    <a:pt x="65024" y="0"/>
                    <a:pt x="145161" y="0"/>
                  </a:cubicBezTo>
                  <a:lnTo>
                    <a:pt x="2959354" y="0"/>
                  </a:lnTo>
                  <a:cubicBezTo>
                    <a:pt x="3039491" y="0"/>
                    <a:pt x="3104515" y="65024"/>
                    <a:pt x="3104515" y="145161"/>
                  </a:cubicBezTo>
                  <a:lnTo>
                    <a:pt x="3104515" y="542290"/>
                  </a:lnTo>
                  <a:cubicBezTo>
                    <a:pt x="3104515" y="622427"/>
                    <a:pt x="3039491" y="687451"/>
                    <a:pt x="2959354" y="687451"/>
                  </a:cubicBezTo>
                  <a:lnTo>
                    <a:pt x="145161" y="687451"/>
                  </a:lnTo>
                  <a:cubicBezTo>
                    <a:pt x="65024" y="687578"/>
                    <a:pt x="0" y="622554"/>
                    <a:pt x="0" y="542290"/>
                  </a:cubicBezTo>
                  <a:close/>
                </a:path>
              </a:pathLst>
            </a:custGeom>
            <a:solidFill>
              <a:srgbClr val="0A7C78"/>
            </a:solidFill>
          </p:spPr>
        </p:sp>
      </p:grpSp>
      <p:sp>
        <p:nvSpPr>
          <p:cNvPr name="TextBox 9" id="9"/>
          <p:cNvSpPr txBox="true"/>
          <p:nvPr/>
        </p:nvSpPr>
        <p:spPr>
          <a:xfrm rot="0">
            <a:off x="1233383" y="3217269"/>
            <a:ext cx="2854747" cy="340471"/>
          </a:xfrm>
          <a:prstGeom prst="rect">
            <a:avLst/>
          </a:prstGeom>
        </p:spPr>
        <p:txBody>
          <a:bodyPr anchor="t" rtlCol="false" tIns="0" lIns="0" bIns="0" rIns="0">
            <a:spAutoFit/>
          </a:bodyPr>
          <a:lstStyle/>
          <a:p>
            <a:pPr algn="l">
              <a:lnSpc>
                <a:spcPts val="2504"/>
              </a:lnSpc>
            </a:pPr>
            <a:r>
              <a:rPr lang="en-US" sz="2026" spc="21">
                <a:solidFill>
                  <a:srgbClr val="FFFFFF"/>
                </a:solidFill>
                <a:latin typeface="IBM Plex Sans"/>
                <a:ea typeface="IBM Plex Sans"/>
                <a:cs typeface="IBM Plex Sans"/>
                <a:sym typeface="IBM Plex Sans"/>
              </a:rPr>
              <a:t>Transaction Fee</a:t>
            </a:r>
          </a:p>
        </p:txBody>
      </p:sp>
      <p:sp>
        <p:nvSpPr>
          <p:cNvPr name="TextBox 10" id="10"/>
          <p:cNvSpPr txBox="true"/>
          <p:nvPr/>
        </p:nvSpPr>
        <p:spPr>
          <a:xfrm rot="0">
            <a:off x="1039016" y="3805504"/>
            <a:ext cx="3469719" cy="481517"/>
          </a:xfrm>
          <a:prstGeom prst="rect">
            <a:avLst/>
          </a:prstGeom>
        </p:spPr>
        <p:txBody>
          <a:bodyPr anchor="t" rtlCol="false" tIns="0" lIns="0" bIns="0" rIns="0">
            <a:spAutoFit/>
          </a:bodyPr>
          <a:lstStyle/>
          <a:p>
            <a:pPr algn="l">
              <a:lnSpc>
                <a:spcPts val="3566"/>
              </a:lnSpc>
            </a:pPr>
            <a:r>
              <a:rPr lang="en-US" sz="2702">
                <a:solidFill>
                  <a:srgbClr val="10201D"/>
                </a:solidFill>
                <a:latin typeface="Inter"/>
                <a:ea typeface="Inter"/>
                <a:cs typeface="Inter"/>
                <a:sym typeface="Inter"/>
              </a:rPr>
              <a:t>Rental Commission</a:t>
            </a:r>
          </a:p>
        </p:txBody>
      </p:sp>
      <p:sp>
        <p:nvSpPr>
          <p:cNvPr name="TextBox 11" id="11"/>
          <p:cNvSpPr txBox="true"/>
          <p:nvPr/>
        </p:nvSpPr>
        <p:spPr>
          <a:xfrm rot="0">
            <a:off x="1039016" y="4517927"/>
            <a:ext cx="3469719" cy="1510865"/>
          </a:xfrm>
          <a:prstGeom prst="rect">
            <a:avLst/>
          </a:prstGeom>
        </p:spPr>
        <p:txBody>
          <a:bodyPr anchor="t" rtlCol="false" tIns="0" lIns="0" bIns="0" rIns="0">
            <a:spAutoFit/>
          </a:bodyPr>
          <a:lstStyle/>
          <a:p>
            <a:pPr algn="l">
              <a:lnSpc>
                <a:spcPts val="2900"/>
              </a:lnSpc>
            </a:pPr>
            <a:r>
              <a:rPr lang="en-US" sz="2101">
                <a:solidFill>
                  <a:srgbClr val="10201D"/>
                </a:solidFill>
                <a:latin typeface="Inter"/>
                <a:ea typeface="Inter"/>
                <a:cs typeface="Inter"/>
                <a:sym typeface="Inter"/>
              </a:rPr>
              <a:t>Percentage-based platform fee deducted upon successful booking settlements.</a:t>
            </a:r>
          </a:p>
        </p:txBody>
      </p:sp>
      <p:grpSp>
        <p:nvGrpSpPr>
          <p:cNvPr name="Group 12" id="12"/>
          <p:cNvGrpSpPr/>
          <p:nvPr/>
        </p:nvGrpSpPr>
        <p:grpSpPr>
          <a:xfrm rot="0">
            <a:off x="5009178" y="2838288"/>
            <a:ext cx="4032123" cy="3470853"/>
            <a:chOff x="0" y="0"/>
            <a:chExt cx="5376164" cy="4627804"/>
          </a:xfrm>
        </p:grpSpPr>
        <p:sp>
          <p:nvSpPr>
            <p:cNvPr name="Freeform 13" id="13"/>
            <p:cNvSpPr/>
            <p:nvPr/>
          </p:nvSpPr>
          <p:spPr>
            <a:xfrm flipH="false" flipV="false" rot="0">
              <a:off x="0" y="0"/>
              <a:ext cx="5376164" cy="4627753"/>
            </a:xfrm>
            <a:custGeom>
              <a:avLst/>
              <a:gdLst/>
              <a:ahLst/>
              <a:cxnLst/>
              <a:rect r="r" b="b" t="t" l="l"/>
              <a:pathLst>
                <a:path h="4627753" w="5376164">
                  <a:moveTo>
                    <a:pt x="0" y="0"/>
                  </a:moveTo>
                  <a:lnTo>
                    <a:pt x="5376164" y="0"/>
                  </a:lnTo>
                  <a:lnTo>
                    <a:pt x="5376164" y="4627753"/>
                  </a:lnTo>
                  <a:lnTo>
                    <a:pt x="0" y="4627753"/>
                  </a:lnTo>
                  <a:close/>
                </a:path>
              </a:pathLst>
            </a:custGeom>
            <a:solidFill>
              <a:srgbClr val="FFFFFF"/>
            </a:solidFill>
            <a:ln w="9532" cap="sq">
              <a:solidFill>
                <a:srgbClr val="CBD4CE"/>
              </a:solidFill>
              <a:prstDash val="solid"/>
              <a:miter/>
            </a:ln>
          </p:spPr>
        </p:sp>
      </p:grpSp>
      <p:grpSp>
        <p:nvGrpSpPr>
          <p:cNvPr name="Group 14" id="14"/>
          <p:cNvGrpSpPr/>
          <p:nvPr/>
        </p:nvGrpSpPr>
        <p:grpSpPr>
          <a:xfrm rot="0">
            <a:off x="5290375" y="3119495"/>
            <a:ext cx="1821399" cy="515645"/>
            <a:chOff x="0" y="0"/>
            <a:chExt cx="2428532" cy="687527"/>
          </a:xfrm>
        </p:grpSpPr>
        <p:sp>
          <p:nvSpPr>
            <p:cNvPr name="Freeform 15" id="15"/>
            <p:cNvSpPr/>
            <p:nvPr/>
          </p:nvSpPr>
          <p:spPr>
            <a:xfrm flipH="false" flipV="false" rot="0">
              <a:off x="0" y="0"/>
              <a:ext cx="2428494" cy="687451"/>
            </a:xfrm>
            <a:custGeom>
              <a:avLst/>
              <a:gdLst/>
              <a:ahLst/>
              <a:cxnLst/>
              <a:rect r="r" b="b" t="t" l="l"/>
              <a:pathLst>
                <a:path h="687451" w="2428494">
                  <a:moveTo>
                    <a:pt x="0" y="145161"/>
                  </a:moveTo>
                  <a:cubicBezTo>
                    <a:pt x="0" y="65024"/>
                    <a:pt x="65024" y="0"/>
                    <a:pt x="145161" y="0"/>
                  </a:cubicBezTo>
                  <a:lnTo>
                    <a:pt x="2283333" y="0"/>
                  </a:lnTo>
                  <a:cubicBezTo>
                    <a:pt x="2363470" y="0"/>
                    <a:pt x="2428494" y="65024"/>
                    <a:pt x="2428494" y="145161"/>
                  </a:cubicBezTo>
                  <a:lnTo>
                    <a:pt x="2428494" y="542290"/>
                  </a:lnTo>
                  <a:cubicBezTo>
                    <a:pt x="2428494" y="622427"/>
                    <a:pt x="2363470" y="687451"/>
                    <a:pt x="2283333" y="687451"/>
                  </a:cubicBezTo>
                  <a:lnTo>
                    <a:pt x="145161" y="687451"/>
                  </a:lnTo>
                  <a:cubicBezTo>
                    <a:pt x="65024" y="687578"/>
                    <a:pt x="0" y="622554"/>
                    <a:pt x="0" y="542290"/>
                  </a:cubicBezTo>
                  <a:close/>
                </a:path>
              </a:pathLst>
            </a:custGeom>
            <a:solidFill>
              <a:srgbClr val="0A7C78"/>
            </a:solidFill>
          </p:spPr>
        </p:sp>
      </p:grpSp>
      <p:sp>
        <p:nvSpPr>
          <p:cNvPr name="TextBox 16" id="16"/>
          <p:cNvSpPr txBox="true"/>
          <p:nvPr/>
        </p:nvSpPr>
        <p:spPr>
          <a:xfrm rot="0">
            <a:off x="5484743" y="3217269"/>
            <a:ext cx="2347751" cy="340471"/>
          </a:xfrm>
          <a:prstGeom prst="rect">
            <a:avLst/>
          </a:prstGeom>
        </p:spPr>
        <p:txBody>
          <a:bodyPr anchor="t" rtlCol="false" tIns="0" lIns="0" bIns="0" rIns="0">
            <a:spAutoFit/>
          </a:bodyPr>
          <a:lstStyle/>
          <a:p>
            <a:pPr algn="l">
              <a:lnSpc>
                <a:spcPts val="2504"/>
              </a:lnSpc>
            </a:pPr>
            <a:r>
              <a:rPr lang="en-US" sz="2026" spc="21">
                <a:solidFill>
                  <a:srgbClr val="FFFFFF"/>
                </a:solidFill>
                <a:latin typeface="IBM Plex Sans"/>
                <a:ea typeface="IBM Plex Sans"/>
                <a:cs typeface="IBM Plex Sans"/>
                <a:sym typeface="IBM Plex Sans"/>
              </a:rPr>
              <a:t>Storage Cut</a:t>
            </a:r>
          </a:p>
        </p:txBody>
      </p:sp>
      <p:sp>
        <p:nvSpPr>
          <p:cNvPr name="TextBox 17" id="17"/>
          <p:cNvSpPr txBox="true"/>
          <p:nvPr/>
        </p:nvSpPr>
        <p:spPr>
          <a:xfrm rot="0">
            <a:off x="5290375" y="3805504"/>
            <a:ext cx="3469719" cy="481517"/>
          </a:xfrm>
          <a:prstGeom prst="rect">
            <a:avLst/>
          </a:prstGeom>
        </p:spPr>
        <p:txBody>
          <a:bodyPr anchor="t" rtlCol="false" tIns="0" lIns="0" bIns="0" rIns="0">
            <a:spAutoFit/>
          </a:bodyPr>
          <a:lstStyle/>
          <a:p>
            <a:pPr algn="l">
              <a:lnSpc>
                <a:spcPts val="3566"/>
              </a:lnSpc>
            </a:pPr>
            <a:r>
              <a:rPr lang="en-US" sz="2702">
                <a:solidFill>
                  <a:srgbClr val="10201D"/>
                </a:solidFill>
                <a:latin typeface="Inter"/>
                <a:ea typeface="Inter"/>
                <a:cs typeface="Inter"/>
                <a:sym typeface="Inter"/>
              </a:rPr>
              <a:t>Storage Fees</a:t>
            </a:r>
          </a:p>
        </p:txBody>
      </p:sp>
      <p:sp>
        <p:nvSpPr>
          <p:cNvPr name="TextBox 18" id="18"/>
          <p:cNvSpPr txBox="true"/>
          <p:nvPr/>
        </p:nvSpPr>
        <p:spPr>
          <a:xfrm rot="0">
            <a:off x="5290375" y="4517927"/>
            <a:ext cx="3469719" cy="1142676"/>
          </a:xfrm>
          <a:prstGeom prst="rect">
            <a:avLst/>
          </a:prstGeom>
        </p:spPr>
        <p:txBody>
          <a:bodyPr anchor="t" rtlCol="false" tIns="0" lIns="0" bIns="0" rIns="0">
            <a:spAutoFit/>
          </a:bodyPr>
          <a:lstStyle/>
          <a:p>
            <a:pPr algn="l">
              <a:lnSpc>
                <a:spcPts val="2900"/>
              </a:lnSpc>
            </a:pPr>
            <a:r>
              <a:rPr lang="en-US" sz="2101">
                <a:solidFill>
                  <a:srgbClr val="10201D"/>
                </a:solidFill>
                <a:latin typeface="Inter"/>
                <a:ea typeface="Inter"/>
                <a:cs typeface="Inter"/>
                <a:sym typeface="Inter"/>
              </a:rPr>
              <a:t>Fixed platform slice per micro-storage time slot booked by users.</a:t>
            </a:r>
          </a:p>
        </p:txBody>
      </p:sp>
      <p:grpSp>
        <p:nvGrpSpPr>
          <p:cNvPr name="Group 19" id="19"/>
          <p:cNvGrpSpPr/>
          <p:nvPr/>
        </p:nvGrpSpPr>
        <p:grpSpPr>
          <a:xfrm rot="0">
            <a:off x="9260538" y="2838288"/>
            <a:ext cx="4032123" cy="3470853"/>
            <a:chOff x="0" y="0"/>
            <a:chExt cx="5376164" cy="4627804"/>
          </a:xfrm>
        </p:grpSpPr>
        <p:sp>
          <p:nvSpPr>
            <p:cNvPr name="Freeform 20" id="20"/>
            <p:cNvSpPr/>
            <p:nvPr/>
          </p:nvSpPr>
          <p:spPr>
            <a:xfrm flipH="false" flipV="false" rot="0">
              <a:off x="0" y="0"/>
              <a:ext cx="5376164" cy="4627753"/>
            </a:xfrm>
            <a:custGeom>
              <a:avLst/>
              <a:gdLst/>
              <a:ahLst/>
              <a:cxnLst/>
              <a:rect r="r" b="b" t="t" l="l"/>
              <a:pathLst>
                <a:path h="4627753" w="5376164">
                  <a:moveTo>
                    <a:pt x="0" y="0"/>
                  </a:moveTo>
                  <a:lnTo>
                    <a:pt x="5376164" y="0"/>
                  </a:lnTo>
                  <a:lnTo>
                    <a:pt x="5376164" y="4627753"/>
                  </a:lnTo>
                  <a:lnTo>
                    <a:pt x="0" y="4627753"/>
                  </a:lnTo>
                  <a:close/>
                </a:path>
              </a:pathLst>
            </a:custGeom>
            <a:solidFill>
              <a:srgbClr val="FFFFFF"/>
            </a:solidFill>
            <a:ln w="9532" cap="sq">
              <a:solidFill>
                <a:srgbClr val="CBD4CE"/>
              </a:solidFill>
              <a:prstDash val="solid"/>
              <a:miter/>
            </a:ln>
          </p:spPr>
        </p:sp>
      </p:grpSp>
      <p:grpSp>
        <p:nvGrpSpPr>
          <p:cNvPr name="Group 21" id="21"/>
          <p:cNvGrpSpPr/>
          <p:nvPr/>
        </p:nvGrpSpPr>
        <p:grpSpPr>
          <a:xfrm rot="0">
            <a:off x="9541745" y="3119495"/>
            <a:ext cx="1584874" cy="515645"/>
            <a:chOff x="0" y="0"/>
            <a:chExt cx="2113166" cy="687527"/>
          </a:xfrm>
        </p:grpSpPr>
        <p:sp>
          <p:nvSpPr>
            <p:cNvPr name="Freeform 22" id="22"/>
            <p:cNvSpPr/>
            <p:nvPr/>
          </p:nvSpPr>
          <p:spPr>
            <a:xfrm flipH="false" flipV="false" rot="0">
              <a:off x="0" y="0"/>
              <a:ext cx="2113153" cy="687451"/>
            </a:xfrm>
            <a:custGeom>
              <a:avLst/>
              <a:gdLst/>
              <a:ahLst/>
              <a:cxnLst/>
              <a:rect r="r" b="b" t="t" l="l"/>
              <a:pathLst>
                <a:path h="687451" w="2113153">
                  <a:moveTo>
                    <a:pt x="0" y="145161"/>
                  </a:moveTo>
                  <a:cubicBezTo>
                    <a:pt x="0" y="65024"/>
                    <a:pt x="65024" y="0"/>
                    <a:pt x="145161" y="0"/>
                  </a:cubicBezTo>
                  <a:lnTo>
                    <a:pt x="1967992" y="0"/>
                  </a:lnTo>
                  <a:cubicBezTo>
                    <a:pt x="2048129" y="0"/>
                    <a:pt x="2113153" y="65024"/>
                    <a:pt x="2113153" y="145161"/>
                  </a:cubicBezTo>
                  <a:lnTo>
                    <a:pt x="2113153" y="542290"/>
                  </a:lnTo>
                  <a:cubicBezTo>
                    <a:pt x="2113153" y="622427"/>
                    <a:pt x="2048129" y="687451"/>
                    <a:pt x="1967992" y="687451"/>
                  </a:cubicBezTo>
                  <a:lnTo>
                    <a:pt x="145161" y="687451"/>
                  </a:lnTo>
                  <a:cubicBezTo>
                    <a:pt x="65024" y="687578"/>
                    <a:pt x="0" y="622554"/>
                    <a:pt x="0" y="542290"/>
                  </a:cubicBezTo>
                  <a:close/>
                </a:path>
              </a:pathLst>
            </a:custGeom>
            <a:solidFill>
              <a:srgbClr val="0A7C78"/>
            </a:solidFill>
          </p:spPr>
        </p:sp>
      </p:grpSp>
      <p:sp>
        <p:nvSpPr>
          <p:cNvPr name="TextBox 23" id="23"/>
          <p:cNvSpPr txBox="true"/>
          <p:nvPr/>
        </p:nvSpPr>
        <p:spPr>
          <a:xfrm rot="0">
            <a:off x="9736112" y="3217269"/>
            <a:ext cx="2111235" cy="340471"/>
          </a:xfrm>
          <a:prstGeom prst="rect">
            <a:avLst/>
          </a:prstGeom>
        </p:spPr>
        <p:txBody>
          <a:bodyPr anchor="t" rtlCol="false" tIns="0" lIns="0" bIns="0" rIns="0">
            <a:spAutoFit/>
          </a:bodyPr>
          <a:lstStyle/>
          <a:p>
            <a:pPr algn="l">
              <a:lnSpc>
                <a:spcPts val="2504"/>
              </a:lnSpc>
            </a:pPr>
            <a:r>
              <a:rPr lang="en-US" sz="2026" spc="21">
                <a:solidFill>
                  <a:srgbClr val="FFFFFF"/>
                </a:solidFill>
                <a:latin typeface="IBM Plex Sans"/>
                <a:ea typeface="IBM Plex Sans"/>
                <a:cs typeface="IBM Plex Sans"/>
                <a:sym typeface="IBM Plex Sans"/>
              </a:rPr>
              <a:t>Discovery</a:t>
            </a:r>
          </a:p>
        </p:txBody>
      </p:sp>
      <p:sp>
        <p:nvSpPr>
          <p:cNvPr name="TextBox 24" id="24"/>
          <p:cNvSpPr txBox="true"/>
          <p:nvPr/>
        </p:nvSpPr>
        <p:spPr>
          <a:xfrm rot="0">
            <a:off x="9541745" y="3805504"/>
            <a:ext cx="3469719" cy="481517"/>
          </a:xfrm>
          <a:prstGeom prst="rect">
            <a:avLst/>
          </a:prstGeom>
        </p:spPr>
        <p:txBody>
          <a:bodyPr anchor="t" rtlCol="false" tIns="0" lIns="0" bIns="0" rIns="0">
            <a:spAutoFit/>
          </a:bodyPr>
          <a:lstStyle/>
          <a:p>
            <a:pPr algn="l">
              <a:lnSpc>
                <a:spcPts val="3566"/>
              </a:lnSpc>
            </a:pPr>
            <a:r>
              <a:rPr lang="en-US" sz="2702">
                <a:solidFill>
                  <a:srgbClr val="10201D"/>
                </a:solidFill>
                <a:latin typeface="Inter"/>
                <a:ea typeface="Inter"/>
                <a:cs typeface="Inter"/>
                <a:sym typeface="Inter"/>
              </a:rPr>
              <a:t>Promoted Listings</a:t>
            </a:r>
          </a:p>
        </p:txBody>
      </p:sp>
      <p:sp>
        <p:nvSpPr>
          <p:cNvPr name="TextBox 25" id="25"/>
          <p:cNvSpPr txBox="true"/>
          <p:nvPr/>
        </p:nvSpPr>
        <p:spPr>
          <a:xfrm rot="0">
            <a:off x="9541745" y="4517927"/>
            <a:ext cx="3469719" cy="1142676"/>
          </a:xfrm>
          <a:prstGeom prst="rect">
            <a:avLst/>
          </a:prstGeom>
        </p:spPr>
        <p:txBody>
          <a:bodyPr anchor="t" rtlCol="false" tIns="0" lIns="0" bIns="0" rIns="0">
            <a:spAutoFit/>
          </a:bodyPr>
          <a:lstStyle/>
          <a:p>
            <a:pPr algn="l">
              <a:lnSpc>
                <a:spcPts val="2900"/>
              </a:lnSpc>
            </a:pPr>
            <a:r>
              <a:rPr lang="en-US" sz="2101">
                <a:solidFill>
                  <a:srgbClr val="10201D"/>
                </a:solidFill>
                <a:latin typeface="Inter"/>
                <a:ea typeface="Inter"/>
                <a:cs typeface="Inter"/>
                <a:sym typeface="Inter"/>
              </a:rPr>
              <a:t>Optional paid search placement tier for owners seeking rapid bookings.</a:t>
            </a:r>
          </a:p>
        </p:txBody>
      </p:sp>
      <p:grpSp>
        <p:nvGrpSpPr>
          <p:cNvPr name="Group 26" id="26"/>
          <p:cNvGrpSpPr/>
          <p:nvPr/>
        </p:nvGrpSpPr>
        <p:grpSpPr>
          <a:xfrm rot="0">
            <a:off x="13511908" y="2838288"/>
            <a:ext cx="4032123" cy="3470853"/>
            <a:chOff x="0" y="0"/>
            <a:chExt cx="5376164" cy="4627804"/>
          </a:xfrm>
        </p:grpSpPr>
        <p:sp>
          <p:nvSpPr>
            <p:cNvPr name="Freeform 27" id="27"/>
            <p:cNvSpPr/>
            <p:nvPr/>
          </p:nvSpPr>
          <p:spPr>
            <a:xfrm flipH="false" flipV="false" rot="0">
              <a:off x="0" y="0"/>
              <a:ext cx="5376164" cy="4627753"/>
            </a:xfrm>
            <a:custGeom>
              <a:avLst/>
              <a:gdLst/>
              <a:ahLst/>
              <a:cxnLst/>
              <a:rect r="r" b="b" t="t" l="l"/>
              <a:pathLst>
                <a:path h="4627753" w="5376164">
                  <a:moveTo>
                    <a:pt x="0" y="0"/>
                  </a:moveTo>
                  <a:lnTo>
                    <a:pt x="5376164" y="0"/>
                  </a:lnTo>
                  <a:lnTo>
                    <a:pt x="5376164" y="4627753"/>
                  </a:lnTo>
                  <a:lnTo>
                    <a:pt x="0" y="4627753"/>
                  </a:lnTo>
                  <a:close/>
                </a:path>
              </a:pathLst>
            </a:custGeom>
            <a:solidFill>
              <a:srgbClr val="FFFFFF"/>
            </a:solidFill>
            <a:ln w="9532" cap="sq">
              <a:solidFill>
                <a:srgbClr val="CBD4CE"/>
              </a:solidFill>
              <a:prstDash val="solid"/>
              <a:miter/>
            </a:ln>
          </p:spPr>
        </p:sp>
      </p:grpSp>
      <p:grpSp>
        <p:nvGrpSpPr>
          <p:cNvPr name="Group 28" id="28"/>
          <p:cNvGrpSpPr/>
          <p:nvPr/>
        </p:nvGrpSpPr>
        <p:grpSpPr>
          <a:xfrm rot="0">
            <a:off x="13793105" y="3119495"/>
            <a:ext cx="1663665" cy="515645"/>
            <a:chOff x="0" y="0"/>
            <a:chExt cx="2218220" cy="687527"/>
          </a:xfrm>
        </p:grpSpPr>
        <p:sp>
          <p:nvSpPr>
            <p:cNvPr name="Freeform 29" id="29"/>
            <p:cNvSpPr/>
            <p:nvPr/>
          </p:nvSpPr>
          <p:spPr>
            <a:xfrm flipH="false" flipV="false" rot="0">
              <a:off x="0" y="0"/>
              <a:ext cx="2218182" cy="687451"/>
            </a:xfrm>
            <a:custGeom>
              <a:avLst/>
              <a:gdLst/>
              <a:ahLst/>
              <a:cxnLst/>
              <a:rect r="r" b="b" t="t" l="l"/>
              <a:pathLst>
                <a:path h="687451" w="2218182">
                  <a:moveTo>
                    <a:pt x="0" y="145161"/>
                  </a:moveTo>
                  <a:cubicBezTo>
                    <a:pt x="0" y="65024"/>
                    <a:pt x="65024" y="0"/>
                    <a:pt x="145161" y="0"/>
                  </a:cubicBezTo>
                  <a:lnTo>
                    <a:pt x="2073021" y="0"/>
                  </a:lnTo>
                  <a:cubicBezTo>
                    <a:pt x="2153158" y="0"/>
                    <a:pt x="2218182" y="65024"/>
                    <a:pt x="2218182" y="145161"/>
                  </a:cubicBezTo>
                  <a:lnTo>
                    <a:pt x="2218182" y="542290"/>
                  </a:lnTo>
                  <a:cubicBezTo>
                    <a:pt x="2218182" y="622427"/>
                    <a:pt x="2153158" y="687451"/>
                    <a:pt x="2073021" y="687451"/>
                  </a:cubicBezTo>
                  <a:lnTo>
                    <a:pt x="145161" y="687451"/>
                  </a:lnTo>
                  <a:cubicBezTo>
                    <a:pt x="65024" y="687578"/>
                    <a:pt x="0" y="622554"/>
                    <a:pt x="0" y="542290"/>
                  </a:cubicBezTo>
                  <a:close/>
                </a:path>
              </a:pathLst>
            </a:custGeom>
            <a:solidFill>
              <a:srgbClr val="0A7C78"/>
            </a:solidFill>
          </p:spPr>
        </p:sp>
      </p:grpSp>
      <p:sp>
        <p:nvSpPr>
          <p:cNvPr name="TextBox 30" id="30"/>
          <p:cNvSpPr txBox="true"/>
          <p:nvPr/>
        </p:nvSpPr>
        <p:spPr>
          <a:xfrm rot="0">
            <a:off x="13987472" y="3217269"/>
            <a:ext cx="2190026" cy="340471"/>
          </a:xfrm>
          <a:prstGeom prst="rect">
            <a:avLst/>
          </a:prstGeom>
        </p:spPr>
        <p:txBody>
          <a:bodyPr anchor="t" rtlCol="false" tIns="0" lIns="0" bIns="0" rIns="0">
            <a:spAutoFit/>
          </a:bodyPr>
          <a:lstStyle/>
          <a:p>
            <a:pPr algn="l">
              <a:lnSpc>
                <a:spcPts val="2504"/>
              </a:lnSpc>
            </a:pPr>
            <a:r>
              <a:rPr lang="en-US" sz="2026" spc="21">
                <a:solidFill>
                  <a:srgbClr val="FFFFFF"/>
                </a:solidFill>
                <a:latin typeface="IBM Plex Sans"/>
                <a:ea typeface="IBM Plex Sans"/>
                <a:cs typeface="IBM Plex Sans"/>
                <a:sym typeface="IBM Plex Sans"/>
              </a:rPr>
              <a:t>Protection</a:t>
            </a:r>
          </a:p>
        </p:txBody>
      </p:sp>
      <p:sp>
        <p:nvSpPr>
          <p:cNvPr name="TextBox 31" id="31"/>
          <p:cNvSpPr txBox="true"/>
          <p:nvPr/>
        </p:nvSpPr>
        <p:spPr>
          <a:xfrm rot="0">
            <a:off x="13793105" y="3805504"/>
            <a:ext cx="3469719" cy="481517"/>
          </a:xfrm>
          <a:prstGeom prst="rect">
            <a:avLst/>
          </a:prstGeom>
        </p:spPr>
        <p:txBody>
          <a:bodyPr anchor="t" rtlCol="false" tIns="0" lIns="0" bIns="0" rIns="0">
            <a:spAutoFit/>
          </a:bodyPr>
          <a:lstStyle/>
          <a:p>
            <a:pPr algn="l">
              <a:lnSpc>
                <a:spcPts val="3566"/>
              </a:lnSpc>
            </a:pPr>
            <a:r>
              <a:rPr lang="en-US" sz="2702">
                <a:solidFill>
                  <a:srgbClr val="10201D"/>
                </a:solidFill>
                <a:latin typeface="Inter"/>
                <a:ea typeface="Inter"/>
                <a:cs typeface="Inter"/>
                <a:sym typeface="Inter"/>
              </a:rPr>
              <a:t>Trust &amp; Verification</a:t>
            </a:r>
          </a:p>
        </p:txBody>
      </p:sp>
      <p:sp>
        <p:nvSpPr>
          <p:cNvPr name="TextBox 32" id="32"/>
          <p:cNvSpPr txBox="true"/>
          <p:nvPr/>
        </p:nvSpPr>
        <p:spPr>
          <a:xfrm rot="0">
            <a:off x="13793105" y="4517927"/>
            <a:ext cx="3469719" cy="1510865"/>
          </a:xfrm>
          <a:prstGeom prst="rect">
            <a:avLst/>
          </a:prstGeom>
        </p:spPr>
        <p:txBody>
          <a:bodyPr anchor="t" rtlCol="false" tIns="0" lIns="0" bIns="0" rIns="0">
            <a:spAutoFit/>
          </a:bodyPr>
          <a:lstStyle/>
          <a:p>
            <a:pPr algn="l">
              <a:lnSpc>
                <a:spcPts val="2900"/>
              </a:lnSpc>
            </a:pPr>
            <a:r>
              <a:rPr lang="en-US" sz="2101">
                <a:solidFill>
                  <a:srgbClr val="10201D"/>
                </a:solidFill>
                <a:latin typeface="Inter"/>
                <a:ea typeface="Inter"/>
                <a:cs typeface="Inter"/>
                <a:sym typeface="Inter"/>
              </a:rPr>
              <a:t>Optional security verification charge, subject to technical and legal feasibility.</a:t>
            </a:r>
          </a:p>
        </p:txBody>
      </p:sp>
      <p:grpSp>
        <p:nvGrpSpPr>
          <p:cNvPr name="Group 33" id="33"/>
          <p:cNvGrpSpPr/>
          <p:nvPr/>
        </p:nvGrpSpPr>
        <p:grpSpPr>
          <a:xfrm rot="0">
            <a:off x="757809" y="7240191"/>
            <a:ext cx="16786222" cy="2373278"/>
            <a:chOff x="0" y="0"/>
            <a:chExt cx="22381629" cy="3164370"/>
          </a:xfrm>
        </p:grpSpPr>
        <p:sp>
          <p:nvSpPr>
            <p:cNvPr name="Freeform 34" id="34"/>
            <p:cNvSpPr/>
            <p:nvPr/>
          </p:nvSpPr>
          <p:spPr>
            <a:xfrm flipH="false" flipV="false" rot="0">
              <a:off x="0" y="0"/>
              <a:ext cx="22381590" cy="3164332"/>
            </a:xfrm>
            <a:custGeom>
              <a:avLst/>
              <a:gdLst/>
              <a:ahLst/>
              <a:cxnLst/>
              <a:rect r="r" b="b" t="t" l="l"/>
              <a:pathLst>
                <a:path h="3164332" w="22381590">
                  <a:moveTo>
                    <a:pt x="0" y="0"/>
                  </a:moveTo>
                  <a:lnTo>
                    <a:pt x="22381590" y="0"/>
                  </a:lnTo>
                  <a:lnTo>
                    <a:pt x="22381590" y="3164332"/>
                  </a:lnTo>
                  <a:lnTo>
                    <a:pt x="0" y="3164332"/>
                  </a:lnTo>
                  <a:close/>
                </a:path>
              </a:pathLst>
            </a:custGeom>
            <a:solidFill>
              <a:srgbClr val="F2F4ED"/>
            </a:solidFill>
            <a:ln w="9532" cap="sq">
              <a:solidFill>
                <a:srgbClr val="CBD4CE"/>
              </a:solidFill>
              <a:prstDash val="solid"/>
              <a:miter/>
            </a:ln>
          </p:spPr>
        </p:sp>
      </p:grpSp>
      <p:sp>
        <p:nvSpPr>
          <p:cNvPr name="TextBox 35" id="35"/>
          <p:cNvSpPr txBox="true"/>
          <p:nvPr/>
        </p:nvSpPr>
        <p:spPr>
          <a:xfrm rot="0">
            <a:off x="1115263" y="8190452"/>
            <a:ext cx="16071304" cy="1142676"/>
          </a:xfrm>
          <a:prstGeom prst="rect">
            <a:avLst/>
          </a:prstGeom>
        </p:spPr>
        <p:txBody>
          <a:bodyPr anchor="t" rtlCol="false" tIns="0" lIns="0" bIns="0" rIns="0">
            <a:spAutoFit/>
          </a:bodyPr>
          <a:lstStyle/>
          <a:p>
            <a:pPr algn="l">
              <a:lnSpc>
                <a:spcPts val="2900"/>
              </a:lnSpc>
            </a:pPr>
            <a:r>
              <a:rPr lang="en-US" sz="2101">
                <a:solidFill>
                  <a:srgbClr val="000000"/>
                </a:solidFill>
                <a:latin typeface="Inter"/>
                <a:ea typeface="Inter"/>
                <a:cs typeface="Inter"/>
                <a:sym typeface="Inter"/>
              </a:rPr>
              <a:t>Consider an item leased at a transaction value of </a:t>
            </a:r>
            <a:r>
              <a:rPr lang="en-US" sz="2101" b="true">
                <a:solidFill>
                  <a:srgbClr val="000000"/>
                </a:solidFill>
                <a:latin typeface="Inter Bold"/>
                <a:ea typeface="Inter Bold"/>
                <a:cs typeface="Inter Bold"/>
                <a:sym typeface="Inter Bold"/>
              </a:rPr>
              <a:t>₹1,000</a:t>
            </a:r>
            <a:r>
              <a:rPr lang="en-US" sz="2101">
                <a:solidFill>
                  <a:srgbClr val="000000"/>
                </a:solidFill>
                <a:latin typeface="Inter"/>
                <a:ea typeface="Inter"/>
                <a:cs typeface="Inter"/>
                <a:sym typeface="Inter"/>
              </a:rPr>
              <a:t>. Under a hypothetical </a:t>
            </a:r>
            <a:r>
              <a:rPr lang="en-US" sz="2101" b="true">
                <a:solidFill>
                  <a:srgbClr val="000000"/>
                </a:solidFill>
                <a:latin typeface="Inter Bold"/>
                <a:ea typeface="Inter Bold"/>
                <a:cs typeface="Inter Bold"/>
                <a:sym typeface="Inter Bold"/>
              </a:rPr>
              <a:t>10% platform commission</a:t>
            </a:r>
            <a:r>
              <a:rPr lang="en-US" sz="2101">
                <a:solidFill>
                  <a:srgbClr val="000000"/>
                </a:solidFill>
                <a:latin typeface="Inter"/>
                <a:ea typeface="Inter"/>
                <a:cs typeface="Inter"/>
                <a:sym typeface="Inter"/>
              </a:rPr>
              <a:t>, RentSphere retains </a:t>
            </a:r>
            <a:r>
              <a:rPr lang="en-US" sz="2101" b="true">
                <a:solidFill>
                  <a:srgbClr val="000000"/>
                </a:solidFill>
                <a:latin typeface="Inter Bold"/>
                <a:ea typeface="Inter Bold"/>
                <a:cs typeface="Inter Bold"/>
                <a:sym typeface="Inter Bold"/>
              </a:rPr>
              <a:t>₹100 gross platform margin</a:t>
            </a:r>
            <a:r>
              <a:rPr lang="en-US" sz="2101">
                <a:solidFill>
                  <a:srgbClr val="000000"/>
                </a:solidFill>
                <a:latin typeface="Inter"/>
                <a:ea typeface="Inter"/>
                <a:cs typeface="Inter"/>
                <a:sym typeface="Inter"/>
              </a:rPr>
              <a:t> prior to hosting and infrastructure expenses. </a:t>
            </a:r>
            <a:r>
              <a:rPr lang="en-US" sz="2101" i="true">
                <a:solidFill>
                  <a:srgbClr val="000000"/>
                </a:solidFill>
                <a:latin typeface="Inter Italics"/>
                <a:ea typeface="Inter Italics"/>
                <a:cs typeface="Inter Italics"/>
                <a:sym typeface="Inter Italics"/>
              </a:rPr>
              <a:t>Presented purely for conceptual mechanism demonstration; no commercial figures or market projections assumed.</a:t>
            </a:r>
          </a:p>
        </p:txBody>
      </p:sp>
    </p:spTree>
  </p:cSld>
  <p:clrMapOvr>
    <a:masterClrMapping/>
  </p:clrMapOvr>
</p:sld>
</file>

<file path=ppt/slides/slide7.xml><?xml version="1.0" encoding="utf-8"?>
<p:sld xmlns:p="http://schemas.openxmlformats.org/presentationml/2006/main" xmlns:a="http://schemas.openxmlformats.org/drawingml/2006/main">
  <p:cSld>
    <p:bg>
      <p:bgPr>
        <a:solidFill>
          <a:srgbClr val="F2F4ED"/>
        </a:solidFill>
      </p:bgPr>
    </p:bg>
    <p:spTree>
      <p:nvGrpSpPr>
        <p:cNvPr id="1" name=""/>
        <p:cNvGrpSpPr/>
        <p:nvPr/>
      </p:nvGrpSpPr>
      <p:grpSpPr>
        <a:xfrm>
          <a:off x="0" y="0"/>
          <a:ext cx="0" cy="0"/>
          <a:chOff x="0" y="0"/>
          <a:chExt cx="0" cy="0"/>
        </a:xfrm>
      </p:grpSpPr>
      <p:sp>
        <p:nvSpPr>
          <p:cNvPr name="TextBox 2" id="2"/>
          <p:cNvSpPr txBox="true"/>
          <p:nvPr/>
        </p:nvSpPr>
        <p:spPr>
          <a:xfrm rot="0">
            <a:off x="762581" y="537924"/>
            <a:ext cx="17539268" cy="269434"/>
          </a:xfrm>
          <a:prstGeom prst="rect">
            <a:avLst/>
          </a:prstGeom>
        </p:spPr>
        <p:txBody>
          <a:bodyPr anchor="t" rtlCol="false" tIns="0" lIns="0" bIns="0" rIns="0">
            <a:spAutoFit/>
          </a:bodyPr>
          <a:lstStyle/>
          <a:p>
            <a:pPr algn="l">
              <a:lnSpc>
                <a:spcPts val="2040"/>
              </a:lnSpc>
            </a:pPr>
            <a:r>
              <a:rPr lang="en-US" sz="1651" spc="90">
                <a:solidFill>
                  <a:srgbClr val="0A7C78"/>
                </a:solidFill>
                <a:latin typeface="IBM Plex Sans"/>
                <a:ea typeface="IBM Plex Sans"/>
                <a:cs typeface="IBM Plex Sans"/>
                <a:sym typeface="IBM Plex Sans"/>
              </a:rPr>
              <a:t>SYSTEM ARCHITECTURE</a:t>
            </a:r>
          </a:p>
        </p:txBody>
      </p:sp>
      <p:sp>
        <p:nvSpPr>
          <p:cNvPr name="TextBox 3" id="3"/>
          <p:cNvSpPr txBox="true"/>
          <p:nvPr/>
        </p:nvSpPr>
        <p:spPr>
          <a:xfrm rot="0">
            <a:off x="762581" y="1079887"/>
            <a:ext cx="5385576" cy="693417"/>
          </a:xfrm>
          <a:prstGeom prst="rect">
            <a:avLst/>
          </a:prstGeom>
        </p:spPr>
        <p:txBody>
          <a:bodyPr anchor="t" rtlCol="false" tIns="0" lIns="0" bIns="0" rIns="0">
            <a:spAutoFit/>
          </a:bodyPr>
          <a:lstStyle/>
          <a:p>
            <a:pPr algn="l">
              <a:lnSpc>
                <a:spcPts val="5389"/>
              </a:lnSpc>
            </a:pPr>
            <a:r>
              <a:rPr lang="en-US" b="true" sz="5103" spc="-102">
                <a:solidFill>
                  <a:srgbClr val="0D9488"/>
                </a:solidFill>
                <a:latin typeface="Inter Bold"/>
                <a:ea typeface="Inter Bold"/>
                <a:cs typeface="Inter Bold"/>
                <a:sym typeface="Inter Bold"/>
              </a:rPr>
              <a:t>Technology stack</a:t>
            </a:r>
          </a:p>
        </p:txBody>
      </p:sp>
      <p:graphicFrame>
        <p:nvGraphicFramePr>
          <p:cNvPr name="Table 4" id="4"/>
          <p:cNvGraphicFramePr>
            <a:graphicFrameLocks noGrp="true"/>
          </p:cNvGraphicFramePr>
          <p:nvPr/>
        </p:nvGraphicFramePr>
        <p:xfrm>
          <a:off x="762576" y="3148091"/>
          <a:ext cx="10314108" cy="5503273"/>
        </p:xfrm>
        <a:graphic>
          <a:graphicData uri="http://schemas.openxmlformats.org/drawingml/2006/table">
            <a:tbl>
              <a:tblPr/>
              <a:tblGrid>
                <a:gridCol w="3314000"/>
                <a:gridCol w="7000108"/>
              </a:tblGrid>
              <a:tr h="1093450">
                <a:tc>
                  <a:txBody>
                    <a:bodyPr anchor="t" rtlCol="false"/>
                    <a:lstStyle/>
                    <a:p>
                      <a:pPr algn="l">
                        <a:lnSpc>
                          <a:spcPts val="3062"/>
                        </a:lnSpc>
                        <a:defRPr/>
                      </a:pPr>
                      <a:r>
                        <a:rPr lang="en-US" sz="2551" b="true">
                          <a:solidFill>
                            <a:srgbClr val="10201D"/>
                          </a:solidFill>
                          <a:latin typeface="Inter Bold"/>
                          <a:ea typeface="Inter Bold"/>
                          <a:cs typeface="Inter Bold"/>
                          <a:sym typeface="Inter Bold"/>
                        </a:rPr>
                        <a:t>Presentation Layer</a:t>
                      </a:r>
                      <a:endParaRPr lang="en-US" sz="1100"/>
                    </a:p>
                    <a:p>
                      <a:pPr algn="l">
                        <a:lnSpc>
                          <a:spcPts val="3062"/>
                        </a:lnSpc>
                      </a:pPr>
                      <a:r>
                        <a:rPr lang="en-US" sz="2551" b="true">
                          <a:solidFill>
                            <a:srgbClr val="10201D"/>
                          </a:solidFill>
                          <a:latin typeface="Inter Bold"/>
                          <a:ea typeface="Inter Bold"/>
                          <a:cs typeface="Inter Bold"/>
                          <a:sym typeface="Inter Bold"/>
                        </a:rPr>
                        <a:t>↓</a:t>
                      </a:r>
                    </a:p>
                  </a:txBody>
                  <a:tcPr marL="50799" marR="50799" marT="50799" marB="50799" anchor="ctr">
                    <a:lnL cmpd="sng" algn="ctr" cap="flat" w="12700">
                      <a:solidFill>
                        <a:srgbClr val="F2F4ED"/>
                      </a:solidFill>
                      <a:prstDash val="solid"/>
                      <a:round/>
                      <a:headEnd type="none" w="med" len="med"/>
                      <a:tailEnd type="none" w="med" len="med"/>
                    </a:lnL>
                    <a:lnR cmpd="sng" algn="ctr" cap="flat" w="12700">
                      <a:solidFill>
                        <a:srgbClr val="F2F4ED"/>
                      </a:solidFill>
                      <a:prstDash val="solid"/>
                      <a:round/>
                      <a:headEnd type="none" w="med" len="med"/>
                      <a:tailEnd type="none" w="med" len="med"/>
                    </a:lnR>
                    <a:lnT cmpd="sng" algn="ctr" cap="flat" w="12700">
                      <a:solidFill>
                        <a:srgbClr val="F2F4ED"/>
                      </a:solidFill>
                      <a:prstDash val="solid"/>
                      <a:round/>
                      <a:headEnd type="none" w="med" len="med"/>
                      <a:tailEnd type="none" w="med" len="med"/>
                    </a:lnT>
                    <a:lnB cmpd="sng" algn="ctr" cap="flat" w="12700">
                      <a:solidFill>
                        <a:srgbClr val="CBD4CE"/>
                      </a:solidFill>
                      <a:prstDash val="solid"/>
                      <a:round/>
                      <a:headEnd type="none" w="med" len="med"/>
                      <a:tailEnd type="none" w="med" len="med"/>
                    </a:lnB>
                  </a:tcPr>
                </a:tc>
                <a:tc>
                  <a:txBody>
                    <a:bodyPr anchor="t" rtlCol="false"/>
                    <a:lstStyle/>
                    <a:p>
                      <a:pPr algn="l">
                        <a:lnSpc>
                          <a:spcPts val="3062"/>
                        </a:lnSpc>
                        <a:defRPr/>
                      </a:pPr>
                      <a:r>
                        <a:rPr lang="en-US" sz="2551">
                          <a:solidFill>
                            <a:srgbClr val="10201D"/>
                          </a:solidFill>
                          <a:latin typeface="Inter"/>
                          <a:ea typeface="Inter"/>
                          <a:cs typeface="Inter"/>
                          <a:sym typeface="Inter"/>
                        </a:rPr>
                        <a:t>HTML5, CSS3 and JavaScript </a:t>
                      </a:r>
                      <a:endParaRPr lang="en-US" sz="1100"/>
                    </a:p>
                  </a:txBody>
                  <a:tcPr marL="50799" marR="50799" marT="50799" marB="50799" anchor="ctr">
                    <a:lnL cmpd="sng" algn="ctr" cap="flat" w="12700">
                      <a:solidFill>
                        <a:srgbClr val="F2F4ED"/>
                      </a:solidFill>
                      <a:prstDash val="solid"/>
                      <a:round/>
                      <a:headEnd type="none" w="med" len="med"/>
                      <a:tailEnd type="none" w="med" len="med"/>
                    </a:lnL>
                    <a:lnR cmpd="sng" algn="ctr" cap="flat" w="12700">
                      <a:solidFill>
                        <a:srgbClr val="F2F4ED"/>
                      </a:solidFill>
                      <a:prstDash val="solid"/>
                      <a:round/>
                      <a:headEnd type="none" w="med" len="med"/>
                      <a:tailEnd type="none" w="med" len="med"/>
                    </a:lnR>
                    <a:lnT cmpd="sng" algn="ctr" cap="flat" w="12700">
                      <a:solidFill>
                        <a:srgbClr val="F2F4ED"/>
                      </a:solidFill>
                      <a:prstDash val="solid"/>
                      <a:round/>
                      <a:headEnd type="none" w="med" len="med"/>
                      <a:tailEnd type="none" w="med" len="med"/>
                    </a:lnT>
                    <a:lnB cmpd="sng" algn="ctr" cap="flat" w="12700">
                      <a:solidFill>
                        <a:srgbClr val="CBD4CE"/>
                      </a:solidFill>
                      <a:prstDash val="solid"/>
                      <a:round/>
                      <a:headEnd type="none" w="med" len="med"/>
                      <a:tailEnd type="none" w="med" len="med"/>
                    </a:lnB>
                  </a:tcPr>
                </a:tc>
              </a:tr>
              <a:tr h="1093450">
                <a:tc>
                  <a:txBody>
                    <a:bodyPr anchor="t" rtlCol="false"/>
                    <a:lstStyle/>
                    <a:p>
                      <a:pPr algn="l">
                        <a:lnSpc>
                          <a:spcPts val="3062"/>
                        </a:lnSpc>
                        <a:defRPr/>
                      </a:pPr>
                      <a:r>
                        <a:rPr lang="en-US" sz="2551" b="true">
                          <a:solidFill>
                            <a:srgbClr val="10201D"/>
                          </a:solidFill>
                          <a:latin typeface="Inter Bold"/>
                          <a:ea typeface="Inter Bold"/>
                          <a:cs typeface="Inter Bold"/>
                          <a:sym typeface="Inter Bold"/>
                        </a:rPr>
                        <a:t>Application Layer</a:t>
                      </a:r>
                      <a:endParaRPr lang="en-US" sz="1100"/>
                    </a:p>
                    <a:p>
                      <a:pPr algn="l">
                        <a:lnSpc>
                          <a:spcPts val="3062"/>
                        </a:lnSpc>
                      </a:pPr>
                      <a:r>
                        <a:rPr lang="en-US" sz="2551" b="true">
                          <a:solidFill>
                            <a:srgbClr val="10201D"/>
                          </a:solidFill>
                          <a:latin typeface="Inter Bold"/>
                          <a:ea typeface="Inter Bold"/>
                          <a:cs typeface="Inter Bold"/>
                          <a:sym typeface="Inter Bold"/>
                        </a:rPr>
                        <a:t>↓</a:t>
                      </a:r>
                    </a:p>
                  </a:txBody>
                  <a:tcPr marL="50799" marR="50799" marT="50799" marB="50799" anchor="ctr">
                    <a:lnL cmpd="sng" algn="ctr" cap="flat" w="12700">
                      <a:solidFill>
                        <a:srgbClr val="F2F4ED"/>
                      </a:solidFill>
                      <a:prstDash val="solid"/>
                      <a:round/>
                      <a:headEnd type="none" w="med" len="med"/>
                      <a:tailEnd type="none" w="med" len="med"/>
                    </a:lnL>
                    <a:lnR cmpd="sng" algn="ctr" cap="flat" w="12700">
                      <a:solidFill>
                        <a:srgbClr val="F2F4ED"/>
                      </a:solidFill>
                      <a:prstDash val="solid"/>
                      <a:round/>
                      <a:headEnd type="none" w="med" len="med"/>
                      <a:tailEnd type="none" w="med" len="med"/>
                    </a:lnR>
                    <a:lnT cmpd="sng" algn="ctr" cap="flat" w="12700">
                      <a:solidFill>
                        <a:srgbClr val="CBD4CE"/>
                      </a:solidFill>
                      <a:prstDash val="solid"/>
                      <a:round/>
                      <a:headEnd type="none" w="med" len="med"/>
                      <a:tailEnd type="none" w="med" len="med"/>
                    </a:lnT>
                    <a:lnB cmpd="sng" algn="ctr" cap="flat" w="12700">
                      <a:solidFill>
                        <a:srgbClr val="CBD4CE"/>
                      </a:solidFill>
                      <a:prstDash val="solid"/>
                      <a:round/>
                      <a:headEnd type="none" w="med" len="med"/>
                      <a:tailEnd type="none" w="med" len="med"/>
                    </a:lnB>
                  </a:tcPr>
                </a:tc>
                <a:tc>
                  <a:txBody>
                    <a:bodyPr anchor="t" rtlCol="false"/>
                    <a:lstStyle/>
                    <a:p>
                      <a:pPr algn="l">
                        <a:lnSpc>
                          <a:spcPts val="3062"/>
                        </a:lnSpc>
                        <a:defRPr/>
                      </a:pPr>
                      <a:r>
                        <a:rPr lang="en-US" sz="2551">
                          <a:solidFill>
                            <a:srgbClr val="10201D"/>
                          </a:solidFill>
                          <a:latin typeface="Inter"/>
                          <a:ea typeface="Inter"/>
                          <a:cs typeface="Inter"/>
                          <a:sym typeface="Inter"/>
                        </a:rPr>
                        <a:t>Java SE 17+ with the built-in JDK HttpServer on port 8080. REST API with JSON.</a:t>
                      </a:r>
                      <a:endParaRPr lang="en-US" sz="1100"/>
                    </a:p>
                  </a:txBody>
                  <a:tcPr marL="50799" marR="50799" marT="50799" marB="50799" anchor="ctr">
                    <a:lnL cmpd="sng" algn="ctr" cap="flat" w="12700">
                      <a:solidFill>
                        <a:srgbClr val="F2F4ED"/>
                      </a:solidFill>
                      <a:prstDash val="solid"/>
                      <a:round/>
                      <a:headEnd type="none" w="med" len="med"/>
                      <a:tailEnd type="none" w="med" len="med"/>
                    </a:lnL>
                    <a:lnR cmpd="sng" algn="ctr" cap="flat" w="12700">
                      <a:solidFill>
                        <a:srgbClr val="F2F4ED"/>
                      </a:solidFill>
                      <a:prstDash val="solid"/>
                      <a:round/>
                      <a:headEnd type="none" w="med" len="med"/>
                      <a:tailEnd type="none" w="med" len="med"/>
                    </a:lnR>
                    <a:lnT cmpd="sng" algn="ctr" cap="flat" w="12700">
                      <a:solidFill>
                        <a:srgbClr val="CBD4CE"/>
                      </a:solidFill>
                      <a:prstDash val="solid"/>
                      <a:round/>
                      <a:headEnd type="none" w="med" len="med"/>
                      <a:tailEnd type="none" w="med" len="med"/>
                    </a:lnT>
                    <a:lnB cmpd="sng" algn="ctr" cap="flat" w="12700">
                      <a:solidFill>
                        <a:srgbClr val="CBD4CE"/>
                      </a:solidFill>
                      <a:prstDash val="solid"/>
                      <a:round/>
                      <a:headEnd type="none" w="med" len="med"/>
                      <a:tailEnd type="none" w="med" len="med"/>
                    </a:lnB>
                  </a:tcPr>
                </a:tc>
              </a:tr>
              <a:tr h="1521532">
                <a:tc>
                  <a:txBody>
                    <a:bodyPr anchor="t" rtlCol="false"/>
                    <a:lstStyle/>
                    <a:p>
                      <a:pPr algn="l">
                        <a:lnSpc>
                          <a:spcPts val="3062"/>
                        </a:lnSpc>
                        <a:defRPr/>
                      </a:pPr>
                      <a:r>
                        <a:rPr lang="en-US" sz="2551" b="true">
                          <a:solidFill>
                            <a:srgbClr val="10201D"/>
                          </a:solidFill>
                          <a:latin typeface="Inter Bold"/>
                          <a:ea typeface="Inter Bold"/>
                          <a:cs typeface="Inter Bold"/>
                          <a:sym typeface="Inter Bold"/>
                        </a:rPr>
                        <a:t>Business Logic Layer</a:t>
                      </a:r>
                      <a:endParaRPr lang="en-US" sz="1100"/>
                    </a:p>
                    <a:p>
                      <a:pPr algn="l">
                        <a:lnSpc>
                          <a:spcPts val="3062"/>
                        </a:lnSpc>
                      </a:pPr>
                      <a:r>
                        <a:rPr lang="en-US" sz="2551" b="true">
                          <a:solidFill>
                            <a:srgbClr val="10201D"/>
                          </a:solidFill>
                          <a:latin typeface="Inter Bold"/>
                          <a:ea typeface="Inter Bold"/>
                          <a:cs typeface="Inter Bold"/>
                          <a:sym typeface="Inter Bold"/>
                        </a:rPr>
                        <a:t>↓</a:t>
                      </a:r>
                    </a:p>
                  </a:txBody>
                  <a:tcPr marL="50799" marR="50799" marT="50799" marB="50799" anchor="ctr">
                    <a:lnL cmpd="sng" algn="ctr" cap="flat" w="12700">
                      <a:solidFill>
                        <a:srgbClr val="F2F4ED"/>
                      </a:solidFill>
                      <a:prstDash val="solid"/>
                      <a:round/>
                      <a:headEnd type="none" w="med" len="med"/>
                      <a:tailEnd type="none" w="med" len="med"/>
                    </a:lnL>
                    <a:lnR cmpd="sng" algn="ctr" cap="flat" w="12700">
                      <a:solidFill>
                        <a:srgbClr val="F2F4ED"/>
                      </a:solidFill>
                      <a:prstDash val="solid"/>
                      <a:round/>
                      <a:headEnd type="none" w="med" len="med"/>
                      <a:tailEnd type="none" w="med" len="med"/>
                    </a:lnR>
                    <a:lnT cmpd="sng" algn="ctr" cap="flat" w="12700">
                      <a:solidFill>
                        <a:srgbClr val="CBD4CE"/>
                      </a:solidFill>
                      <a:prstDash val="solid"/>
                      <a:round/>
                      <a:headEnd type="none" w="med" len="med"/>
                      <a:tailEnd type="none" w="med" len="med"/>
                    </a:lnT>
                    <a:lnB cmpd="sng" algn="ctr" cap="flat" w="12700">
                      <a:solidFill>
                        <a:srgbClr val="CBD4CE"/>
                      </a:solidFill>
                      <a:prstDash val="solid"/>
                      <a:round/>
                      <a:headEnd type="none" w="med" len="med"/>
                      <a:tailEnd type="none" w="med" len="med"/>
                    </a:lnB>
                  </a:tcPr>
                </a:tc>
                <a:tc>
                  <a:txBody>
                    <a:bodyPr anchor="t" rtlCol="false"/>
                    <a:lstStyle/>
                    <a:p>
                      <a:pPr algn="l">
                        <a:lnSpc>
                          <a:spcPts val="3062"/>
                        </a:lnSpc>
                        <a:defRPr/>
                      </a:pPr>
                      <a:r>
                        <a:rPr lang="en-US" sz="2551">
                          <a:solidFill>
                            <a:srgbClr val="10201D"/>
                          </a:solidFill>
                          <a:latin typeface="Inter"/>
                          <a:ea typeface="Inter"/>
                          <a:cs typeface="Inter"/>
                          <a:sym typeface="Inter"/>
                        </a:rPr>
                        <a:t>Asset lifecycle management; reservation validation; rental contracts; storage-slot management</a:t>
                      </a:r>
                      <a:endParaRPr lang="en-US" sz="1100"/>
                    </a:p>
                  </a:txBody>
                  <a:tcPr marL="50799" marR="50799" marT="50799" marB="50799" anchor="ctr">
                    <a:lnL cmpd="sng" algn="ctr" cap="flat" w="12700">
                      <a:solidFill>
                        <a:srgbClr val="F2F4ED"/>
                      </a:solidFill>
                      <a:prstDash val="solid"/>
                      <a:round/>
                      <a:headEnd type="none" w="med" len="med"/>
                      <a:tailEnd type="none" w="med" len="med"/>
                    </a:lnL>
                    <a:lnR cmpd="sng" algn="ctr" cap="flat" w="12700">
                      <a:solidFill>
                        <a:srgbClr val="F2F4ED"/>
                      </a:solidFill>
                      <a:prstDash val="solid"/>
                      <a:round/>
                      <a:headEnd type="none" w="med" len="med"/>
                      <a:tailEnd type="none" w="med" len="med"/>
                    </a:lnR>
                    <a:lnT cmpd="sng" algn="ctr" cap="flat" w="12700">
                      <a:solidFill>
                        <a:srgbClr val="CBD4CE"/>
                      </a:solidFill>
                      <a:prstDash val="solid"/>
                      <a:round/>
                      <a:headEnd type="none" w="med" len="med"/>
                      <a:tailEnd type="none" w="med" len="med"/>
                    </a:lnT>
                    <a:lnB cmpd="sng" algn="ctr" cap="flat" w="12700">
                      <a:solidFill>
                        <a:srgbClr val="CBD4CE"/>
                      </a:solidFill>
                      <a:prstDash val="solid"/>
                      <a:round/>
                      <a:headEnd type="none" w="med" len="med"/>
                      <a:tailEnd type="none" w="med" len="med"/>
                    </a:lnB>
                  </a:tcPr>
                </a:tc>
              </a:tr>
              <a:tr h="1794842">
                <a:tc>
                  <a:txBody>
                    <a:bodyPr anchor="t" rtlCol="false"/>
                    <a:lstStyle/>
                    <a:p>
                      <a:pPr algn="l">
                        <a:lnSpc>
                          <a:spcPts val="3062"/>
                        </a:lnSpc>
                        <a:defRPr/>
                      </a:pPr>
                      <a:r>
                        <a:rPr lang="en-US" sz="2551" b="true">
                          <a:solidFill>
                            <a:srgbClr val="10201D"/>
                          </a:solidFill>
                          <a:latin typeface="Inter Bold"/>
                          <a:ea typeface="Inter Bold"/>
                          <a:cs typeface="Inter Bold"/>
                          <a:sym typeface="Inter Bold"/>
                        </a:rPr>
                        <a:t>Data Layer</a:t>
                      </a:r>
                      <a:endParaRPr lang="en-US" sz="1100"/>
                    </a:p>
                  </a:txBody>
                  <a:tcPr marL="50799" marR="50799" marT="50799" marB="50799" anchor="ctr">
                    <a:lnL cmpd="sng" algn="ctr" cap="flat" w="12700">
                      <a:solidFill>
                        <a:srgbClr val="F2F4ED"/>
                      </a:solidFill>
                      <a:prstDash val="solid"/>
                      <a:round/>
                      <a:headEnd type="none" w="med" len="med"/>
                      <a:tailEnd type="none" w="med" len="med"/>
                    </a:lnL>
                    <a:lnR cmpd="sng" algn="ctr" cap="flat" w="12700">
                      <a:solidFill>
                        <a:srgbClr val="F2F4ED"/>
                      </a:solidFill>
                      <a:prstDash val="solid"/>
                      <a:round/>
                      <a:headEnd type="none" w="med" len="med"/>
                      <a:tailEnd type="none" w="med" len="med"/>
                    </a:lnR>
                    <a:lnT cmpd="sng" algn="ctr" cap="flat" w="12700">
                      <a:solidFill>
                        <a:srgbClr val="CBD4CE"/>
                      </a:solidFill>
                      <a:prstDash val="solid"/>
                      <a:round/>
                      <a:headEnd type="none" w="med" len="med"/>
                      <a:tailEnd type="none" w="med" len="med"/>
                    </a:lnT>
                    <a:lnB cmpd="sng" algn="ctr" cap="flat" w="12700">
                      <a:solidFill>
                        <a:srgbClr val="F2F4ED"/>
                      </a:solidFill>
                      <a:prstDash val="solid"/>
                      <a:round/>
                      <a:headEnd type="none" w="med" len="med"/>
                      <a:tailEnd type="none" w="med" len="med"/>
                    </a:lnB>
                  </a:tcPr>
                </a:tc>
                <a:tc>
                  <a:txBody>
                    <a:bodyPr anchor="t" rtlCol="false"/>
                    <a:lstStyle/>
                    <a:p>
                      <a:pPr algn="l">
                        <a:lnSpc>
                          <a:spcPts val="3062"/>
                        </a:lnSpc>
                        <a:defRPr/>
                      </a:pPr>
                      <a:r>
                        <a:rPr lang="en-US" sz="2551">
                          <a:solidFill>
                            <a:srgbClr val="10201D"/>
                          </a:solidFill>
                          <a:latin typeface="Inter"/>
                          <a:ea typeface="Inter"/>
                          <a:cs typeface="Inter"/>
                          <a:sym typeface="Inter"/>
                        </a:rPr>
                        <a:t>Zero database. In-memory ConcurrentHashMap saved to pipe-delimited flat files in data/, with an append-only audit log.</a:t>
                      </a:r>
                      <a:endParaRPr lang="en-US" sz="1100"/>
                    </a:p>
                  </a:txBody>
                  <a:tcPr marL="50799" marR="50799" marT="50799" marB="50799" anchor="ctr">
                    <a:lnL cmpd="sng" algn="ctr" cap="flat" w="12700">
                      <a:solidFill>
                        <a:srgbClr val="F2F4ED"/>
                      </a:solidFill>
                      <a:prstDash val="solid"/>
                      <a:round/>
                      <a:headEnd type="none" w="med" len="med"/>
                      <a:tailEnd type="none" w="med" len="med"/>
                    </a:lnL>
                    <a:lnR cmpd="sng" algn="ctr" cap="flat" w="12700">
                      <a:solidFill>
                        <a:srgbClr val="F2F4ED"/>
                      </a:solidFill>
                      <a:prstDash val="solid"/>
                      <a:round/>
                      <a:headEnd type="none" w="med" len="med"/>
                      <a:tailEnd type="none" w="med" len="med"/>
                    </a:lnR>
                    <a:lnT cmpd="sng" algn="ctr" cap="flat" w="12700">
                      <a:solidFill>
                        <a:srgbClr val="CBD4CE"/>
                      </a:solidFill>
                      <a:prstDash val="solid"/>
                      <a:round/>
                      <a:headEnd type="none" w="med" len="med"/>
                      <a:tailEnd type="none" w="med" len="med"/>
                    </a:lnT>
                    <a:lnB cmpd="sng" algn="ctr" cap="flat" w="12700">
                      <a:solidFill>
                        <a:srgbClr val="F2F4ED"/>
                      </a:solidFill>
                      <a:prstDash val="solid"/>
                      <a:round/>
                      <a:headEnd type="none" w="med" len="med"/>
                      <a:tailEnd type="none" w="med" len="med"/>
                    </a:lnB>
                  </a:tcPr>
                </a:tc>
              </a:tr>
            </a:tbl>
          </a:graphicData>
        </a:graphic>
      </p:graphicFrame>
      <p:grpSp>
        <p:nvGrpSpPr>
          <p:cNvPr name="Group 5" id="5"/>
          <p:cNvGrpSpPr/>
          <p:nvPr/>
        </p:nvGrpSpPr>
        <p:grpSpPr>
          <a:xfrm rot="0">
            <a:off x="11536356" y="2785862"/>
            <a:ext cx="6021972" cy="6994427"/>
            <a:chOff x="0" y="0"/>
            <a:chExt cx="8029296" cy="9325902"/>
          </a:xfrm>
        </p:grpSpPr>
        <p:sp>
          <p:nvSpPr>
            <p:cNvPr name="Freeform 6" id="6"/>
            <p:cNvSpPr/>
            <p:nvPr/>
          </p:nvSpPr>
          <p:spPr>
            <a:xfrm flipH="false" flipV="false" rot="0">
              <a:off x="0" y="0"/>
              <a:ext cx="8029194" cy="9325864"/>
            </a:xfrm>
            <a:custGeom>
              <a:avLst/>
              <a:gdLst/>
              <a:ahLst/>
              <a:cxnLst/>
              <a:rect r="r" b="b" t="t" l="l"/>
              <a:pathLst>
                <a:path h="9325864" w="8029194">
                  <a:moveTo>
                    <a:pt x="0" y="182626"/>
                  </a:moveTo>
                  <a:cubicBezTo>
                    <a:pt x="0" y="81788"/>
                    <a:pt x="81788" y="0"/>
                    <a:pt x="182626" y="0"/>
                  </a:cubicBezTo>
                  <a:lnTo>
                    <a:pt x="7846568" y="0"/>
                  </a:lnTo>
                  <a:cubicBezTo>
                    <a:pt x="7947406" y="0"/>
                    <a:pt x="8029194" y="81788"/>
                    <a:pt x="8029194" y="182626"/>
                  </a:cubicBezTo>
                  <a:lnTo>
                    <a:pt x="8029194" y="9143238"/>
                  </a:lnTo>
                  <a:cubicBezTo>
                    <a:pt x="8029194" y="9244076"/>
                    <a:pt x="7947406" y="9325864"/>
                    <a:pt x="7846568" y="9325864"/>
                  </a:cubicBezTo>
                  <a:lnTo>
                    <a:pt x="182626" y="9325864"/>
                  </a:lnTo>
                  <a:cubicBezTo>
                    <a:pt x="81788" y="9325864"/>
                    <a:pt x="0" y="9244076"/>
                    <a:pt x="0" y="9143238"/>
                  </a:cubicBezTo>
                  <a:close/>
                </a:path>
              </a:pathLst>
            </a:custGeom>
            <a:solidFill>
              <a:srgbClr val="FFFFFF"/>
            </a:solidFill>
            <a:ln w="38128" cap="sq">
              <a:solidFill>
                <a:srgbClr val="CBCFC0"/>
              </a:solidFill>
              <a:prstDash val="solid"/>
              <a:miter/>
            </a:ln>
          </p:spPr>
        </p:sp>
      </p:grpSp>
      <p:grpSp>
        <p:nvGrpSpPr>
          <p:cNvPr name="Group 7" id="7"/>
          <p:cNvGrpSpPr/>
          <p:nvPr/>
        </p:nvGrpSpPr>
        <p:grpSpPr>
          <a:xfrm rot="0">
            <a:off x="11936711" y="3461023"/>
            <a:ext cx="3193733" cy="515645"/>
            <a:chOff x="0" y="0"/>
            <a:chExt cx="4258310" cy="687527"/>
          </a:xfrm>
        </p:grpSpPr>
        <p:sp>
          <p:nvSpPr>
            <p:cNvPr name="Freeform 8" id="8"/>
            <p:cNvSpPr/>
            <p:nvPr/>
          </p:nvSpPr>
          <p:spPr>
            <a:xfrm flipH="false" flipV="false" rot="0">
              <a:off x="0" y="0"/>
              <a:ext cx="4258310" cy="687578"/>
            </a:xfrm>
            <a:custGeom>
              <a:avLst/>
              <a:gdLst/>
              <a:ahLst/>
              <a:cxnLst/>
              <a:rect r="r" b="b" t="t" l="l"/>
              <a:pathLst>
                <a:path h="687578" w="4258310">
                  <a:moveTo>
                    <a:pt x="0" y="343789"/>
                  </a:moveTo>
                  <a:cubicBezTo>
                    <a:pt x="0" y="153924"/>
                    <a:pt x="153924" y="0"/>
                    <a:pt x="343789" y="0"/>
                  </a:cubicBezTo>
                  <a:lnTo>
                    <a:pt x="3914521" y="0"/>
                  </a:lnTo>
                  <a:cubicBezTo>
                    <a:pt x="4104386" y="0"/>
                    <a:pt x="4258310" y="153924"/>
                    <a:pt x="4258310" y="343789"/>
                  </a:cubicBezTo>
                  <a:cubicBezTo>
                    <a:pt x="4258310" y="533654"/>
                    <a:pt x="4104386" y="687578"/>
                    <a:pt x="3914521" y="687578"/>
                  </a:cubicBezTo>
                  <a:lnTo>
                    <a:pt x="343789" y="687578"/>
                  </a:lnTo>
                  <a:cubicBezTo>
                    <a:pt x="153924" y="687578"/>
                    <a:pt x="0" y="533654"/>
                    <a:pt x="0" y="343789"/>
                  </a:cubicBezTo>
                  <a:close/>
                </a:path>
              </a:pathLst>
            </a:custGeom>
            <a:solidFill>
              <a:srgbClr val="D2F9F4"/>
            </a:solidFill>
          </p:spPr>
        </p:sp>
      </p:grpSp>
      <p:sp>
        <p:nvSpPr>
          <p:cNvPr name="TextBox 9" id="9"/>
          <p:cNvSpPr txBox="true"/>
          <p:nvPr/>
        </p:nvSpPr>
        <p:spPr>
          <a:xfrm rot="0">
            <a:off x="12131078" y="3558797"/>
            <a:ext cx="3720094" cy="340471"/>
          </a:xfrm>
          <a:prstGeom prst="rect">
            <a:avLst/>
          </a:prstGeom>
        </p:spPr>
        <p:txBody>
          <a:bodyPr anchor="t" rtlCol="false" tIns="0" lIns="0" bIns="0" rIns="0">
            <a:spAutoFit/>
          </a:bodyPr>
          <a:lstStyle/>
          <a:p>
            <a:pPr algn="l">
              <a:lnSpc>
                <a:spcPts val="2504"/>
              </a:lnSpc>
            </a:pPr>
            <a:r>
              <a:rPr lang="en-US" sz="2026" spc="21">
                <a:solidFill>
                  <a:srgbClr val="10201D"/>
                </a:solidFill>
                <a:latin typeface="IBM Plex Sans"/>
                <a:ea typeface="IBM Plex Sans"/>
                <a:cs typeface="IBM Plex Sans"/>
                <a:sym typeface="IBM Plex Sans"/>
              </a:rPr>
              <a:t>Tech Stack Verification</a:t>
            </a:r>
          </a:p>
        </p:txBody>
      </p:sp>
      <p:sp>
        <p:nvSpPr>
          <p:cNvPr name="TextBox 10" id="10"/>
          <p:cNvSpPr txBox="true"/>
          <p:nvPr/>
        </p:nvSpPr>
        <p:spPr>
          <a:xfrm rot="0">
            <a:off x="11936711" y="4163444"/>
            <a:ext cx="5221262" cy="352006"/>
          </a:xfrm>
          <a:prstGeom prst="rect">
            <a:avLst/>
          </a:prstGeom>
        </p:spPr>
        <p:txBody>
          <a:bodyPr anchor="t" rtlCol="false" tIns="0" lIns="0" bIns="0" rIns="0">
            <a:spAutoFit/>
          </a:bodyPr>
          <a:lstStyle/>
          <a:p>
            <a:pPr algn="l">
              <a:lnSpc>
                <a:spcPts val="2900"/>
              </a:lnSpc>
            </a:pPr>
            <a:r>
              <a:rPr lang="en-US" sz="2101" b="true">
                <a:solidFill>
                  <a:srgbClr val="10201D"/>
                </a:solidFill>
                <a:latin typeface="Inter Bold"/>
                <a:ea typeface="Inter Bold"/>
                <a:cs typeface="Inter Bold"/>
                <a:sym typeface="Inter Bold"/>
              </a:rPr>
              <a:t>Core Language:</a:t>
            </a:r>
            <a:r>
              <a:rPr lang="en-US" sz="2101">
                <a:solidFill>
                  <a:srgbClr val="10201D"/>
                </a:solidFill>
                <a:latin typeface="Inter"/>
                <a:ea typeface="Inter"/>
                <a:cs typeface="Inter"/>
                <a:sym typeface="Inter"/>
              </a:rPr>
              <a:t> Java 17+</a:t>
            </a:r>
          </a:p>
        </p:txBody>
      </p:sp>
      <p:grpSp>
        <p:nvGrpSpPr>
          <p:cNvPr name="Group 11" id="11"/>
          <p:cNvGrpSpPr/>
          <p:nvPr/>
        </p:nvGrpSpPr>
        <p:grpSpPr>
          <a:xfrm rot="0">
            <a:off x="11936711" y="5239722"/>
            <a:ext cx="5221262" cy="47511"/>
            <a:chOff x="0" y="0"/>
            <a:chExt cx="6961683" cy="63348"/>
          </a:xfrm>
        </p:grpSpPr>
        <p:sp>
          <p:nvSpPr>
            <p:cNvPr name="Freeform 12" id="12"/>
            <p:cNvSpPr/>
            <p:nvPr/>
          </p:nvSpPr>
          <p:spPr>
            <a:xfrm flipH="false" flipV="false" rot="0">
              <a:off x="0" y="0"/>
              <a:ext cx="6961632" cy="63247"/>
            </a:xfrm>
            <a:custGeom>
              <a:avLst/>
              <a:gdLst/>
              <a:ahLst/>
              <a:cxnLst/>
              <a:rect r="r" b="b" t="t" l="l"/>
              <a:pathLst>
                <a:path h="63247" w="6961632">
                  <a:moveTo>
                    <a:pt x="0" y="31623"/>
                  </a:moveTo>
                  <a:cubicBezTo>
                    <a:pt x="0" y="14224"/>
                    <a:pt x="14224" y="0"/>
                    <a:pt x="31623" y="0"/>
                  </a:cubicBezTo>
                  <a:lnTo>
                    <a:pt x="6930009" y="0"/>
                  </a:lnTo>
                  <a:cubicBezTo>
                    <a:pt x="6947535" y="0"/>
                    <a:pt x="6961632" y="14224"/>
                    <a:pt x="6961632" y="31623"/>
                  </a:cubicBezTo>
                  <a:cubicBezTo>
                    <a:pt x="6961632" y="49149"/>
                    <a:pt x="6947408" y="63246"/>
                    <a:pt x="6930009" y="63246"/>
                  </a:cubicBezTo>
                  <a:lnTo>
                    <a:pt x="31623" y="63246"/>
                  </a:lnTo>
                  <a:cubicBezTo>
                    <a:pt x="14224" y="63373"/>
                    <a:pt x="0" y="49149"/>
                    <a:pt x="0" y="31623"/>
                  </a:cubicBezTo>
                  <a:close/>
                </a:path>
              </a:pathLst>
            </a:custGeom>
            <a:solidFill>
              <a:srgbClr val="CBD4CE"/>
            </a:solidFill>
          </p:spPr>
        </p:sp>
      </p:grpSp>
      <p:sp>
        <p:nvSpPr>
          <p:cNvPr name="TextBox 13" id="13"/>
          <p:cNvSpPr txBox="true"/>
          <p:nvPr/>
        </p:nvSpPr>
        <p:spPr>
          <a:xfrm rot="0">
            <a:off x="11936711" y="5552789"/>
            <a:ext cx="5221262" cy="352006"/>
          </a:xfrm>
          <a:prstGeom prst="rect">
            <a:avLst/>
          </a:prstGeom>
        </p:spPr>
        <p:txBody>
          <a:bodyPr anchor="t" rtlCol="false" tIns="0" lIns="0" bIns="0" rIns="0">
            <a:spAutoFit/>
          </a:bodyPr>
          <a:lstStyle/>
          <a:p>
            <a:pPr algn="l">
              <a:lnSpc>
                <a:spcPts val="2900"/>
              </a:lnSpc>
            </a:pPr>
            <a:r>
              <a:rPr lang="en-US" sz="2101" b="true">
                <a:solidFill>
                  <a:srgbClr val="10201D"/>
                </a:solidFill>
                <a:latin typeface="Inter Bold"/>
                <a:ea typeface="Inter Bold"/>
                <a:cs typeface="Inter Bold"/>
                <a:sym typeface="Inter Bold"/>
              </a:rPr>
              <a:t>Application Framework:</a:t>
            </a:r>
            <a:r>
              <a:rPr lang="en-US" sz="2101">
                <a:solidFill>
                  <a:srgbClr val="10201D"/>
                </a:solidFill>
                <a:latin typeface="Inter"/>
                <a:ea typeface="Inter"/>
                <a:cs typeface="Inter"/>
                <a:sym typeface="Inter"/>
              </a:rPr>
              <a:t> JDK HttpServer</a:t>
            </a:r>
          </a:p>
        </p:txBody>
      </p:sp>
      <p:grpSp>
        <p:nvGrpSpPr>
          <p:cNvPr name="Group 14" id="14"/>
          <p:cNvGrpSpPr/>
          <p:nvPr/>
        </p:nvGrpSpPr>
        <p:grpSpPr>
          <a:xfrm rot="0">
            <a:off x="11936711" y="6629076"/>
            <a:ext cx="5221262" cy="47511"/>
            <a:chOff x="0" y="0"/>
            <a:chExt cx="6961683" cy="63348"/>
          </a:xfrm>
        </p:grpSpPr>
        <p:sp>
          <p:nvSpPr>
            <p:cNvPr name="Freeform 15" id="15"/>
            <p:cNvSpPr/>
            <p:nvPr/>
          </p:nvSpPr>
          <p:spPr>
            <a:xfrm flipH="false" flipV="false" rot="0">
              <a:off x="0" y="0"/>
              <a:ext cx="6961632" cy="63247"/>
            </a:xfrm>
            <a:custGeom>
              <a:avLst/>
              <a:gdLst/>
              <a:ahLst/>
              <a:cxnLst/>
              <a:rect r="r" b="b" t="t" l="l"/>
              <a:pathLst>
                <a:path h="63247" w="6961632">
                  <a:moveTo>
                    <a:pt x="0" y="31623"/>
                  </a:moveTo>
                  <a:cubicBezTo>
                    <a:pt x="0" y="14224"/>
                    <a:pt x="14224" y="0"/>
                    <a:pt x="31623" y="0"/>
                  </a:cubicBezTo>
                  <a:lnTo>
                    <a:pt x="6930009" y="0"/>
                  </a:lnTo>
                  <a:cubicBezTo>
                    <a:pt x="6947535" y="0"/>
                    <a:pt x="6961632" y="14224"/>
                    <a:pt x="6961632" y="31623"/>
                  </a:cubicBezTo>
                  <a:cubicBezTo>
                    <a:pt x="6961632" y="49149"/>
                    <a:pt x="6947408" y="63246"/>
                    <a:pt x="6930009" y="63246"/>
                  </a:cubicBezTo>
                  <a:lnTo>
                    <a:pt x="31623" y="63246"/>
                  </a:lnTo>
                  <a:cubicBezTo>
                    <a:pt x="14224" y="63373"/>
                    <a:pt x="0" y="49149"/>
                    <a:pt x="0" y="31623"/>
                  </a:cubicBezTo>
                  <a:close/>
                </a:path>
              </a:pathLst>
            </a:custGeom>
            <a:solidFill>
              <a:srgbClr val="CBD4CE"/>
            </a:solidFill>
          </p:spPr>
        </p:sp>
      </p:grpSp>
      <p:sp>
        <p:nvSpPr>
          <p:cNvPr name="TextBox 16" id="16"/>
          <p:cNvSpPr txBox="true"/>
          <p:nvPr/>
        </p:nvSpPr>
        <p:spPr>
          <a:xfrm rot="0">
            <a:off x="11936711" y="6942144"/>
            <a:ext cx="5221262" cy="352006"/>
          </a:xfrm>
          <a:prstGeom prst="rect">
            <a:avLst/>
          </a:prstGeom>
        </p:spPr>
        <p:txBody>
          <a:bodyPr anchor="t" rtlCol="false" tIns="0" lIns="0" bIns="0" rIns="0">
            <a:spAutoFit/>
          </a:bodyPr>
          <a:lstStyle/>
          <a:p>
            <a:pPr algn="l">
              <a:lnSpc>
                <a:spcPts val="2900"/>
              </a:lnSpc>
            </a:pPr>
            <a:r>
              <a:rPr lang="en-US" sz="2101" b="true">
                <a:solidFill>
                  <a:srgbClr val="10201D"/>
                </a:solidFill>
                <a:latin typeface="Inter Bold"/>
                <a:ea typeface="Inter Bold"/>
                <a:cs typeface="Inter Bold"/>
                <a:sym typeface="Inter Bold"/>
              </a:rPr>
              <a:t>UI Layer:Web UI (HTML, CSS, JS) </a:t>
            </a:r>
          </a:p>
        </p:txBody>
      </p:sp>
      <p:grpSp>
        <p:nvGrpSpPr>
          <p:cNvPr name="Group 17" id="17"/>
          <p:cNvGrpSpPr/>
          <p:nvPr/>
        </p:nvGrpSpPr>
        <p:grpSpPr>
          <a:xfrm rot="0">
            <a:off x="11936711" y="8018421"/>
            <a:ext cx="5221262" cy="47511"/>
            <a:chOff x="0" y="0"/>
            <a:chExt cx="6961683" cy="63348"/>
          </a:xfrm>
        </p:grpSpPr>
        <p:sp>
          <p:nvSpPr>
            <p:cNvPr name="Freeform 18" id="18"/>
            <p:cNvSpPr/>
            <p:nvPr/>
          </p:nvSpPr>
          <p:spPr>
            <a:xfrm flipH="false" flipV="false" rot="0">
              <a:off x="0" y="0"/>
              <a:ext cx="6961632" cy="63247"/>
            </a:xfrm>
            <a:custGeom>
              <a:avLst/>
              <a:gdLst/>
              <a:ahLst/>
              <a:cxnLst/>
              <a:rect r="r" b="b" t="t" l="l"/>
              <a:pathLst>
                <a:path h="63247" w="6961632">
                  <a:moveTo>
                    <a:pt x="0" y="31623"/>
                  </a:moveTo>
                  <a:cubicBezTo>
                    <a:pt x="0" y="14224"/>
                    <a:pt x="14224" y="0"/>
                    <a:pt x="31623" y="0"/>
                  </a:cubicBezTo>
                  <a:lnTo>
                    <a:pt x="6930009" y="0"/>
                  </a:lnTo>
                  <a:cubicBezTo>
                    <a:pt x="6947535" y="0"/>
                    <a:pt x="6961632" y="14224"/>
                    <a:pt x="6961632" y="31623"/>
                  </a:cubicBezTo>
                  <a:cubicBezTo>
                    <a:pt x="6961632" y="49149"/>
                    <a:pt x="6947408" y="63246"/>
                    <a:pt x="6930009" y="63246"/>
                  </a:cubicBezTo>
                  <a:lnTo>
                    <a:pt x="31623" y="63246"/>
                  </a:lnTo>
                  <a:cubicBezTo>
                    <a:pt x="14224" y="63373"/>
                    <a:pt x="0" y="49149"/>
                    <a:pt x="0" y="31623"/>
                  </a:cubicBezTo>
                  <a:close/>
                </a:path>
              </a:pathLst>
            </a:custGeom>
            <a:solidFill>
              <a:srgbClr val="CBD4CE"/>
            </a:solidFill>
          </p:spPr>
        </p:sp>
      </p:grpSp>
      <p:sp>
        <p:nvSpPr>
          <p:cNvPr name="TextBox 19" id="19"/>
          <p:cNvSpPr txBox="true"/>
          <p:nvPr/>
        </p:nvSpPr>
        <p:spPr>
          <a:xfrm rot="0">
            <a:off x="11936711" y="8331498"/>
            <a:ext cx="5221262" cy="352006"/>
          </a:xfrm>
          <a:prstGeom prst="rect">
            <a:avLst/>
          </a:prstGeom>
        </p:spPr>
        <p:txBody>
          <a:bodyPr anchor="t" rtlCol="false" tIns="0" lIns="0" bIns="0" rIns="0">
            <a:spAutoFit/>
          </a:bodyPr>
          <a:lstStyle/>
          <a:p>
            <a:pPr algn="l">
              <a:lnSpc>
                <a:spcPts val="2900"/>
              </a:lnSpc>
            </a:pPr>
            <a:r>
              <a:rPr lang="en-US" sz="2101" b="true">
                <a:solidFill>
                  <a:srgbClr val="10201D"/>
                </a:solidFill>
                <a:latin typeface="Inter Bold"/>
                <a:ea typeface="Inter Bold"/>
                <a:cs typeface="Inter Bold"/>
                <a:sym typeface="Inter Bold"/>
              </a:rPr>
              <a:t>Database:</a:t>
            </a:r>
            <a:r>
              <a:rPr lang="en-US" sz="2101">
                <a:solidFill>
                  <a:srgbClr val="10201D"/>
                </a:solidFill>
                <a:latin typeface="Inter"/>
                <a:ea typeface="Inter"/>
                <a:cs typeface="Inter"/>
                <a:sym typeface="Inter"/>
              </a:rPr>
              <a:t> Flat files, no H2 and no SQL</a:t>
            </a:r>
          </a:p>
        </p:txBody>
      </p:sp>
      <p:sp>
        <p:nvSpPr>
          <p:cNvPr name="AutoShape 20" id="20"/>
          <p:cNvSpPr/>
          <p:nvPr/>
        </p:nvSpPr>
        <p:spPr>
          <a:xfrm>
            <a:off x="-811816" y="2219132"/>
            <a:ext cx="20089024" cy="0"/>
          </a:xfrm>
          <a:prstGeom prst="line">
            <a:avLst/>
          </a:prstGeom>
          <a:ln cap="flat" w="38100">
            <a:solidFill>
              <a:srgbClr val="F26A3D"/>
            </a:solidFill>
            <a:prstDash val="solid"/>
            <a:headEnd type="none" len="sm" w="sm"/>
            <a:tailEnd type="none" len="sm" w="sm"/>
          </a:ln>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2F4ED"/>
        </a:solidFill>
      </p:bgPr>
    </p:bg>
    <p:spTree>
      <p:nvGrpSpPr>
        <p:cNvPr id="1" name=""/>
        <p:cNvGrpSpPr/>
        <p:nvPr/>
      </p:nvGrpSpPr>
      <p:grpSpPr>
        <a:xfrm>
          <a:off x="0" y="0"/>
          <a:ext cx="0" cy="0"/>
          <a:chOff x="0" y="0"/>
          <a:chExt cx="0" cy="0"/>
        </a:xfrm>
      </p:grpSpPr>
      <p:grpSp>
        <p:nvGrpSpPr>
          <p:cNvPr name="Group 2" id="2"/>
          <p:cNvGrpSpPr/>
          <p:nvPr/>
        </p:nvGrpSpPr>
        <p:grpSpPr>
          <a:xfrm rot="0">
            <a:off x="834066" y="2696026"/>
            <a:ext cx="16812102" cy="6024635"/>
            <a:chOff x="0" y="0"/>
            <a:chExt cx="22416136" cy="8032847"/>
          </a:xfrm>
        </p:grpSpPr>
        <p:sp>
          <p:nvSpPr>
            <p:cNvPr name="Freeform 3" id="3"/>
            <p:cNvSpPr/>
            <p:nvPr/>
          </p:nvSpPr>
          <p:spPr>
            <a:xfrm flipH="false" flipV="false" rot="0">
              <a:off x="0" y="0"/>
              <a:ext cx="22415933" cy="8032797"/>
            </a:xfrm>
            <a:custGeom>
              <a:avLst/>
              <a:gdLst/>
              <a:ahLst/>
              <a:cxnLst/>
              <a:rect r="r" b="b" t="t" l="l"/>
              <a:pathLst>
                <a:path h="8032797" w="22415933">
                  <a:moveTo>
                    <a:pt x="0" y="0"/>
                  </a:moveTo>
                  <a:lnTo>
                    <a:pt x="22415933" y="0"/>
                  </a:lnTo>
                  <a:lnTo>
                    <a:pt x="22415933" y="8032797"/>
                  </a:lnTo>
                  <a:lnTo>
                    <a:pt x="0" y="8032797"/>
                  </a:lnTo>
                  <a:close/>
                </a:path>
              </a:pathLst>
            </a:custGeom>
            <a:blipFill>
              <a:blip r:embed="rId3"/>
              <a:stretch>
                <a:fillRect l="0" t="-78530" r="0" b="-15257"/>
              </a:stretch>
            </a:blipFill>
            <a:ln w="9532" cap="sq">
              <a:solidFill>
                <a:srgbClr val="CBD4CE"/>
              </a:solidFill>
              <a:prstDash val="solid"/>
              <a:miter/>
            </a:ln>
          </p:spPr>
        </p:sp>
      </p:grpSp>
      <p:sp>
        <p:nvSpPr>
          <p:cNvPr name="TextBox 4" id="4"/>
          <p:cNvSpPr txBox="true"/>
          <p:nvPr/>
        </p:nvSpPr>
        <p:spPr>
          <a:xfrm rot="0">
            <a:off x="838838" y="690439"/>
            <a:ext cx="17463011" cy="269434"/>
          </a:xfrm>
          <a:prstGeom prst="rect">
            <a:avLst/>
          </a:prstGeom>
        </p:spPr>
        <p:txBody>
          <a:bodyPr anchor="t" rtlCol="false" tIns="0" lIns="0" bIns="0" rIns="0">
            <a:spAutoFit/>
          </a:bodyPr>
          <a:lstStyle/>
          <a:p>
            <a:pPr algn="l">
              <a:lnSpc>
                <a:spcPts val="2040"/>
              </a:lnSpc>
            </a:pPr>
            <a:r>
              <a:rPr lang="en-US" sz="1651" spc="90">
                <a:solidFill>
                  <a:srgbClr val="0A7C78"/>
                </a:solidFill>
                <a:latin typeface="IBM Plex Sans"/>
                <a:ea typeface="IBM Plex Sans"/>
                <a:cs typeface="IBM Plex Sans"/>
                <a:sym typeface="IBM Plex Sans"/>
              </a:rPr>
              <a:t>SYSTEM VERIFICATION &amp; DEMO</a:t>
            </a:r>
          </a:p>
        </p:txBody>
      </p:sp>
      <p:sp>
        <p:nvSpPr>
          <p:cNvPr name="TextBox 5" id="5"/>
          <p:cNvSpPr txBox="true"/>
          <p:nvPr/>
        </p:nvSpPr>
        <p:spPr>
          <a:xfrm rot="0">
            <a:off x="838838" y="1232402"/>
            <a:ext cx="16624173" cy="610876"/>
          </a:xfrm>
          <a:prstGeom prst="rect">
            <a:avLst/>
          </a:prstGeom>
        </p:spPr>
        <p:txBody>
          <a:bodyPr anchor="t" rtlCol="false" tIns="0" lIns="0" bIns="0" rIns="0">
            <a:spAutoFit/>
          </a:bodyPr>
          <a:lstStyle/>
          <a:p>
            <a:pPr algn="l">
              <a:lnSpc>
                <a:spcPts val="5389"/>
              </a:lnSpc>
            </a:pPr>
            <a:r>
              <a:rPr lang="en-US" b="true" sz="5103" spc="-102">
                <a:solidFill>
                  <a:srgbClr val="0D9488"/>
                </a:solidFill>
                <a:latin typeface="Inter Bold"/>
                <a:ea typeface="Inter Bold"/>
                <a:cs typeface="Inter Bold"/>
                <a:sym typeface="Inter Bold"/>
              </a:rPr>
              <a:t>RentSphere in Action</a:t>
            </a:r>
          </a:p>
        </p:txBody>
      </p:sp>
      <p:sp>
        <p:nvSpPr>
          <p:cNvPr name="TextBox 6" id="6"/>
          <p:cNvSpPr txBox="true"/>
          <p:nvPr/>
        </p:nvSpPr>
        <p:spPr>
          <a:xfrm rot="0">
            <a:off x="1143867" y="2014728"/>
            <a:ext cx="9385119" cy="882745"/>
          </a:xfrm>
          <a:prstGeom prst="rect">
            <a:avLst/>
          </a:prstGeom>
        </p:spPr>
        <p:txBody>
          <a:bodyPr anchor="t" rtlCol="false" tIns="0" lIns="0" bIns="0" rIns="0">
            <a:spAutoFit/>
          </a:bodyPr>
          <a:lstStyle/>
          <a:p>
            <a:pPr algn="l">
              <a:lnSpc>
                <a:spcPts val="3566"/>
              </a:lnSpc>
            </a:pPr>
            <a:r>
              <a:rPr lang="en-US" sz="2702">
                <a:solidFill>
                  <a:srgbClr val="10201D"/>
                </a:solidFill>
                <a:latin typeface="Inter"/>
                <a:ea typeface="Inter"/>
                <a:cs typeface="Inter"/>
                <a:sym typeface="Inter"/>
              </a:rPr>
              <a:t>RentSphere Marketplace and Equipment Listing interface.</a:t>
            </a:r>
          </a:p>
          <a:p>
            <a:pPr algn="l">
              <a:lnSpc>
                <a:spcPts val="3566"/>
              </a:lnSpc>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2F4ED"/>
        </a:solidFill>
      </p:bgPr>
    </p:bg>
    <p:spTree>
      <p:nvGrpSpPr>
        <p:cNvPr id="1" name=""/>
        <p:cNvGrpSpPr/>
        <p:nvPr/>
      </p:nvGrpSpPr>
      <p:grpSpPr>
        <a:xfrm>
          <a:off x="0" y="0"/>
          <a:ext cx="0" cy="0"/>
          <a:chOff x="0" y="0"/>
          <a:chExt cx="0" cy="0"/>
        </a:xfrm>
      </p:grpSpPr>
      <p:grpSp>
        <p:nvGrpSpPr>
          <p:cNvPr name="Group 2" id="2"/>
          <p:cNvGrpSpPr/>
          <p:nvPr/>
        </p:nvGrpSpPr>
        <p:grpSpPr>
          <a:xfrm rot="0">
            <a:off x="914501" y="2952674"/>
            <a:ext cx="17020973" cy="5469937"/>
            <a:chOff x="0" y="0"/>
            <a:chExt cx="22694631" cy="7293250"/>
          </a:xfrm>
        </p:grpSpPr>
        <p:sp>
          <p:nvSpPr>
            <p:cNvPr name="Freeform 3" id="3"/>
            <p:cNvSpPr/>
            <p:nvPr/>
          </p:nvSpPr>
          <p:spPr>
            <a:xfrm flipH="false" flipV="false" rot="0">
              <a:off x="0" y="0"/>
              <a:ext cx="22694424" cy="7293204"/>
            </a:xfrm>
            <a:custGeom>
              <a:avLst/>
              <a:gdLst/>
              <a:ahLst/>
              <a:cxnLst/>
              <a:rect r="r" b="b" t="t" l="l"/>
              <a:pathLst>
                <a:path h="7293204" w="22694424">
                  <a:moveTo>
                    <a:pt x="0" y="0"/>
                  </a:moveTo>
                  <a:lnTo>
                    <a:pt x="22694424" y="0"/>
                  </a:lnTo>
                  <a:lnTo>
                    <a:pt x="22694424" y="7293204"/>
                  </a:lnTo>
                  <a:lnTo>
                    <a:pt x="0" y="7293204"/>
                  </a:lnTo>
                  <a:close/>
                </a:path>
              </a:pathLst>
            </a:custGeom>
            <a:blipFill>
              <a:blip r:embed="rId3"/>
              <a:stretch>
                <a:fillRect l="0" t="-58045" r="0" b="-58045"/>
              </a:stretch>
            </a:blipFill>
            <a:ln w="9532" cap="sq">
              <a:solidFill>
                <a:srgbClr val="CBD4CE"/>
              </a:solidFill>
              <a:prstDash val="solid"/>
              <a:miter/>
            </a:ln>
          </p:spPr>
        </p:sp>
      </p:grpSp>
      <p:sp>
        <p:nvSpPr>
          <p:cNvPr name="TextBox 4" id="4"/>
          <p:cNvSpPr txBox="true"/>
          <p:nvPr/>
        </p:nvSpPr>
        <p:spPr>
          <a:xfrm rot="0">
            <a:off x="838838" y="690439"/>
            <a:ext cx="17463011" cy="269434"/>
          </a:xfrm>
          <a:prstGeom prst="rect">
            <a:avLst/>
          </a:prstGeom>
        </p:spPr>
        <p:txBody>
          <a:bodyPr anchor="t" rtlCol="false" tIns="0" lIns="0" bIns="0" rIns="0">
            <a:spAutoFit/>
          </a:bodyPr>
          <a:lstStyle/>
          <a:p>
            <a:pPr algn="l">
              <a:lnSpc>
                <a:spcPts val="2040"/>
              </a:lnSpc>
            </a:pPr>
            <a:r>
              <a:rPr lang="en-US" sz="1651" spc="90">
                <a:solidFill>
                  <a:srgbClr val="0A7C78"/>
                </a:solidFill>
                <a:latin typeface="IBM Plex Sans"/>
                <a:ea typeface="IBM Plex Sans"/>
                <a:cs typeface="IBM Plex Sans"/>
                <a:sym typeface="IBM Plex Sans"/>
              </a:rPr>
              <a:t>SYSTEM VERIFICATION &amp; DEMO</a:t>
            </a:r>
          </a:p>
        </p:txBody>
      </p:sp>
      <p:sp>
        <p:nvSpPr>
          <p:cNvPr name="TextBox 5" id="5"/>
          <p:cNvSpPr txBox="true"/>
          <p:nvPr/>
        </p:nvSpPr>
        <p:spPr>
          <a:xfrm rot="0">
            <a:off x="838838" y="1232402"/>
            <a:ext cx="16624173" cy="610876"/>
          </a:xfrm>
          <a:prstGeom prst="rect">
            <a:avLst/>
          </a:prstGeom>
        </p:spPr>
        <p:txBody>
          <a:bodyPr anchor="t" rtlCol="false" tIns="0" lIns="0" bIns="0" rIns="0">
            <a:spAutoFit/>
          </a:bodyPr>
          <a:lstStyle/>
          <a:p>
            <a:pPr algn="l">
              <a:lnSpc>
                <a:spcPts val="5389"/>
              </a:lnSpc>
            </a:pPr>
            <a:r>
              <a:rPr lang="en-US" b="true" sz="5103" spc="-102">
                <a:solidFill>
                  <a:srgbClr val="0D9488"/>
                </a:solidFill>
                <a:latin typeface="Inter Bold"/>
                <a:ea typeface="Inter Bold"/>
                <a:cs typeface="Inter Bold"/>
                <a:sym typeface="Inter Bold"/>
              </a:rPr>
              <a:t>RentSphere in Action</a:t>
            </a:r>
          </a:p>
        </p:txBody>
      </p:sp>
      <p:sp>
        <p:nvSpPr>
          <p:cNvPr name="TextBox 6" id="6"/>
          <p:cNvSpPr txBox="true"/>
          <p:nvPr/>
        </p:nvSpPr>
        <p:spPr>
          <a:xfrm rot="0">
            <a:off x="1028700" y="2595420"/>
            <a:ext cx="10246714" cy="435070"/>
          </a:xfrm>
          <a:prstGeom prst="rect">
            <a:avLst/>
          </a:prstGeom>
        </p:spPr>
        <p:txBody>
          <a:bodyPr anchor="t" rtlCol="false" tIns="0" lIns="0" bIns="0" rIns="0">
            <a:spAutoFit/>
          </a:bodyPr>
          <a:lstStyle/>
          <a:p>
            <a:pPr algn="l">
              <a:lnSpc>
                <a:spcPts val="3566"/>
              </a:lnSpc>
            </a:pPr>
            <a:r>
              <a:rPr lang="en-US" sz="2702">
                <a:solidFill>
                  <a:srgbClr val="10201D"/>
                </a:solidFill>
                <a:latin typeface="Inter"/>
                <a:ea typeface="Inter"/>
                <a:cs typeface="Inter"/>
                <a:sym typeface="Inter"/>
              </a:rPr>
              <a:t>RentSphere 8×8 Smart Pickup Hub and Parking Matrix.</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2F4ED"/>
        </a:solidFill>
      </p:bgPr>
    </p:bg>
    <p:spTree>
      <p:nvGrpSpPr>
        <p:cNvPr id="1" name=""/>
        <p:cNvGrpSpPr/>
        <p:nvPr/>
      </p:nvGrpSpPr>
      <p:grpSpPr>
        <a:xfrm>
          <a:off x="0" y="0"/>
          <a:ext cx="0" cy="0"/>
          <a:chOff x="0" y="0"/>
          <a:chExt cx="0" cy="0"/>
        </a:xfrm>
      </p:grpSpPr>
      <p:grpSp>
        <p:nvGrpSpPr>
          <p:cNvPr name="Group 2" id="2"/>
          <p:cNvGrpSpPr/>
          <p:nvPr/>
        </p:nvGrpSpPr>
        <p:grpSpPr>
          <a:xfrm rot="0">
            <a:off x="914501" y="3187654"/>
            <a:ext cx="17020973" cy="7099346"/>
            <a:chOff x="0" y="0"/>
            <a:chExt cx="22694631" cy="9465794"/>
          </a:xfrm>
        </p:grpSpPr>
        <p:sp>
          <p:nvSpPr>
            <p:cNvPr name="Freeform 3" id="3"/>
            <p:cNvSpPr/>
            <p:nvPr/>
          </p:nvSpPr>
          <p:spPr>
            <a:xfrm flipH="false" flipV="false" rot="0">
              <a:off x="0" y="0"/>
              <a:ext cx="22694424" cy="9465735"/>
            </a:xfrm>
            <a:custGeom>
              <a:avLst/>
              <a:gdLst/>
              <a:ahLst/>
              <a:cxnLst/>
              <a:rect r="r" b="b" t="t" l="l"/>
              <a:pathLst>
                <a:path h="9465735" w="22694424">
                  <a:moveTo>
                    <a:pt x="0" y="0"/>
                  </a:moveTo>
                  <a:lnTo>
                    <a:pt x="22694424" y="0"/>
                  </a:lnTo>
                  <a:lnTo>
                    <a:pt x="22694424" y="9465735"/>
                  </a:lnTo>
                  <a:lnTo>
                    <a:pt x="0" y="9465735"/>
                  </a:lnTo>
                  <a:close/>
                </a:path>
              </a:pathLst>
            </a:custGeom>
            <a:blipFill>
              <a:blip r:embed="rId3"/>
              <a:stretch>
                <a:fillRect l="0" t="-44429" r="0" b="-22066"/>
              </a:stretch>
            </a:blipFill>
            <a:ln w="9532" cap="sq">
              <a:solidFill>
                <a:srgbClr val="CBD4CE"/>
              </a:solidFill>
              <a:prstDash val="solid"/>
              <a:miter/>
            </a:ln>
          </p:spPr>
        </p:sp>
      </p:grpSp>
      <p:sp>
        <p:nvSpPr>
          <p:cNvPr name="TextBox 4" id="4"/>
          <p:cNvSpPr txBox="true"/>
          <p:nvPr/>
        </p:nvSpPr>
        <p:spPr>
          <a:xfrm rot="0">
            <a:off x="838838" y="690439"/>
            <a:ext cx="17463011" cy="269434"/>
          </a:xfrm>
          <a:prstGeom prst="rect">
            <a:avLst/>
          </a:prstGeom>
        </p:spPr>
        <p:txBody>
          <a:bodyPr anchor="t" rtlCol="false" tIns="0" lIns="0" bIns="0" rIns="0">
            <a:spAutoFit/>
          </a:bodyPr>
          <a:lstStyle/>
          <a:p>
            <a:pPr algn="l">
              <a:lnSpc>
                <a:spcPts val="2040"/>
              </a:lnSpc>
            </a:pPr>
            <a:r>
              <a:rPr lang="en-US" sz="1651" spc="90">
                <a:solidFill>
                  <a:srgbClr val="0A7C78"/>
                </a:solidFill>
                <a:latin typeface="IBM Plex Sans"/>
                <a:ea typeface="IBM Plex Sans"/>
                <a:cs typeface="IBM Plex Sans"/>
                <a:sym typeface="IBM Plex Sans"/>
              </a:rPr>
              <a:t>SYSTEM VERIFICATION &amp; DEMO</a:t>
            </a:r>
          </a:p>
        </p:txBody>
      </p:sp>
      <p:sp>
        <p:nvSpPr>
          <p:cNvPr name="TextBox 5" id="5"/>
          <p:cNvSpPr txBox="true"/>
          <p:nvPr/>
        </p:nvSpPr>
        <p:spPr>
          <a:xfrm rot="0">
            <a:off x="838838" y="1232402"/>
            <a:ext cx="16624173" cy="610876"/>
          </a:xfrm>
          <a:prstGeom prst="rect">
            <a:avLst/>
          </a:prstGeom>
        </p:spPr>
        <p:txBody>
          <a:bodyPr anchor="t" rtlCol="false" tIns="0" lIns="0" bIns="0" rIns="0">
            <a:spAutoFit/>
          </a:bodyPr>
          <a:lstStyle/>
          <a:p>
            <a:pPr algn="l">
              <a:lnSpc>
                <a:spcPts val="5389"/>
              </a:lnSpc>
            </a:pPr>
            <a:r>
              <a:rPr lang="en-US" b="true" sz="5103" spc="-102">
                <a:solidFill>
                  <a:srgbClr val="0D9488"/>
                </a:solidFill>
                <a:latin typeface="Inter Bold"/>
                <a:ea typeface="Inter Bold"/>
                <a:cs typeface="Inter Bold"/>
                <a:sym typeface="Inter Bold"/>
              </a:rPr>
              <a:t>RentSphere in Action</a:t>
            </a:r>
          </a:p>
        </p:txBody>
      </p:sp>
      <p:sp>
        <p:nvSpPr>
          <p:cNvPr name="TextBox 6" id="6"/>
          <p:cNvSpPr txBox="true"/>
          <p:nvPr/>
        </p:nvSpPr>
        <p:spPr>
          <a:xfrm rot="0">
            <a:off x="1028700" y="2595420"/>
            <a:ext cx="12361537" cy="435070"/>
          </a:xfrm>
          <a:prstGeom prst="rect">
            <a:avLst/>
          </a:prstGeom>
        </p:spPr>
        <p:txBody>
          <a:bodyPr anchor="t" rtlCol="false" tIns="0" lIns="0" bIns="0" rIns="0">
            <a:spAutoFit/>
          </a:bodyPr>
          <a:lstStyle/>
          <a:p>
            <a:pPr algn="l">
              <a:lnSpc>
                <a:spcPts val="3566"/>
              </a:lnSpc>
            </a:pPr>
            <a:r>
              <a:rPr lang="en-US" sz="2702">
                <a:solidFill>
                  <a:srgbClr val="10201D"/>
                </a:solidFill>
                <a:latin typeface="Inter"/>
                <a:ea typeface="Inter"/>
                <a:cs typeface="Inter"/>
                <a:sym typeface="Inter"/>
              </a:rPr>
              <a:t> RentSphere Post-Return Inspection, Escrow and Audit Ledger interface.</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2F4ED"/>
        </a:solidFill>
      </p:bgPr>
    </p:bg>
    <p:spTree>
      <p:nvGrpSpPr>
        <p:cNvPr id="1" name=""/>
        <p:cNvGrpSpPr/>
        <p:nvPr/>
      </p:nvGrpSpPr>
      <p:grpSpPr>
        <a:xfrm>
          <a:off x="0" y="0"/>
          <a:ext cx="0" cy="0"/>
          <a:chOff x="0" y="0"/>
          <a:chExt cx="0" cy="0"/>
        </a:xfrm>
      </p:grpSpPr>
      <p:sp>
        <p:nvSpPr>
          <p:cNvPr name="TextBox 2" id="2"/>
          <p:cNvSpPr txBox="true"/>
          <p:nvPr/>
        </p:nvSpPr>
        <p:spPr>
          <a:xfrm rot="0">
            <a:off x="762581" y="692848"/>
            <a:ext cx="10218525" cy="231315"/>
          </a:xfrm>
          <a:prstGeom prst="rect">
            <a:avLst/>
          </a:prstGeom>
        </p:spPr>
        <p:txBody>
          <a:bodyPr anchor="t" rtlCol="false" tIns="0" lIns="0" bIns="0" rIns="0">
            <a:spAutoFit/>
          </a:bodyPr>
          <a:lstStyle/>
          <a:p>
            <a:pPr algn="l">
              <a:lnSpc>
                <a:spcPts val="1855"/>
              </a:lnSpc>
            </a:pPr>
            <a:r>
              <a:rPr lang="en-US" sz="1501" spc="81">
                <a:solidFill>
                  <a:srgbClr val="0A7C78"/>
                </a:solidFill>
                <a:latin typeface="IBM Plex Sans"/>
                <a:ea typeface="IBM Plex Sans"/>
                <a:cs typeface="IBM Plex Sans"/>
                <a:sym typeface="IBM Plex Sans"/>
              </a:rPr>
              <a:t>CONCLUSION &amp; FUTURE SCOPE</a:t>
            </a:r>
          </a:p>
        </p:txBody>
      </p:sp>
      <p:sp>
        <p:nvSpPr>
          <p:cNvPr name="TextBox 3" id="3"/>
          <p:cNvSpPr txBox="true"/>
          <p:nvPr/>
        </p:nvSpPr>
        <p:spPr>
          <a:xfrm rot="0">
            <a:off x="762581" y="1147858"/>
            <a:ext cx="9455953" cy="1165384"/>
          </a:xfrm>
          <a:prstGeom prst="rect">
            <a:avLst/>
          </a:prstGeom>
        </p:spPr>
        <p:txBody>
          <a:bodyPr anchor="t" rtlCol="false" tIns="0" lIns="0" bIns="0" rIns="0">
            <a:spAutoFit/>
          </a:bodyPr>
          <a:lstStyle/>
          <a:p>
            <a:pPr algn="l">
              <a:lnSpc>
                <a:spcPts val="4755"/>
              </a:lnSpc>
            </a:pPr>
            <a:r>
              <a:rPr lang="en-US" b="true" sz="4503" spc="-90">
                <a:solidFill>
                  <a:srgbClr val="0D9488"/>
                </a:solidFill>
                <a:latin typeface="Inter Bold"/>
                <a:ea typeface="Inter Bold"/>
                <a:cs typeface="Inter Bold"/>
                <a:sym typeface="Inter Bold"/>
              </a:rPr>
              <a:t>From Asset Sharing to Structured Rental Management</a:t>
            </a:r>
          </a:p>
        </p:txBody>
      </p:sp>
      <p:sp>
        <p:nvSpPr>
          <p:cNvPr name="TextBox 4" id="4"/>
          <p:cNvSpPr txBox="true"/>
          <p:nvPr/>
        </p:nvSpPr>
        <p:spPr>
          <a:xfrm rot="0">
            <a:off x="762581" y="2533869"/>
            <a:ext cx="9455953" cy="1855065"/>
          </a:xfrm>
          <a:prstGeom prst="rect">
            <a:avLst/>
          </a:prstGeom>
        </p:spPr>
        <p:txBody>
          <a:bodyPr anchor="t" rtlCol="false" tIns="0" lIns="0" bIns="0" rIns="0">
            <a:spAutoFit/>
          </a:bodyPr>
          <a:lstStyle/>
          <a:p>
            <a:pPr algn="l">
              <a:lnSpc>
                <a:spcPts val="2945"/>
              </a:lnSpc>
            </a:pPr>
            <a:r>
              <a:rPr lang="en-US" sz="2251">
                <a:solidFill>
                  <a:srgbClr val="10201D"/>
                </a:solidFill>
                <a:latin typeface="Inter"/>
                <a:ea typeface="Inter"/>
                <a:cs typeface="Inter"/>
                <a:sym typeface="Inter"/>
              </a:rPr>
              <a:t>RentSphere implements</a:t>
            </a:r>
            <a:r>
              <a:rPr lang="en-US" sz="2251">
                <a:solidFill>
                  <a:srgbClr val="10201D"/>
                </a:solidFill>
                <a:latin typeface="Inter"/>
                <a:ea typeface="Inter"/>
                <a:cs typeface="Inter"/>
                <a:sym typeface="Inter"/>
              </a:rPr>
              <a:t> a peer-to-peer asset rental and micro-storage platform. Java OOP structures users, assets, contracts and rental operations.</a:t>
            </a:r>
          </a:p>
          <a:p>
            <a:pPr algn="l">
              <a:lnSpc>
                <a:spcPts val="2945"/>
              </a:lnSpc>
            </a:pPr>
            <a:r>
              <a:rPr lang="en-US" sz="2251">
                <a:solidFill>
                  <a:srgbClr val="10201D"/>
                </a:solidFill>
                <a:latin typeface="Inter"/>
                <a:ea typeface="Inter"/>
                <a:cs typeface="Inter"/>
                <a:sym typeface="Inter"/>
              </a:rPr>
              <a:t>The five-state lifecycle is the key technical design. Validation and state management help prevent inconsistent rental operations.</a:t>
            </a:r>
          </a:p>
        </p:txBody>
      </p:sp>
      <p:sp>
        <p:nvSpPr>
          <p:cNvPr name="TextBox 5" id="5"/>
          <p:cNvSpPr txBox="true"/>
          <p:nvPr/>
        </p:nvSpPr>
        <p:spPr>
          <a:xfrm rot="0">
            <a:off x="762581" y="4991681"/>
            <a:ext cx="10218525" cy="231315"/>
          </a:xfrm>
          <a:prstGeom prst="rect">
            <a:avLst/>
          </a:prstGeom>
        </p:spPr>
        <p:txBody>
          <a:bodyPr anchor="t" rtlCol="false" tIns="0" lIns="0" bIns="0" rIns="0">
            <a:spAutoFit/>
          </a:bodyPr>
          <a:lstStyle/>
          <a:p>
            <a:pPr algn="l">
              <a:lnSpc>
                <a:spcPts val="1855"/>
              </a:lnSpc>
            </a:pPr>
            <a:r>
              <a:rPr lang="en-US" sz="1501" spc="81">
                <a:solidFill>
                  <a:srgbClr val="0A7C78"/>
                </a:solidFill>
                <a:latin typeface="IBM Plex Sans"/>
                <a:ea typeface="IBM Plex Sans"/>
                <a:cs typeface="IBM Plex Sans"/>
                <a:sym typeface="IBM Plex Sans"/>
              </a:rPr>
              <a:t>FUTURE SCOPE</a:t>
            </a:r>
          </a:p>
        </p:txBody>
      </p:sp>
      <p:sp>
        <p:nvSpPr>
          <p:cNvPr name="TextBox 6" id="6"/>
          <p:cNvSpPr txBox="true"/>
          <p:nvPr/>
        </p:nvSpPr>
        <p:spPr>
          <a:xfrm rot="0">
            <a:off x="762581" y="5459435"/>
            <a:ext cx="9455953" cy="2226540"/>
          </a:xfrm>
          <a:prstGeom prst="rect">
            <a:avLst/>
          </a:prstGeom>
        </p:spPr>
        <p:txBody>
          <a:bodyPr anchor="t" rtlCol="false" tIns="0" lIns="0" bIns="0" rIns="0">
            <a:spAutoFit/>
          </a:bodyPr>
          <a:lstStyle/>
          <a:p>
            <a:pPr algn="l" marL="407799" indent="-203899" lvl="1">
              <a:lnSpc>
                <a:spcPts val="2945"/>
              </a:lnSpc>
              <a:buFont typeface="Arial"/>
              <a:buChar char="•"/>
            </a:pPr>
            <a:r>
              <a:rPr lang="en-US" sz="2251">
                <a:solidFill>
                  <a:srgbClr val="10201D"/>
                </a:solidFill>
                <a:latin typeface="Inter"/>
                <a:ea typeface="Inter"/>
                <a:cs typeface="Inter"/>
                <a:sym typeface="Inter"/>
              </a:rPr>
              <a:t>Real payment gateway </a:t>
            </a:r>
          </a:p>
          <a:p>
            <a:pPr algn="l" marL="407799" indent="-203899" lvl="1">
              <a:lnSpc>
                <a:spcPts val="2945"/>
              </a:lnSpc>
              <a:buFont typeface="Arial"/>
              <a:buChar char="•"/>
            </a:pPr>
            <a:r>
              <a:rPr lang="en-US" sz="2251">
                <a:solidFill>
                  <a:srgbClr val="10201D"/>
                </a:solidFill>
                <a:latin typeface="Inter"/>
                <a:ea typeface="Inter"/>
                <a:cs typeface="Inter"/>
                <a:sym typeface="Inter"/>
              </a:rPr>
              <a:t>Real IoT locker hardware</a:t>
            </a:r>
          </a:p>
          <a:p>
            <a:pPr algn="l" marL="407799" indent="-203899" lvl="1">
              <a:lnSpc>
                <a:spcPts val="2945"/>
              </a:lnSpc>
              <a:buFont typeface="Arial"/>
              <a:buChar char="•"/>
            </a:pPr>
            <a:r>
              <a:rPr lang="en-US" sz="2251">
                <a:solidFill>
                  <a:srgbClr val="10201D"/>
                </a:solidFill>
                <a:latin typeface="Inter"/>
                <a:ea typeface="Inter"/>
                <a:cs typeface="Inter"/>
                <a:sym typeface="Inter"/>
              </a:rPr>
              <a:t>SQL database for scale</a:t>
            </a:r>
          </a:p>
          <a:p>
            <a:pPr algn="l" marL="407799" indent="-203899" lvl="1">
              <a:lnSpc>
                <a:spcPts val="2945"/>
              </a:lnSpc>
              <a:buFont typeface="Arial"/>
              <a:buChar char="•"/>
            </a:pPr>
            <a:r>
              <a:rPr lang="en-US" sz="2251">
                <a:solidFill>
                  <a:srgbClr val="10201D"/>
                </a:solidFill>
                <a:latin typeface="Inter"/>
                <a:ea typeface="Inter"/>
                <a:cs typeface="Inter"/>
                <a:sym typeface="Inter"/>
              </a:rPr>
              <a:t>Native mobile app</a:t>
            </a:r>
          </a:p>
          <a:p>
            <a:pPr algn="l" marL="407799" indent="-203899" lvl="1">
              <a:lnSpc>
                <a:spcPts val="2945"/>
              </a:lnSpc>
              <a:buFont typeface="Arial"/>
              <a:buChar char="•"/>
            </a:pPr>
            <a:r>
              <a:rPr lang="en-US" sz="2251">
                <a:solidFill>
                  <a:srgbClr val="10201D"/>
                </a:solidFill>
                <a:latin typeface="Inter"/>
                <a:ea typeface="Inter"/>
                <a:cs typeface="Inter"/>
                <a:sym typeface="Inter"/>
              </a:rPr>
              <a:t>Multi-hub network</a:t>
            </a:r>
          </a:p>
          <a:p>
            <a:pPr algn="l" marL="407830" indent="-203915" lvl="1">
              <a:lnSpc>
                <a:spcPts val="2945"/>
              </a:lnSpc>
              <a:buFont typeface="Arial"/>
              <a:buChar char="•"/>
            </a:pPr>
            <a:r>
              <a:rPr lang="en-US" sz="2251">
                <a:solidFill>
                  <a:srgbClr val="10201D"/>
                </a:solidFill>
                <a:latin typeface="Inter"/>
                <a:ea typeface="Inter"/>
                <a:cs typeface="Inter"/>
                <a:sym typeface="Inter"/>
              </a:rPr>
              <a:t>Aadhaar / DigiLocker KYC</a:t>
            </a:r>
          </a:p>
        </p:txBody>
      </p:sp>
      <p:grpSp>
        <p:nvGrpSpPr>
          <p:cNvPr name="Group 7" id="7"/>
          <p:cNvGrpSpPr/>
          <p:nvPr/>
        </p:nvGrpSpPr>
        <p:grpSpPr>
          <a:xfrm rot="0">
            <a:off x="762581" y="8843277"/>
            <a:ext cx="4499200" cy="1455782"/>
            <a:chOff x="0" y="0"/>
            <a:chExt cx="5998934" cy="1941043"/>
          </a:xfrm>
        </p:grpSpPr>
        <p:sp>
          <p:nvSpPr>
            <p:cNvPr name="Freeform 8" id="8"/>
            <p:cNvSpPr/>
            <p:nvPr/>
          </p:nvSpPr>
          <p:spPr>
            <a:xfrm flipH="false" flipV="false" rot="0">
              <a:off x="0" y="0"/>
              <a:ext cx="5998972" cy="1941068"/>
            </a:xfrm>
            <a:custGeom>
              <a:avLst/>
              <a:gdLst/>
              <a:ahLst/>
              <a:cxnLst/>
              <a:rect r="r" b="b" t="t" l="l"/>
              <a:pathLst>
                <a:path h="1941068" w="5998972">
                  <a:moveTo>
                    <a:pt x="0" y="0"/>
                  </a:moveTo>
                  <a:lnTo>
                    <a:pt x="5998972" y="0"/>
                  </a:lnTo>
                  <a:lnTo>
                    <a:pt x="5998972" y="1941068"/>
                  </a:lnTo>
                  <a:lnTo>
                    <a:pt x="0" y="1941068"/>
                  </a:lnTo>
                  <a:close/>
                </a:path>
              </a:pathLst>
            </a:custGeom>
            <a:solidFill>
              <a:srgbClr val="F2F4ED"/>
            </a:solidFill>
          </p:spPr>
        </p:sp>
      </p:grpSp>
      <p:grpSp>
        <p:nvGrpSpPr>
          <p:cNvPr name="Group 9" id="9"/>
          <p:cNvGrpSpPr/>
          <p:nvPr/>
        </p:nvGrpSpPr>
        <p:grpSpPr>
          <a:xfrm rot="0">
            <a:off x="11667420" y="686333"/>
            <a:ext cx="5948096" cy="8922372"/>
            <a:chOff x="0" y="0"/>
            <a:chExt cx="7930794" cy="11896496"/>
          </a:xfrm>
        </p:grpSpPr>
        <p:sp>
          <p:nvSpPr>
            <p:cNvPr name="Freeform 10" id="10" descr="preencoded.png"/>
            <p:cNvSpPr/>
            <p:nvPr/>
          </p:nvSpPr>
          <p:spPr>
            <a:xfrm flipH="false" flipV="false" rot="0">
              <a:off x="0" y="0"/>
              <a:ext cx="7930769" cy="11896471"/>
            </a:xfrm>
            <a:custGeom>
              <a:avLst/>
              <a:gdLst/>
              <a:ahLst/>
              <a:cxnLst/>
              <a:rect r="r" b="b" t="t" l="l"/>
              <a:pathLst>
                <a:path h="11896471" w="7930769">
                  <a:moveTo>
                    <a:pt x="0" y="0"/>
                  </a:moveTo>
                  <a:lnTo>
                    <a:pt x="7930769" y="0"/>
                  </a:lnTo>
                  <a:lnTo>
                    <a:pt x="7930769" y="11896471"/>
                  </a:lnTo>
                  <a:lnTo>
                    <a:pt x="0" y="11896471"/>
                  </a:lnTo>
                  <a:lnTo>
                    <a:pt x="0" y="0"/>
                  </a:lnTo>
                  <a:close/>
                </a:path>
              </a:pathLst>
            </a:custGeom>
            <a:blipFill>
              <a:blip r:embed="rId3"/>
              <a:stretch>
                <a:fillRect l="-1" t="0" r="-1" b="0"/>
              </a:stretch>
            </a:blipFill>
          </p:spPr>
        </p:sp>
      </p:grpSp>
    </p:spTree>
  </p:cSld>
  <p:clrMapOvr>
    <a:masterClrMapping/>
  </p:clrMapOvr>
</p:sld>
</file>

<file path=ppt/slides/slide12.xml><?xml version="1.0" encoding="utf-8"?>
<p:sld xmlns:p="http://schemas.openxmlformats.org/presentationml/2006/main" xmlns:a="http://schemas.openxmlformats.org/drawingml/2006/main">
  <p:cSld>
    <p:bg>
      <p:bgPr>
        <a:solidFill>
          <a:srgbClr val="F2F4ED"/>
        </a:solidFill>
      </p:bgPr>
    </p:bg>
    <p:spTree>
      <p:nvGrpSpPr>
        <p:cNvPr id="1" name=""/>
        <p:cNvGrpSpPr/>
        <p:nvPr/>
      </p:nvGrpSpPr>
      <p:grpSpPr>
        <a:xfrm>
          <a:off x="0" y="0"/>
          <a:ext cx="0" cy="0"/>
          <a:chOff x="0" y="0"/>
          <a:chExt cx="0" cy="0"/>
        </a:xfrm>
      </p:grpSpPr>
      <p:grpSp>
        <p:nvGrpSpPr>
          <p:cNvPr name="Group 2" id="2"/>
          <p:cNvGrpSpPr/>
          <p:nvPr/>
        </p:nvGrpSpPr>
        <p:grpSpPr>
          <a:xfrm rot="0">
            <a:off x="5624662" y="3600450"/>
            <a:ext cx="7138217" cy="3086100"/>
            <a:chOff x="0" y="0"/>
            <a:chExt cx="1880024" cy="812800"/>
          </a:xfrm>
        </p:grpSpPr>
        <p:sp>
          <p:nvSpPr>
            <p:cNvPr name="Freeform 3" id="3"/>
            <p:cNvSpPr/>
            <p:nvPr/>
          </p:nvSpPr>
          <p:spPr>
            <a:xfrm flipH="false" flipV="false" rot="0">
              <a:off x="0" y="0"/>
              <a:ext cx="1880024" cy="812800"/>
            </a:xfrm>
            <a:custGeom>
              <a:avLst/>
              <a:gdLst/>
              <a:ahLst/>
              <a:cxnLst/>
              <a:rect r="r" b="b" t="t" l="l"/>
              <a:pathLst>
                <a:path h="812800" w="1880024">
                  <a:moveTo>
                    <a:pt x="55313" y="0"/>
                  </a:moveTo>
                  <a:lnTo>
                    <a:pt x="1824711" y="0"/>
                  </a:lnTo>
                  <a:cubicBezTo>
                    <a:pt x="1839381" y="0"/>
                    <a:pt x="1853450" y="5828"/>
                    <a:pt x="1863823" y="16201"/>
                  </a:cubicBezTo>
                  <a:cubicBezTo>
                    <a:pt x="1874197" y="26574"/>
                    <a:pt x="1880024" y="40643"/>
                    <a:pt x="1880024" y="55313"/>
                  </a:cubicBezTo>
                  <a:lnTo>
                    <a:pt x="1880024" y="757487"/>
                  </a:lnTo>
                  <a:cubicBezTo>
                    <a:pt x="1880024" y="772157"/>
                    <a:pt x="1874197" y="786226"/>
                    <a:pt x="1863823" y="796599"/>
                  </a:cubicBezTo>
                  <a:cubicBezTo>
                    <a:pt x="1853450" y="806972"/>
                    <a:pt x="1839381" y="812800"/>
                    <a:pt x="1824711" y="812800"/>
                  </a:cubicBezTo>
                  <a:lnTo>
                    <a:pt x="55313" y="812800"/>
                  </a:lnTo>
                  <a:cubicBezTo>
                    <a:pt x="40643" y="812800"/>
                    <a:pt x="26574" y="806972"/>
                    <a:pt x="16201" y="796599"/>
                  </a:cubicBezTo>
                  <a:cubicBezTo>
                    <a:pt x="5828" y="786226"/>
                    <a:pt x="0" y="772157"/>
                    <a:pt x="0" y="757487"/>
                  </a:cubicBezTo>
                  <a:lnTo>
                    <a:pt x="0" y="55313"/>
                  </a:lnTo>
                  <a:cubicBezTo>
                    <a:pt x="0" y="40643"/>
                    <a:pt x="5828" y="26574"/>
                    <a:pt x="16201" y="16201"/>
                  </a:cubicBezTo>
                  <a:cubicBezTo>
                    <a:pt x="26574" y="5828"/>
                    <a:pt x="40643" y="0"/>
                    <a:pt x="55313" y="0"/>
                  </a:cubicBezTo>
                  <a:close/>
                </a:path>
              </a:pathLst>
            </a:custGeom>
            <a:solidFill>
              <a:srgbClr val="0A7C78"/>
            </a:solidFill>
          </p:spPr>
        </p:sp>
        <p:sp>
          <p:nvSpPr>
            <p:cNvPr name="TextBox 4" id="4"/>
            <p:cNvSpPr txBox="true"/>
            <p:nvPr/>
          </p:nvSpPr>
          <p:spPr>
            <a:xfrm>
              <a:off x="0" y="-9525"/>
              <a:ext cx="1880024" cy="822325"/>
            </a:xfrm>
            <a:prstGeom prst="rect">
              <a:avLst/>
            </a:prstGeom>
          </p:spPr>
          <p:txBody>
            <a:bodyPr anchor="ctr" rtlCol="false" tIns="50800" lIns="50800" bIns="50800" rIns="50800"/>
            <a:lstStyle/>
            <a:p>
              <a:pPr algn="ctr">
                <a:lnSpc>
                  <a:spcPts val="2040"/>
                </a:lnSpc>
              </a:pPr>
            </a:p>
          </p:txBody>
        </p:sp>
      </p:grpSp>
      <p:sp>
        <p:nvSpPr>
          <p:cNvPr name="TextBox 5" id="5"/>
          <p:cNvSpPr txBox="true"/>
          <p:nvPr/>
        </p:nvSpPr>
        <p:spPr>
          <a:xfrm rot="0">
            <a:off x="6076679" y="4274503"/>
            <a:ext cx="6134641" cy="1566544"/>
          </a:xfrm>
          <a:prstGeom prst="rect">
            <a:avLst/>
          </a:prstGeom>
        </p:spPr>
        <p:txBody>
          <a:bodyPr anchor="t" rtlCol="false" tIns="0" lIns="0" bIns="0" rIns="0">
            <a:spAutoFit/>
          </a:bodyPr>
          <a:lstStyle/>
          <a:p>
            <a:pPr algn="ctr">
              <a:lnSpc>
                <a:spcPts val="12880"/>
              </a:lnSpc>
            </a:pPr>
            <a:r>
              <a:rPr lang="en-US" b="true" sz="9200">
                <a:solidFill>
                  <a:srgbClr val="FFFFFF"/>
                </a:solidFill>
                <a:latin typeface="Canva Sans Bold"/>
                <a:ea typeface="Canva Sans Bold"/>
                <a:cs typeface="Canva Sans Bold"/>
                <a:sym typeface="Canva Sans Bold"/>
              </a:rPr>
              <a:t>Thank you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DAHZHRiW2_Q</dc:identifier>
  <dcterms:modified xsi:type="dcterms:W3CDTF">2011-08-01T06:04:30Z</dcterms:modified>
  <cp:revision>1</cp:revision>
  <dc:title>RentSphere.pptx</dc:title>
</cp:coreProperties>
</file>